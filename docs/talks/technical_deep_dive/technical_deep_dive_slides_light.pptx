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88950"/>
  <p:notesSz cx="6858000" cy="9144000"/>
  <p:embeddedFontLst>
    <p:embeddedFont>
      <p:font typeface="Arial Black"/>
      <p:regular r:id="rId24"/>
    </p:embeddedFont>
    <p:embeddedFont>
      <p:font typeface="Open Sans Light"/>
      <p:regular r:id="rId25"/>
      <p:bold r:id="rId26"/>
      <p:italic r:id="rId27"/>
      <p:boldItalic r:id="rId28"/>
    </p:embeddedFont>
    <p:embeddedFont>
      <p:font typeface="Open Sa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ArialBlack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OpenSansLight-bold.fntdata"/><Relationship Id="rId25" Type="http://schemas.openxmlformats.org/officeDocument/2006/relationships/font" Target="fonts/OpenSansLight-regular.fntdata"/><Relationship Id="rId28" Type="http://schemas.openxmlformats.org/officeDocument/2006/relationships/font" Target="fonts/OpenSansLight-boldItalic.fntdata"/><Relationship Id="rId27" Type="http://schemas.openxmlformats.org/officeDocument/2006/relationships/font" Target="fonts/OpenSansLight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OpenSans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OpenSans-italic.fntdata"/><Relationship Id="rId30" Type="http://schemas.openxmlformats.org/officeDocument/2006/relationships/font" Target="fonts/OpenSans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schemas.openxmlformats.org/officeDocument/2006/relationships/font" Target="fonts/OpenSans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.jp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0.png"/></Relationships>
</file>

<file path=ppt/slideLayouts/_rels/slideLayout7.xml.rels><?xml version="1.0" encoding="UTF-8" standalone="yes"?><Relationships xmlns="http://schemas.openxmlformats.org/package/2006/relationships"><Relationship Id="rId11" Type="http://schemas.openxmlformats.org/officeDocument/2006/relationships/image" Target="../media/image10.jpg"/><Relationship Id="rId10" Type="http://schemas.openxmlformats.org/officeDocument/2006/relationships/image" Target="../media/image17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9" Type="http://schemas.openxmlformats.org/officeDocument/2006/relationships/image" Target="../media/image9.png"/><Relationship Id="rId15" Type="http://schemas.openxmlformats.org/officeDocument/2006/relationships/image" Target="../media/image14.png"/><Relationship Id="rId14" Type="http://schemas.openxmlformats.org/officeDocument/2006/relationships/image" Target="../media/image16.png"/><Relationship Id="rId16" Type="http://schemas.openxmlformats.org/officeDocument/2006/relationships/image" Target="../media/image15.png"/><Relationship Id="rId5" Type="http://schemas.openxmlformats.org/officeDocument/2006/relationships/image" Target="../media/image8.jp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2">
  <p:cSld name="CUSTOM_1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84" y="123991"/>
            <a:ext cx="12164573" cy="1487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" y="6378241"/>
            <a:ext cx="12164573" cy="148728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3">
  <p:cSld name="CUSTOM_7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17697" y="1091467"/>
            <a:ext cx="4454303" cy="422416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>
            <a:off x="5452353" y="1807308"/>
            <a:ext cx="6392400" cy="10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7200" lIns="94425" spcFirstLastPara="1" rIns="94425" wrap="square" tIns="472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57" u="none" cap="none" strike="noStrike">
                <a:solidFill>
                  <a:srgbClr val="4B8C33"/>
                </a:solidFill>
                <a:latin typeface="Arial Black"/>
                <a:ea typeface="Arial Black"/>
                <a:cs typeface="Arial Black"/>
                <a:sym typeface="Arial Black"/>
              </a:rPr>
              <a:t>Know Your Products!</a:t>
            </a:r>
            <a:br>
              <a:rPr b="0" i="0" lang="en-US" sz="335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335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2433573" y="6399175"/>
            <a:ext cx="8856300" cy="3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7200" lIns="94425" spcFirstLastPara="1" rIns="94425" wrap="square" tIns="472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DigiPass</a:t>
            </a:r>
            <a:r>
              <a:rPr b="0" i="0" lang="en-US" sz="6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CSA project has been funded by the European Commission for the programme HORIZON-CL4-2023-RESILIENCE-01, Grant Agreement No </a:t>
            </a:r>
            <a:r>
              <a:rPr b="1" i="0" lang="en-US" sz="6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101138510</a:t>
            </a:r>
            <a:endParaRPr b="0" i="0" sz="69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WIKKI LIMITED, UK participant in Horizon Europe Project DigiPass, is supported by UKRI grant number 10100819: </a:t>
            </a:r>
            <a:r>
              <a:rPr b="1" i="0" lang="en-US" sz="6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DigiPass</a:t>
            </a:r>
            <a:endParaRPr b="0" i="0" sz="69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90877" y="6226767"/>
            <a:ext cx="705498" cy="456307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6515517" y="6299865"/>
            <a:ext cx="4774500" cy="14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9" u="none" cap="none" strike="noStrike">
                <a:solidFill>
                  <a:srgbClr val="A02B93"/>
                </a:solidFill>
                <a:latin typeface="Arial"/>
                <a:ea typeface="Arial"/>
                <a:cs typeface="Arial"/>
                <a:sym typeface="Arial"/>
              </a:rPr>
              <a:t>COORDINATION AND KNOWLEDGE SHARING ACROSS MATERIALS DEVELOPMENT COMMUNITIES (CSA):</a:t>
            </a:r>
            <a:endParaRPr b="0" i="0" sz="69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300075" y="6514000"/>
            <a:ext cx="4454400" cy="249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7200" lIns="94425" spcFirstLastPara="1" rIns="94425" wrap="square" tIns="472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39" u="none" cap="none" strike="noStrike">
                <a:solidFill>
                  <a:srgbClr val="4B8C33"/>
                </a:solidFill>
                <a:latin typeface="Open Sans"/>
                <a:ea typeface="Open Sans"/>
                <a:cs typeface="Open Sans"/>
                <a:sym typeface="Open Sans"/>
              </a:rPr>
              <a:t>Know Your Products!</a:t>
            </a:r>
            <a:endParaRPr b="0" i="0" sz="153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5452353" y="885834"/>
            <a:ext cx="6392400" cy="10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7200" lIns="94425" spcFirstLastPara="1" rIns="94425" wrap="square" tIns="472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295" u="none" cap="none" strike="noStrike">
                <a:solidFill>
                  <a:srgbClr val="4B8C33"/>
                </a:solidFill>
                <a:latin typeface="Arial Black"/>
                <a:ea typeface="Arial Black"/>
                <a:cs typeface="Arial Black"/>
                <a:sym typeface="Arial Black"/>
              </a:rPr>
              <a:t>DigiPass</a:t>
            </a:r>
            <a:endParaRPr b="0" i="0" sz="629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>
            <p:ph type="title"/>
          </p:nvPr>
        </p:nvSpPr>
        <p:spPr>
          <a:xfrm>
            <a:off x="371075" y="2978100"/>
            <a:ext cx="11371800" cy="901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E97132"/>
              </a:buClr>
              <a:buSzPts val="4000"/>
              <a:buNone/>
              <a:defRPr b="1" sz="4000">
                <a:solidFill>
                  <a:srgbClr val="E9713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E97132"/>
              </a:buClr>
              <a:buSzPts val="1900"/>
              <a:buNone/>
              <a:defRPr>
                <a:solidFill>
                  <a:srgbClr val="E9713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97132"/>
              </a:buClr>
              <a:buSzPts val="1900"/>
              <a:buNone/>
              <a:defRPr>
                <a:solidFill>
                  <a:srgbClr val="E9713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97132"/>
              </a:buClr>
              <a:buSzPts val="1900"/>
              <a:buNone/>
              <a:defRPr>
                <a:solidFill>
                  <a:srgbClr val="E9713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97132"/>
              </a:buClr>
              <a:buSzPts val="1900"/>
              <a:buNone/>
              <a:defRPr>
                <a:solidFill>
                  <a:srgbClr val="E9713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E97132"/>
              </a:buClr>
              <a:buSzPts val="1900"/>
              <a:buNone/>
              <a:defRPr>
                <a:solidFill>
                  <a:srgbClr val="E9713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E97132"/>
              </a:buClr>
              <a:buSzPts val="1900"/>
              <a:buNone/>
              <a:defRPr>
                <a:solidFill>
                  <a:srgbClr val="E9713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E97132"/>
              </a:buClr>
              <a:buSzPts val="1900"/>
              <a:buNone/>
              <a:defRPr>
                <a:solidFill>
                  <a:srgbClr val="E9713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E97132"/>
              </a:buClr>
              <a:buSzPts val="1900"/>
              <a:buNone/>
              <a:defRPr>
                <a:solidFill>
                  <a:srgbClr val="E97132"/>
                </a:solidFill>
              </a:defRPr>
            </a:lvl9pPr>
          </a:lstStyle>
          <a:p/>
        </p:txBody>
      </p:sp>
      <p:sp>
        <p:nvSpPr>
          <p:cNvPr id="25" name="Google Shape;25;p3"/>
          <p:cNvSpPr txBox="1"/>
          <p:nvPr>
            <p:ph idx="12" type="sldNum"/>
          </p:nvPr>
        </p:nvSpPr>
        <p:spPr>
          <a:xfrm>
            <a:off x="11406191" y="6333134"/>
            <a:ext cx="731400" cy="5250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</a:defRPr>
            </a:lvl1pPr>
            <a:lvl2pPr lvl="1" algn="r">
              <a:buNone/>
              <a:defRPr sz="1300">
                <a:solidFill>
                  <a:schemeClr val="dk1"/>
                </a:solidFill>
              </a:defRPr>
            </a:lvl2pPr>
            <a:lvl3pPr lvl="2" algn="r">
              <a:buNone/>
              <a:defRPr sz="1300">
                <a:solidFill>
                  <a:schemeClr val="dk1"/>
                </a:solidFill>
              </a:defRPr>
            </a:lvl3pPr>
            <a:lvl4pPr lvl="3" algn="r">
              <a:buNone/>
              <a:defRPr sz="1300">
                <a:solidFill>
                  <a:schemeClr val="dk1"/>
                </a:solidFill>
              </a:defRPr>
            </a:lvl4pPr>
            <a:lvl5pPr lvl="4" algn="r">
              <a:buNone/>
              <a:defRPr sz="1300">
                <a:solidFill>
                  <a:schemeClr val="dk1"/>
                </a:solidFill>
              </a:defRPr>
            </a:lvl5pPr>
            <a:lvl6pPr lvl="5" algn="r">
              <a:buNone/>
              <a:defRPr sz="1300">
                <a:solidFill>
                  <a:schemeClr val="dk1"/>
                </a:solidFill>
              </a:defRPr>
            </a:lvl6pPr>
            <a:lvl7pPr lvl="6" algn="r">
              <a:buNone/>
              <a:defRPr sz="1300">
                <a:solidFill>
                  <a:schemeClr val="dk1"/>
                </a:solidFill>
              </a:defRPr>
            </a:lvl7pPr>
            <a:lvl8pPr lvl="7" algn="r">
              <a:buNone/>
              <a:defRPr sz="1300">
                <a:solidFill>
                  <a:schemeClr val="dk1"/>
                </a:solidFill>
              </a:defRPr>
            </a:lvl8pPr>
            <a:lvl9pPr lvl="8" algn="r">
              <a:buNone/>
              <a:defRPr sz="13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2 1">
  <p:cSld name="CUSTOM_1_1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84" y="123991"/>
            <a:ext cx="12164573" cy="1487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" y="6378241"/>
            <a:ext cx="12164573" cy="148728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4"/>
          <p:cNvSpPr txBox="1"/>
          <p:nvPr>
            <p:ph idx="12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">
  <p:cSld name="CUSTOM_6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" y="894625"/>
            <a:ext cx="12164573" cy="148728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5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6300"/>
              <a:buNone/>
              <a:defRPr sz="3600">
                <a:solidFill>
                  <a:srgbClr val="38BDF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415496" y="1197300"/>
            <a:ext cx="11358000" cy="489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81000" lvl="0" marL="457200">
              <a:spcBef>
                <a:spcPts val="1300"/>
              </a:spcBef>
              <a:spcAft>
                <a:spcPts val="0"/>
              </a:spcAft>
              <a:buSzPts val="2400"/>
              <a:buChar char="•"/>
              <a:defRPr/>
            </a:lvl1pPr>
            <a:lvl2pPr indent="-349250" lvl="1" marL="914400">
              <a:spcBef>
                <a:spcPts val="700"/>
              </a:spcBef>
              <a:spcAft>
                <a:spcPts val="0"/>
              </a:spcAft>
              <a:buSzPts val="1900"/>
              <a:buChar char="•"/>
              <a:defRPr/>
            </a:lvl2pPr>
            <a:lvl3pPr indent="-311150" lvl="2" marL="1371600">
              <a:spcBef>
                <a:spcPts val="700"/>
              </a:spcBef>
              <a:spcAft>
                <a:spcPts val="0"/>
              </a:spcAft>
              <a:buSzPts val="1300"/>
              <a:buChar char="•"/>
              <a:defRPr/>
            </a:lvl3pPr>
            <a:lvl4pPr indent="-298450" lvl="3" marL="1828800">
              <a:spcBef>
                <a:spcPts val="7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>
              <a:spcBef>
                <a:spcPts val="700"/>
              </a:spcBef>
              <a:spcAft>
                <a:spcPts val="0"/>
              </a:spcAft>
              <a:buSzPts val="1100"/>
              <a:buChar char="•"/>
              <a:defRPr/>
            </a:lvl5pPr>
            <a:lvl6pPr indent="-298450" lvl="5" marL="2743200">
              <a:spcBef>
                <a:spcPts val="700"/>
              </a:spcBef>
              <a:spcAft>
                <a:spcPts val="0"/>
              </a:spcAft>
              <a:buSzPts val="1100"/>
              <a:buChar char="•"/>
              <a:defRPr/>
            </a:lvl6pPr>
            <a:lvl7pPr indent="-298450" lvl="6" marL="3200400">
              <a:spcBef>
                <a:spcPts val="700"/>
              </a:spcBef>
              <a:spcAft>
                <a:spcPts val="0"/>
              </a:spcAft>
              <a:buSzPts val="1100"/>
              <a:buChar char="•"/>
              <a:defRPr/>
            </a:lvl7pPr>
            <a:lvl8pPr indent="-298450" lvl="7" marL="3657600">
              <a:spcBef>
                <a:spcPts val="700"/>
              </a:spcBef>
              <a:spcAft>
                <a:spcPts val="0"/>
              </a:spcAft>
              <a:buSzPts val="1100"/>
              <a:buChar char="•"/>
              <a:defRPr/>
            </a:lvl8pPr>
            <a:lvl9pPr indent="-298450" lvl="8" marL="4114800">
              <a:spcBef>
                <a:spcPts val="700"/>
              </a:spcBef>
              <a:spcAft>
                <a:spcPts val="0"/>
              </a:spcAft>
              <a:buSzPts val="1100"/>
              <a:buChar char="•"/>
              <a:defRPr/>
            </a:lvl9pPr>
          </a:lstStyle>
          <a:p/>
        </p:txBody>
      </p:sp>
      <p:pic>
        <p:nvPicPr>
          <p:cNvPr id="34" name="Google Shape;34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" y="6378241"/>
            <a:ext cx="12164573" cy="1487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84" y="123991"/>
            <a:ext cx="12164573" cy="148728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11579114" y="6399877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7" name="Google Shape;3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1226322" y="223087"/>
            <a:ext cx="731419" cy="7095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 1">
  <p:cSld name="CUSTOM_6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" y="894625"/>
            <a:ext cx="12164573" cy="14872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6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6300"/>
              <a:buNone/>
              <a:defRPr sz="3600">
                <a:solidFill>
                  <a:srgbClr val="38BDF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 sz="3200">
                <a:solidFill>
                  <a:srgbClr val="00477B"/>
                </a:solidFill>
              </a:defRPr>
            </a:lvl9pPr>
          </a:lstStyle>
          <a:p/>
        </p:txBody>
      </p:sp>
      <p:pic>
        <p:nvPicPr>
          <p:cNvPr id="41" name="Google Shape;41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" y="6378241"/>
            <a:ext cx="12164573" cy="14872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84" y="123991"/>
            <a:ext cx="12164573" cy="148728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11579114" y="6399877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1226322" y="223087"/>
            <a:ext cx="731419" cy="7095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 1 1">
  <p:cSld name="CUSTOM_6_1_1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" y="894625"/>
            <a:ext cx="12164573" cy="148728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" y="6378241"/>
            <a:ext cx="12164573" cy="148728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84" y="123991"/>
            <a:ext cx="12164573" cy="148728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11579114" y="6399877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0" name="Google Shape;5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1226322" y="223087"/>
            <a:ext cx="731419" cy="7095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hlussfolie_Welt">
  <p:cSld name="Schlussfolie_Wel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/>
          <p:nvPr/>
        </p:nvSpPr>
        <p:spPr>
          <a:xfrm>
            <a:off x="579828" y="5635488"/>
            <a:ext cx="3415800" cy="779700"/>
          </a:xfrm>
          <a:prstGeom prst="rect">
            <a:avLst/>
          </a:prstGeom>
          <a:noFill/>
          <a:ln>
            <a:noFill/>
          </a:ln>
        </p:spPr>
        <p:txBody>
          <a:bodyPr anchorCtr="0" anchor="t" bIns="60925" lIns="60925" spcFirstLastPara="1" rIns="60925" wrap="square" tIns="60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FOR PEOPLE AND THEIR</a:t>
            </a:r>
            <a:br>
              <a:rPr b="0" i="0" lang="en-US" sz="2100" u="none" cap="none" strike="noStrik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100" u="none" cap="none" strike="noStrik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FUTURE ENVIRONMENT</a:t>
            </a:r>
            <a:endParaRPr b="0"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847660" y="5748704"/>
            <a:ext cx="952772" cy="635181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8"/>
          <p:cNvSpPr/>
          <p:nvPr/>
        </p:nvSpPr>
        <p:spPr>
          <a:xfrm>
            <a:off x="5803948" y="5349604"/>
            <a:ext cx="6101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25" lIns="121875" spcFirstLastPara="1" rIns="121875" wrap="square" tIns="60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b="1" lang="en-US" sz="1300">
                <a:solidFill>
                  <a:schemeClr val="dk1"/>
                </a:solidFill>
              </a:rPr>
              <a:t>DigiPass</a:t>
            </a:r>
            <a:r>
              <a:rPr lang="en-US" sz="1300">
                <a:solidFill>
                  <a:schemeClr val="dk1"/>
                </a:solidFill>
              </a:rPr>
              <a:t> project has been funded by the European Commission for the programme HORIZON-CL4-2023-RESILIENCE-01, </a:t>
            </a:r>
            <a:br>
              <a:rPr lang="en-US" sz="1300">
                <a:solidFill>
                  <a:schemeClr val="dk1"/>
                </a:solidFill>
              </a:rPr>
            </a:br>
            <a:r>
              <a:rPr lang="en-US" sz="1300">
                <a:solidFill>
                  <a:schemeClr val="dk1"/>
                </a:solidFill>
              </a:rPr>
              <a:t>Grant Agreement No </a:t>
            </a:r>
            <a:r>
              <a:rPr b="1" lang="en-US" sz="1300">
                <a:solidFill>
                  <a:schemeClr val="dk1"/>
                </a:solidFill>
              </a:rPr>
              <a:t>101138510</a:t>
            </a:r>
            <a:br>
              <a:rPr b="1" lang="en-US" sz="1300">
                <a:solidFill>
                  <a:schemeClr val="dk1"/>
                </a:solidFill>
              </a:rPr>
            </a:br>
            <a:r>
              <a:rPr lang="en-US" sz="1300">
                <a:solidFill>
                  <a:schemeClr val="dk1"/>
                </a:solidFill>
              </a:rPr>
              <a:t>WIKKI LIMITED, UK participant in Horizon Europe Project DigiPass, is supported by UKRI grant number </a:t>
            </a:r>
            <a:r>
              <a:rPr b="1" lang="en-US" sz="1300">
                <a:solidFill>
                  <a:schemeClr val="dk1"/>
                </a:solidFill>
              </a:rPr>
              <a:t>10100819: DigiPass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55" name="Google Shape;5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55508" y="122449"/>
            <a:ext cx="2105884" cy="9947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8"/>
          <p:cNvPicPr preferRelativeResize="0"/>
          <p:nvPr/>
        </p:nvPicPr>
        <p:blipFill rotWithShape="1">
          <a:blip r:embed="rId4">
            <a:alphaModFix/>
          </a:blip>
          <a:srcRect b="34934" l="0" r="0" t="0"/>
          <a:stretch/>
        </p:blipFill>
        <p:spPr>
          <a:xfrm>
            <a:off x="680966" y="4566468"/>
            <a:ext cx="2221588" cy="127484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7" name="Google Shape;57;p8"/>
          <p:cNvGrpSpPr/>
          <p:nvPr/>
        </p:nvGrpSpPr>
        <p:grpSpPr>
          <a:xfrm>
            <a:off x="892209" y="1180075"/>
            <a:ext cx="10761651" cy="3023271"/>
            <a:chOff x="702492" y="1067753"/>
            <a:chExt cx="8073257" cy="2268020"/>
          </a:xfrm>
        </p:grpSpPr>
        <p:pic>
          <p:nvPicPr>
            <p:cNvPr id="58" name="Google Shape;58;p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702492" y="1067753"/>
              <a:ext cx="1096901" cy="8606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9" name="Google Shape;59;p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7075416" y="1285907"/>
              <a:ext cx="1700333" cy="4243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0;p8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2611960" y="2313089"/>
              <a:ext cx="1104430" cy="21208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1;p8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2064566" y="1332746"/>
              <a:ext cx="1883410" cy="5956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2;p8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5803135" y="1928361"/>
              <a:ext cx="1008714" cy="2468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ue and orange logo&#10;&#10;Description automatically generated" id="63" name="Google Shape;63;p8"/>
            <p:cNvPicPr preferRelativeResize="0"/>
            <p:nvPr/>
          </p:nvPicPr>
          <p:blipFill rotWithShape="1">
            <a:blip r:embed="rId10">
              <a:alphaModFix/>
            </a:blip>
            <a:srcRect b="0" l="0" r="0" t="0"/>
            <a:stretch/>
          </p:blipFill>
          <p:spPr>
            <a:xfrm>
              <a:off x="1103637" y="2495140"/>
              <a:ext cx="653136" cy="51861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logo with letters and numbers&#10;&#10;Description automatically generated" id="64" name="Google Shape;64;p8"/>
            <p:cNvPicPr preferRelativeResize="0"/>
            <p:nvPr/>
          </p:nvPicPr>
          <p:blipFill rotWithShape="1">
            <a:blip r:embed="rId11">
              <a:alphaModFix/>
            </a:blip>
            <a:srcRect b="0" l="0" r="0" t="0"/>
            <a:stretch/>
          </p:blipFill>
          <p:spPr>
            <a:xfrm>
              <a:off x="7367661" y="2240831"/>
              <a:ext cx="1115847" cy="356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8"/>
            <p:cNvPicPr preferRelativeResize="0"/>
            <p:nvPr/>
          </p:nvPicPr>
          <p:blipFill rotWithShape="1">
            <a:blip r:embed="rId12">
              <a:alphaModFix/>
            </a:blip>
            <a:srcRect b="0" l="0" r="0" t="0"/>
            <a:stretch/>
          </p:blipFill>
          <p:spPr>
            <a:xfrm>
              <a:off x="6337283" y="2844478"/>
              <a:ext cx="983829" cy="4150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ue and yellow logo&#10;&#10;Description automatically generated" id="66" name="Google Shape;66;p8"/>
            <p:cNvPicPr preferRelativeResize="0"/>
            <p:nvPr/>
          </p:nvPicPr>
          <p:blipFill rotWithShape="1">
            <a:blip r:embed="rId13">
              <a:alphaModFix/>
            </a:blip>
            <a:srcRect b="0" l="0" r="0" t="0"/>
            <a:stretch/>
          </p:blipFill>
          <p:spPr>
            <a:xfrm>
              <a:off x="4638508" y="1304371"/>
              <a:ext cx="763664" cy="387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logo of a company&#10;&#10;Description automatically generated" id="67" name="Google Shape;67;p8"/>
            <p:cNvPicPr preferRelativeResize="0"/>
            <p:nvPr/>
          </p:nvPicPr>
          <p:blipFill rotWithShape="1">
            <a:blip r:embed="rId14">
              <a:alphaModFix/>
            </a:blip>
            <a:srcRect b="0" l="0" r="0" t="0"/>
            <a:stretch/>
          </p:blipFill>
          <p:spPr>
            <a:xfrm>
              <a:off x="4703801" y="2313096"/>
              <a:ext cx="1152525" cy="3286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a black square&#10;&#10;Description automatically generated with medium confidence" id="68" name="Google Shape;68;p8"/>
            <p:cNvPicPr preferRelativeResize="0"/>
            <p:nvPr/>
          </p:nvPicPr>
          <p:blipFill rotWithShape="1">
            <a:blip r:embed="rId15">
              <a:alphaModFix/>
            </a:blip>
            <a:srcRect b="0" l="0" r="0" t="0"/>
            <a:stretch/>
          </p:blipFill>
          <p:spPr>
            <a:xfrm>
              <a:off x="3280778" y="2909885"/>
              <a:ext cx="1307727" cy="4258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" name="Google Shape;69;p8"/>
            <p:cNvPicPr preferRelativeResize="0"/>
            <p:nvPr/>
          </p:nvPicPr>
          <p:blipFill rotWithShape="1">
            <a:blip r:embed="rId16">
              <a:alphaModFix/>
            </a:blip>
            <a:srcRect b="0" l="0" r="0" t="0"/>
            <a:stretch/>
          </p:blipFill>
          <p:spPr>
            <a:xfrm>
              <a:off x="2210622" y="2815523"/>
              <a:ext cx="501650" cy="501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0" name="Google Shape;70;p8"/>
          <p:cNvSpPr txBox="1"/>
          <p:nvPr>
            <p:ph idx="12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 txBox="1"/>
          <p:nvPr>
            <p:ph type="title"/>
          </p:nvPr>
        </p:nvSpPr>
        <p:spPr>
          <a:xfrm>
            <a:off x="1884488" y="546720"/>
            <a:ext cx="8419200" cy="13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73" name="Google Shape;73;p9"/>
          <p:cNvSpPr txBox="1"/>
          <p:nvPr>
            <p:ph idx="1" type="subTitle"/>
          </p:nvPr>
        </p:nvSpPr>
        <p:spPr>
          <a:xfrm>
            <a:off x="747653" y="4447200"/>
            <a:ext cx="2387700" cy="121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74" name="Google Shape;74;p9"/>
          <p:cNvSpPr txBox="1"/>
          <p:nvPr>
            <p:ph idx="12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0"/>
          <p:cNvSpPr txBox="1"/>
          <p:nvPr>
            <p:ph type="title"/>
          </p:nvPr>
        </p:nvSpPr>
        <p:spPr>
          <a:xfrm>
            <a:off x="1575606" y="2175400"/>
            <a:ext cx="9037800" cy="250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E8C07"/>
              </a:buClr>
              <a:buSzPts val="8000"/>
              <a:buNone/>
              <a:defRPr sz="8000">
                <a:solidFill>
                  <a:srgbClr val="2E8C07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884488" y="546720"/>
            <a:ext cx="8419200" cy="13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2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ndard-Layout-1">
  <p:cSld name="Standard-Layout-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/>
          <p:nvPr>
            <p:ph type="title"/>
          </p:nvPr>
        </p:nvSpPr>
        <p:spPr>
          <a:xfrm>
            <a:off x="426022" y="145954"/>
            <a:ext cx="113547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" type="body"/>
          </p:nvPr>
        </p:nvSpPr>
        <p:spPr>
          <a:xfrm>
            <a:off x="426022" y="1028015"/>
            <a:ext cx="11354700" cy="50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9250" lvl="0" marL="4572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1pPr>
            <a:lvl2pPr indent="-34925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2pPr>
            <a:lvl3pPr indent="-34925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3pPr>
            <a:lvl4pPr indent="-34925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4pPr>
            <a:lvl5pPr indent="-34925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5pPr>
            <a:lvl6pPr indent="-34925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6pPr>
            <a:lvl7pPr indent="-34925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7pPr>
            <a:lvl8pPr indent="-34925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8pPr>
            <a:lvl9pPr indent="-34925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2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Zeitachse">
  <p:cSld name="1_Zeitachse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/>
          <p:nvPr/>
        </p:nvSpPr>
        <p:spPr>
          <a:xfrm>
            <a:off x="1101238" y="0"/>
            <a:ext cx="11085928" cy="6858000"/>
          </a:xfrm>
          <a:custGeom>
            <a:rect b="b" l="l" r="r" t="t"/>
            <a:pathLst>
              <a:path extrusionOk="0" h="6858000" w="10078116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pic>
        <p:nvPicPr>
          <p:cNvPr id="87" name="Google Shape;87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8158" y="5827777"/>
            <a:ext cx="1520444" cy="57633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609328" y="273600"/>
            <a:ext cx="1096980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609328" y="1604520"/>
            <a:ext cx="10969800" cy="39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9250" lvl="0" marL="4572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1pPr>
            <a:lvl2pPr indent="-34925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2pPr>
            <a:lvl3pPr indent="-34925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3pPr>
            <a:lvl4pPr indent="-34925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4pPr>
            <a:lvl5pPr indent="-34925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5pPr>
            <a:lvl6pPr indent="-34925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6pPr>
            <a:lvl7pPr indent="-34925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7pPr>
            <a:lvl8pPr indent="-34925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8pPr>
            <a:lvl9pPr indent="-34925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9pPr>
          </a:lstStyle>
          <a:p/>
        </p:txBody>
      </p:sp>
      <p:sp>
        <p:nvSpPr>
          <p:cNvPr id="92" name="Google Shape;92;p14"/>
          <p:cNvSpPr txBox="1"/>
          <p:nvPr>
            <p:ph idx="12" type="sldNum"/>
          </p:nvPr>
        </p:nvSpPr>
        <p:spPr>
          <a:xfrm>
            <a:off x="9205263" y="6356367"/>
            <a:ext cx="2145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spcBef>
                <a:spcPts val="0"/>
              </a:spcBef>
              <a:buNone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spcBef>
                <a:spcPts val="0"/>
              </a:spcBef>
              <a:buNone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spcBef>
                <a:spcPts val="0"/>
              </a:spcBef>
              <a:buNone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spcBef>
                <a:spcPts val="0"/>
              </a:spcBef>
              <a:buNone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spcBef>
                <a:spcPts val="0"/>
              </a:spcBef>
              <a:buNone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spcBef>
                <a:spcPts val="0"/>
              </a:spcBef>
              <a:buNone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spcBef>
                <a:spcPts val="0"/>
              </a:spcBef>
              <a:buNone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spcBef>
                <a:spcPts val="0"/>
              </a:spcBef>
              <a:buNone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spcBef>
                <a:spcPts val="0"/>
              </a:spcBef>
              <a:buNone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www.batcat.info</a:t>
            </a:r>
            <a:endParaRPr sz="1700">
              <a:solidFill>
                <a:srgbClr val="E6913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4"/>
          <p:cNvSpPr txBox="1"/>
          <p:nvPr>
            <p:ph idx="2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martArt">
  <p:cSld name="SmartArt">
    <p:bg>
      <p:bgPr>
        <a:solidFill>
          <a:schemeClr val="lt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/>
          <p:nvPr>
            <p:ph type="title"/>
          </p:nvPr>
        </p:nvSpPr>
        <p:spPr>
          <a:xfrm>
            <a:off x="609328" y="273600"/>
            <a:ext cx="1096980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 Light"/>
              <a:buNone/>
              <a:defRPr sz="2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96" name="Google Shape;96;p15"/>
          <p:cNvSpPr/>
          <p:nvPr>
            <p:ph idx="2" type="dgm"/>
          </p:nvPr>
        </p:nvSpPr>
        <p:spPr>
          <a:xfrm>
            <a:off x="837990" y="2139084"/>
            <a:ext cx="10512900" cy="369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5"/>
          <p:cNvSpPr txBox="1"/>
          <p:nvPr>
            <p:ph idx="11" type="ftr"/>
          </p:nvPr>
        </p:nvSpPr>
        <p:spPr>
          <a:xfrm>
            <a:off x="0" y="0"/>
            <a:ext cx="29991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9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0" y="0"/>
            <a:ext cx="29991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spcBef>
                <a:spcPts val="0"/>
              </a:spcBef>
              <a:buNone/>
              <a:defRPr sz="9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marR="0" algn="l">
              <a:spcBef>
                <a:spcPts val="0"/>
              </a:spcBef>
              <a:buNone/>
              <a:defRPr sz="9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marR="0" algn="l">
              <a:spcBef>
                <a:spcPts val="0"/>
              </a:spcBef>
              <a:buNone/>
              <a:defRPr sz="9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marR="0" algn="l">
              <a:spcBef>
                <a:spcPts val="0"/>
              </a:spcBef>
              <a:buNone/>
              <a:defRPr sz="9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marR="0" algn="l">
              <a:spcBef>
                <a:spcPts val="0"/>
              </a:spcBef>
              <a:buNone/>
              <a:defRPr sz="9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marR="0" algn="l">
              <a:spcBef>
                <a:spcPts val="0"/>
              </a:spcBef>
              <a:buNone/>
              <a:defRPr sz="9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marR="0" algn="l">
              <a:spcBef>
                <a:spcPts val="0"/>
              </a:spcBef>
              <a:buNone/>
              <a:defRPr sz="9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marR="0" algn="l">
              <a:spcBef>
                <a:spcPts val="0"/>
              </a:spcBef>
              <a:buNone/>
              <a:defRPr sz="9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marR="0" algn="l">
              <a:spcBef>
                <a:spcPts val="0"/>
              </a:spcBef>
              <a:buNone/>
              <a:defRPr sz="9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9" name="Google Shape;99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18966" y="6056557"/>
            <a:ext cx="1520444" cy="57633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5"/>
          <p:cNvSpPr txBox="1"/>
          <p:nvPr>
            <p:ph idx="3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chemeClr val="dk1"/>
                </a:solidFill>
              </a:defRPr>
            </a:lvl1pPr>
            <a:lvl2pPr lvl="1" algn="ctr">
              <a:buNone/>
              <a:defRPr sz="1700">
                <a:solidFill>
                  <a:schemeClr val="dk1"/>
                </a:solidFill>
              </a:defRPr>
            </a:lvl2pPr>
            <a:lvl3pPr lvl="2" algn="ctr">
              <a:buNone/>
              <a:defRPr sz="1700">
                <a:solidFill>
                  <a:schemeClr val="dk1"/>
                </a:solidFill>
              </a:defRPr>
            </a:lvl3pPr>
            <a:lvl4pPr lvl="3" algn="ctr">
              <a:buNone/>
              <a:defRPr sz="1700">
                <a:solidFill>
                  <a:schemeClr val="dk1"/>
                </a:solidFill>
              </a:defRPr>
            </a:lvl4pPr>
            <a:lvl5pPr lvl="4" algn="ctr">
              <a:buNone/>
              <a:defRPr sz="1700">
                <a:solidFill>
                  <a:schemeClr val="dk1"/>
                </a:solidFill>
              </a:defRPr>
            </a:lvl5pPr>
            <a:lvl6pPr lvl="5" algn="ctr">
              <a:buNone/>
              <a:defRPr sz="1700">
                <a:solidFill>
                  <a:schemeClr val="dk1"/>
                </a:solidFill>
              </a:defRPr>
            </a:lvl6pPr>
            <a:lvl7pPr lvl="6" algn="ctr">
              <a:buNone/>
              <a:defRPr sz="1700">
                <a:solidFill>
                  <a:schemeClr val="dk1"/>
                </a:solidFill>
              </a:defRPr>
            </a:lvl7pPr>
            <a:lvl8pPr lvl="7" algn="ctr">
              <a:buNone/>
              <a:defRPr sz="1700">
                <a:solidFill>
                  <a:schemeClr val="dk1"/>
                </a:solidFill>
              </a:defRPr>
            </a:lvl8pPr>
            <a:lvl9pPr lvl="8" algn="ctr">
              <a:buNone/>
              <a:defRPr sz="17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folie-white 1">
  <p:cSld name="BLANK_1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>
            <p:ph idx="12" type="sldNum"/>
          </p:nvPr>
        </p:nvSpPr>
        <p:spPr>
          <a:xfrm>
            <a:off x="11406191" y="6333134"/>
            <a:ext cx="731400" cy="5250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</a:defRPr>
            </a:lvl1pPr>
            <a:lvl2pPr lvl="1" algn="r">
              <a:buNone/>
              <a:defRPr sz="1300">
                <a:solidFill>
                  <a:schemeClr val="dk1"/>
                </a:solidFill>
              </a:defRPr>
            </a:lvl2pPr>
            <a:lvl3pPr lvl="2" algn="r">
              <a:buNone/>
              <a:defRPr sz="1300">
                <a:solidFill>
                  <a:schemeClr val="dk1"/>
                </a:solidFill>
              </a:defRPr>
            </a:lvl3pPr>
            <a:lvl4pPr lvl="3" algn="r">
              <a:buNone/>
              <a:defRPr sz="1300">
                <a:solidFill>
                  <a:schemeClr val="dk1"/>
                </a:solidFill>
              </a:defRPr>
            </a:lvl4pPr>
            <a:lvl5pPr lvl="4" algn="r">
              <a:buNone/>
              <a:defRPr sz="1300">
                <a:solidFill>
                  <a:schemeClr val="dk1"/>
                </a:solidFill>
              </a:defRPr>
            </a:lvl5pPr>
            <a:lvl6pPr lvl="5" algn="r">
              <a:buNone/>
              <a:defRPr sz="1300">
                <a:solidFill>
                  <a:schemeClr val="dk1"/>
                </a:solidFill>
              </a:defRPr>
            </a:lvl6pPr>
            <a:lvl7pPr lvl="6" algn="r">
              <a:buNone/>
              <a:defRPr sz="1300">
                <a:solidFill>
                  <a:schemeClr val="dk1"/>
                </a:solidFill>
              </a:defRPr>
            </a:lvl7pPr>
            <a:lvl8pPr lvl="7" algn="r">
              <a:buNone/>
              <a:defRPr sz="1300">
                <a:solidFill>
                  <a:schemeClr val="dk1"/>
                </a:solidFill>
              </a:defRPr>
            </a:lvl8pPr>
            <a:lvl9pPr lvl="8" algn="r">
              <a:buNone/>
              <a:defRPr sz="13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2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7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2F2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1101324" y="0"/>
            <a:ext cx="11085928" cy="6858000"/>
          </a:xfrm>
          <a:custGeom>
            <a:rect b="b" l="l" r="r" t="t"/>
            <a:pathLst>
              <a:path extrusionOk="0" h="6858000" w="10078116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</p:sp>
      <p:sp>
        <p:nvSpPr>
          <p:cNvPr id="7" name="Google Shape;7;p1"/>
          <p:cNvSpPr/>
          <p:nvPr/>
        </p:nvSpPr>
        <p:spPr>
          <a:xfrm>
            <a:off x="11756658" y="6471733"/>
            <a:ext cx="376200" cy="366300"/>
          </a:xfrm>
          <a:prstGeom prst="ellipse">
            <a:avLst/>
          </a:prstGeom>
          <a:noFill/>
          <a:ln cap="flat" cmpd="sng" w="12700">
            <a:solidFill>
              <a:srgbClr val="F1C232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8" name="Google Shape;8;p1"/>
          <p:cNvSpPr/>
          <p:nvPr/>
        </p:nvSpPr>
        <p:spPr>
          <a:xfrm>
            <a:off x="467243" y="6493120"/>
            <a:ext cx="78909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60000" lIns="119975" spcFirstLastPara="1" rIns="119975" wrap="square" tIns="6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A5A5A5"/>
                </a:solidFill>
              </a:rPr>
              <a:t>AI3D -- Thessaloniki, Greece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9;p1"/>
          <p:cNvSpPr txBox="1"/>
          <p:nvPr>
            <p:ph type="title"/>
          </p:nvPr>
        </p:nvSpPr>
        <p:spPr>
          <a:xfrm>
            <a:off x="609447" y="273600"/>
            <a:ext cx="1096980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Font typeface="Arial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 sz="2400"/>
            </a:lvl9pPr>
          </a:lstStyle>
          <a:p/>
        </p:txBody>
      </p:sp>
      <p:sp>
        <p:nvSpPr>
          <p:cNvPr id="10" name="Google Shape;10;p1"/>
          <p:cNvSpPr txBox="1"/>
          <p:nvPr>
            <p:ph idx="1" type="body"/>
          </p:nvPr>
        </p:nvSpPr>
        <p:spPr>
          <a:xfrm>
            <a:off x="609447" y="1604640"/>
            <a:ext cx="10969800" cy="39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81000" lvl="0" marL="457200" marR="0" algn="l">
              <a:lnSpc>
                <a:spcPct val="9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9250" lvl="1" marL="9144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2" type="sldNum"/>
          </p:nvPr>
        </p:nvSpPr>
        <p:spPr>
          <a:xfrm>
            <a:off x="11579114" y="6392534"/>
            <a:ext cx="7314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121875" spcFirstLastPara="1" rIns="121875" wrap="square" tIns="121875">
            <a:noAutofit/>
          </a:bodyPr>
          <a:lstStyle>
            <a:lvl1pPr lvl="0" algn="ctr">
              <a:buNone/>
              <a:defRPr sz="1700">
                <a:solidFill>
                  <a:srgbClr val="E69138"/>
                </a:solidFill>
              </a:defRPr>
            </a:lvl1pPr>
            <a:lvl2pPr lvl="1" algn="ctr">
              <a:buNone/>
              <a:defRPr sz="1700">
                <a:solidFill>
                  <a:srgbClr val="E69138"/>
                </a:solidFill>
              </a:defRPr>
            </a:lvl2pPr>
            <a:lvl3pPr lvl="2" algn="ctr">
              <a:buNone/>
              <a:defRPr sz="1700">
                <a:solidFill>
                  <a:srgbClr val="E69138"/>
                </a:solidFill>
              </a:defRPr>
            </a:lvl3pPr>
            <a:lvl4pPr lvl="3" algn="ctr">
              <a:buNone/>
              <a:defRPr sz="1700">
                <a:solidFill>
                  <a:srgbClr val="E69138"/>
                </a:solidFill>
              </a:defRPr>
            </a:lvl4pPr>
            <a:lvl5pPr lvl="4" algn="ctr">
              <a:buNone/>
              <a:defRPr sz="1700">
                <a:solidFill>
                  <a:srgbClr val="E69138"/>
                </a:solidFill>
              </a:defRPr>
            </a:lvl5pPr>
            <a:lvl6pPr lvl="5" algn="ctr">
              <a:buNone/>
              <a:defRPr sz="1700">
                <a:solidFill>
                  <a:srgbClr val="E69138"/>
                </a:solidFill>
              </a:defRPr>
            </a:lvl6pPr>
            <a:lvl7pPr lvl="6" algn="ctr">
              <a:buNone/>
              <a:defRPr sz="1700">
                <a:solidFill>
                  <a:srgbClr val="E69138"/>
                </a:solidFill>
              </a:defRPr>
            </a:lvl7pPr>
            <a:lvl8pPr lvl="7" algn="ctr">
              <a:buNone/>
              <a:defRPr sz="1700">
                <a:solidFill>
                  <a:srgbClr val="E69138"/>
                </a:solidFill>
              </a:defRPr>
            </a:lvl8pPr>
            <a:lvl9pPr lvl="8" algn="ctr">
              <a:buNone/>
              <a:defRPr sz="1700">
                <a:solidFill>
                  <a:srgbClr val="E69138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6DB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8"/>
          <p:cNvSpPr txBox="1"/>
          <p:nvPr/>
        </p:nvSpPr>
        <p:spPr>
          <a:xfrm>
            <a:off x="418275" y="4087940"/>
            <a:ext cx="10972800" cy="461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Architecture · Enrichment Engine · SHACL Generation</a:t>
            </a:r>
            <a:endParaRPr/>
          </a:p>
        </p:txBody>
      </p:sp>
      <p:sp>
        <p:nvSpPr>
          <p:cNvPr id="113" name="Google Shape;113;p18"/>
          <p:cNvSpPr txBox="1"/>
          <p:nvPr/>
        </p:nvSpPr>
        <p:spPr>
          <a:xfrm>
            <a:off x="457200" y="4846639"/>
            <a:ext cx="9144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Audience: Developers, architects, semantic web practitioners</a:t>
            </a:r>
            <a:endParaRPr/>
          </a:p>
        </p:txBody>
      </p:sp>
      <p:sp>
        <p:nvSpPr>
          <p:cNvPr id="114" name="Google Shape;114;p18"/>
          <p:cNvSpPr txBox="1"/>
          <p:nvPr/>
        </p:nvSpPr>
        <p:spPr>
          <a:xfrm>
            <a:off x="457200" y="5363925"/>
            <a:ext cx="3657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45–60 minutes</a:t>
            </a:r>
            <a:endParaRPr/>
          </a:p>
        </p:txBody>
      </p:sp>
      <p:sp>
        <p:nvSpPr>
          <p:cNvPr id="115" name="Google Shape;115;p18"/>
          <p:cNvSpPr txBox="1"/>
          <p:nvPr>
            <p:ph type="title"/>
          </p:nvPr>
        </p:nvSpPr>
        <p:spPr>
          <a:xfrm>
            <a:off x="371075" y="2978100"/>
            <a:ext cx="11371800" cy="901800"/>
          </a:xfrm>
          <a:prstGeom prst="rect">
            <a:avLst/>
          </a:prstGeom>
          <a:solidFill>
            <a:schemeClr val="lt1"/>
          </a:solidFill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4800">
                <a:solidFill>
                  <a:srgbClr val="E97132"/>
                </a:solidFill>
                <a:latin typeface="Calibri"/>
                <a:ea typeface="Calibri"/>
                <a:cs typeface="Calibri"/>
                <a:sym typeface="Calibri"/>
              </a:rPr>
              <a:t>DASH_GUI: A Technical Deep Dive</a:t>
            </a:r>
            <a:endParaRPr>
              <a:solidFill>
                <a:srgbClr val="E9713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/>
        </p:nvSpPr>
        <p:spPr>
          <a:xfrm>
            <a:off x="171135" y="969335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We'll Cover</a:t>
            </a:r>
            <a:endParaRPr/>
          </a:p>
        </p:txBody>
      </p:sp>
      <p:sp>
        <p:nvSpPr>
          <p:cNvPr id="121" name="Google Shape;121;p19"/>
          <p:cNvSpPr/>
          <p:nvPr/>
        </p:nvSpPr>
        <p:spPr>
          <a:xfrm>
            <a:off x="365760" y="1737360"/>
            <a:ext cx="457200" cy="457200"/>
          </a:xfrm>
          <a:prstGeom prst="ellipse">
            <a:avLst/>
          </a:prstGeom>
          <a:solidFill>
            <a:srgbClr val="026DB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2000"/>
          </a:p>
        </p:txBody>
      </p:sp>
      <p:sp>
        <p:nvSpPr>
          <p:cNvPr id="122" name="Google Shape;122;p19"/>
          <p:cNvSpPr txBox="1"/>
          <p:nvPr/>
        </p:nvSpPr>
        <p:spPr>
          <a:xfrm>
            <a:off x="1005840" y="1764792"/>
            <a:ext cx="3200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Brick Approach</a:t>
            </a:r>
            <a:endParaRPr sz="2000"/>
          </a:p>
        </p:txBody>
      </p:sp>
      <p:sp>
        <p:nvSpPr>
          <p:cNvPr id="123" name="Google Shape;123;p19"/>
          <p:cNvSpPr txBox="1"/>
          <p:nvPr/>
        </p:nvSpPr>
        <p:spPr>
          <a:xfrm>
            <a:off x="4389120" y="1792224"/>
            <a:ext cx="7498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Semantic component reuse</a:t>
            </a:r>
            <a:endParaRPr sz="2000"/>
          </a:p>
        </p:txBody>
      </p:sp>
      <p:sp>
        <p:nvSpPr>
          <p:cNvPr id="124" name="Google Shape;124;p19"/>
          <p:cNvSpPr/>
          <p:nvPr/>
        </p:nvSpPr>
        <p:spPr>
          <a:xfrm>
            <a:off x="365760" y="2487168"/>
            <a:ext cx="457200" cy="457200"/>
          </a:xfrm>
          <a:prstGeom prst="ellipse">
            <a:avLst/>
          </a:prstGeom>
          <a:solidFill>
            <a:srgbClr val="026DB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2000"/>
          </a:p>
        </p:txBody>
      </p:sp>
      <p:sp>
        <p:nvSpPr>
          <p:cNvPr id="125" name="Google Shape;125;p19"/>
          <p:cNvSpPr txBox="1"/>
          <p:nvPr/>
        </p:nvSpPr>
        <p:spPr>
          <a:xfrm>
            <a:off x="1005840" y="2514600"/>
            <a:ext cx="3200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Architecture Overview</a:t>
            </a:r>
            <a:endParaRPr sz="2000"/>
          </a:p>
        </p:txBody>
      </p:sp>
      <p:sp>
        <p:nvSpPr>
          <p:cNvPr id="126" name="Google Shape;126;p19"/>
          <p:cNvSpPr txBox="1"/>
          <p:nvPr/>
        </p:nvSpPr>
        <p:spPr>
          <a:xfrm>
            <a:off x="4389120" y="2542032"/>
            <a:ext cx="7498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Multi-tenant, shared core</a:t>
            </a:r>
            <a:endParaRPr sz="2000"/>
          </a:p>
        </p:txBody>
      </p:sp>
      <p:sp>
        <p:nvSpPr>
          <p:cNvPr id="127" name="Google Shape;127;p19"/>
          <p:cNvSpPr/>
          <p:nvPr/>
        </p:nvSpPr>
        <p:spPr>
          <a:xfrm>
            <a:off x="365760" y="3236976"/>
            <a:ext cx="457200" cy="457200"/>
          </a:xfrm>
          <a:prstGeom prst="ellipse">
            <a:avLst/>
          </a:prstGeom>
          <a:solidFill>
            <a:srgbClr val="026DB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2000"/>
          </a:p>
        </p:txBody>
      </p:sp>
      <p:sp>
        <p:nvSpPr>
          <p:cNvPr id="128" name="Google Shape;128;p19"/>
          <p:cNvSpPr txBox="1"/>
          <p:nvPr/>
        </p:nvSpPr>
        <p:spPr>
          <a:xfrm>
            <a:off x="1005840" y="3264408"/>
            <a:ext cx="3200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Enrichment Engine</a:t>
            </a:r>
            <a:endParaRPr sz="2000"/>
          </a:p>
        </p:txBody>
      </p:sp>
      <p:sp>
        <p:nvSpPr>
          <p:cNvPr id="129" name="Google Shape;129;p19"/>
          <p:cNvSpPr txBox="1"/>
          <p:nvPr/>
        </p:nvSpPr>
        <p:spPr>
          <a:xfrm>
            <a:off x="4389120" y="3291840"/>
            <a:ext cx="7498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4-layer resolution — generic, not QUDT-only</a:t>
            </a:r>
            <a:endParaRPr sz="2000"/>
          </a:p>
        </p:txBody>
      </p:sp>
      <p:sp>
        <p:nvSpPr>
          <p:cNvPr id="130" name="Google Shape;130;p19"/>
          <p:cNvSpPr/>
          <p:nvPr/>
        </p:nvSpPr>
        <p:spPr>
          <a:xfrm>
            <a:off x="365760" y="3986784"/>
            <a:ext cx="457200" cy="457200"/>
          </a:xfrm>
          <a:prstGeom prst="ellipse">
            <a:avLst/>
          </a:prstGeom>
          <a:solidFill>
            <a:srgbClr val="026DB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2000"/>
          </a:p>
        </p:txBody>
      </p:sp>
      <p:sp>
        <p:nvSpPr>
          <p:cNvPr id="131" name="Google Shape;131;p19"/>
          <p:cNvSpPr txBox="1"/>
          <p:nvPr/>
        </p:nvSpPr>
        <p:spPr>
          <a:xfrm>
            <a:off x="1005840" y="4014216"/>
            <a:ext cx="3200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SHACL Export Pipeline</a:t>
            </a:r>
            <a:endParaRPr sz="2000"/>
          </a:p>
        </p:txBody>
      </p:sp>
      <p:sp>
        <p:nvSpPr>
          <p:cNvPr id="132" name="Google Shape;132;p19"/>
          <p:cNvSpPr txBox="1"/>
          <p:nvPr/>
        </p:nvSpPr>
        <p:spPr>
          <a:xfrm>
            <a:off x="4389120" y="4041648"/>
            <a:ext cx="7498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From bricks to validation rules</a:t>
            </a:r>
            <a:endParaRPr sz="2000"/>
          </a:p>
        </p:txBody>
      </p:sp>
      <p:sp>
        <p:nvSpPr>
          <p:cNvPr id="133" name="Google Shape;133;p19"/>
          <p:cNvSpPr/>
          <p:nvPr/>
        </p:nvSpPr>
        <p:spPr>
          <a:xfrm>
            <a:off x="365760" y="4736592"/>
            <a:ext cx="457200" cy="457200"/>
          </a:xfrm>
          <a:prstGeom prst="ellipse">
            <a:avLst/>
          </a:prstGeom>
          <a:solidFill>
            <a:srgbClr val="026DB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2000"/>
          </a:p>
        </p:txBody>
      </p:sp>
      <p:sp>
        <p:nvSpPr>
          <p:cNvPr id="134" name="Google Shape;134;p19"/>
          <p:cNvSpPr txBox="1"/>
          <p:nvPr/>
        </p:nvSpPr>
        <p:spPr>
          <a:xfrm>
            <a:off x="1005840" y="4764024"/>
            <a:ext cx="3200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Web vs Qt Frontends</a:t>
            </a:r>
            <a:endParaRPr sz="2000"/>
          </a:p>
        </p:txBody>
      </p:sp>
      <p:sp>
        <p:nvSpPr>
          <p:cNvPr id="135" name="Google Shape;135;p19"/>
          <p:cNvSpPr txBox="1"/>
          <p:nvPr/>
        </p:nvSpPr>
        <p:spPr>
          <a:xfrm>
            <a:off x="4389120" y="4791456"/>
            <a:ext cx="7498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Same core, different UI technology</a:t>
            </a:r>
            <a:endParaRPr sz="2000"/>
          </a:p>
        </p:txBody>
      </p:sp>
      <p:sp>
        <p:nvSpPr>
          <p:cNvPr id="136" name="Google Shape;136;p19"/>
          <p:cNvSpPr/>
          <p:nvPr/>
        </p:nvSpPr>
        <p:spPr>
          <a:xfrm>
            <a:off x="365760" y="5486400"/>
            <a:ext cx="457200" cy="457200"/>
          </a:xfrm>
          <a:prstGeom prst="ellipse">
            <a:avLst/>
          </a:prstGeom>
          <a:solidFill>
            <a:srgbClr val="026DB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2000"/>
          </a:p>
        </p:txBody>
      </p:sp>
      <p:sp>
        <p:nvSpPr>
          <p:cNvPr id="137" name="Google Shape;137;p19"/>
          <p:cNvSpPr txBox="1"/>
          <p:nvPr/>
        </p:nvSpPr>
        <p:spPr>
          <a:xfrm>
            <a:off x="1005840" y="5513832"/>
            <a:ext cx="3200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Extension Points</a:t>
            </a:r>
            <a:endParaRPr sz="2000"/>
          </a:p>
        </p:txBody>
      </p:sp>
      <p:sp>
        <p:nvSpPr>
          <p:cNvPr id="138" name="Google Shape;138;p19"/>
          <p:cNvSpPr txBox="1"/>
          <p:nvPr/>
        </p:nvSpPr>
        <p:spPr>
          <a:xfrm>
            <a:off x="4389120" y="5541264"/>
            <a:ext cx="7498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Add ontologies, rules, templates</a:t>
            </a:r>
            <a:endParaRPr sz="2000"/>
          </a:p>
        </p:txBody>
      </p:sp>
      <p:sp>
        <p:nvSpPr>
          <p:cNvPr id="139" name="Google Shape;139;p19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Agenda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 txBox="1"/>
          <p:nvPr/>
        </p:nvSpPr>
        <p:spPr>
          <a:xfrm>
            <a:off x="379485" y="960235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Traditional SHACL Authoring Fails</a:t>
            </a:r>
            <a:endParaRPr/>
          </a:p>
        </p:txBody>
      </p:sp>
      <p:sp>
        <p:nvSpPr>
          <p:cNvPr id="145" name="Google Shape;145;p20"/>
          <p:cNvSpPr/>
          <p:nvPr/>
        </p:nvSpPr>
        <p:spPr>
          <a:xfrm>
            <a:off x="379485" y="2103235"/>
            <a:ext cx="5303400" cy="4114800"/>
          </a:xfrm>
          <a:prstGeom prst="rect">
            <a:avLst/>
          </a:prstGeom>
          <a:solidFill>
            <a:srgbClr val="FFEDED"/>
          </a:solidFill>
          <a:ln cap="flat" cmpd="sng" w="19050">
            <a:solidFill>
              <a:srgbClr val="BF1B1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F1B1B"/>
                </a:solidFill>
                <a:latin typeface="Calibri"/>
                <a:ea typeface="Calibri"/>
                <a:cs typeface="Calibri"/>
                <a:sym typeface="Calibri"/>
              </a:rPr>
              <a:t>Traditional Approach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• Write raw Turtle by hand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• Manual unit lists (copy-paste)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• No reuse across schemas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• Validation errors found late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• Ontology experts only</a:t>
            </a:r>
            <a:endParaRPr/>
          </a:p>
        </p:txBody>
      </p:sp>
      <p:sp>
        <p:nvSpPr>
          <p:cNvPr id="146" name="Google Shape;146;p20"/>
          <p:cNvSpPr/>
          <p:nvPr/>
        </p:nvSpPr>
        <p:spPr>
          <a:xfrm>
            <a:off x="6231645" y="2103235"/>
            <a:ext cx="5303400" cy="4114800"/>
          </a:xfrm>
          <a:prstGeom prst="rect">
            <a:avLst/>
          </a:prstGeom>
          <a:solidFill>
            <a:srgbClr val="EDFFF3"/>
          </a:solidFill>
          <a:ln cap="flat" cmpd="sng" w="19050">
            <a:solidFill>
              <a:srgbClr val="167A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Brick Approach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• Compose visual bricks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• Ontology-driven widgets (auto)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• Reuse across all schemas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• Enrichment hints while authoring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• Domain experts can author</a:t>
            </a:r>
            <a:endParaRPr/>
          </a:p>
        </p:txBody>
      </p:sp>
      <p:sp>
        <p:nvSpPr>
          <p:cNvPr id="147" name="Google Shape;147;p20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Motivation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1"/>
          <p:cNvSpPr txBox="1"/>
          <p:nvPr/>
        </p:nvSpPr>
        <p:spPr>
          <a:xfrm>
            <a:off x="334610" y="983560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Is a Brick?</a:t>
            </a:r>
            <a:endParaRPr/>
          </a:p>
        </p:txBody>
      </p:sp>
      <p:sp>
        <p:nvSpPr>
          <p:cNvPr id="153" name="Google Shape;153;p21"/>
          <p:cNvSpPr txBox="1"/>
          <p:nvPr/>
        </p:nvSpPr>
        <p:spPr>
          <a:xfrm>
            <a:off x="365760" y="169164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 Brick = NodeShape + PropertyShapes, stored as JSON, exported as SHACL.</a:t>
            </a:r>
            <a:endParaRPr/>
          </a:p>
        </p:txBody>
      </p:sp>
      <p:sp>
        <p:nvSpPr>
          <p:cNvPr id="154" name="Google Shape;154;p21"/>
          <p:cNvSpPr/>
          <p:nvPr/>
        </p:nvSpPr>
        <p:spPr>
          <a:xfrm>
            <a:off x="365760" y="2331720"/>
            <a:ext cx="5486400" cy="3840480"/>
          </a:xfrm>
          <a:prstGeom prst="rect">
            <a:avLst/>
          </a:prstGeom>
          <a:solidFill>
            <a:srgbClr val="F0F4F8"/>
          </a:solidFill>
          <a:ln cap="flat" cmpd="sng" w="12700">
            <a:solidFill>
              <a:srgbClr val="026DB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"name": "Mass",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"object_type": "NodeShape",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"target_class": "https://schema.org/QuantitativeValue",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"leaf_properties": [{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"path": "http://qudt.org/schema/qudt/value",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"datatype": "xsd:decimal"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},{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"path": "http://qudt.org/schema/qudt/hasUnit",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"sh_class": "http://qudt.org/vocab/quantitykind/Mass",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"min_count": 1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}]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5" name="Google Shape;155;p21"/>
          <p:cNvSpPr txBox="1"/>
          <p:nvPr/>
        </p:nvSpPr>
        <p:spPr>
          <a:xfrm>
            <a:off x="6126480" y="2331720"/>
            <a:ext cx="219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83A42"/>
                </a:solidFill>
                <a:highlight>
                  <a:srgbClr val="FAFAFA"/>
                </a:highlight>
                <a:latin typeface="Consolas"/>
                <a:ea typeface="Consolas"/>
                <a:cs typeface="Consolas"/>
                <a:sym typeface="Consolas"/>
              </a:rPr>
              <a:t>sh_class on the unit property</a:t>
            </a:r>
            <a:endParaRPr sz="1800"/>
          </a:p>
        </p:txBody>
      </p:sp>
      <p:sp>
        <p:nvSpPr>
          <p:cNvPr id="156" name="Google Shape;156;p21"/>
          <p:cNvSpPr txBox="1"/>
          <p:nvPr/>
        </p:nvSpPr>
        <p:spPr>
          <a:xfrm>
            <a:off x="8503920" y="2331720"/>
            <a:ext cx="34746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rgbClr val="3344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83A42"/>
                </a:solidFill>
                <a:highlight>
                  <a:srgbClr val="FAFAFA"/>
                </a:highlight>
                <a:latin typeface="Consolas"/>
                <a:ea typeface="Consolas"/>
                <a:cs typeface="Consolas"/>
                <a:sym typeface="Consolas"/>
              </a:rPr>
              <a:t>→ triggers enrichment (QUDT lookup)</a:t>
            </a:r>
            <a:endParaRPr sz="1000">
              <a:solidFill>
                <a:srgbClr val="383A42"/>
              </a:solidFill>
              <a:highlight>
                <a:srgbClr val="FAFAFA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83A42"/>
                </a:solidFill>
                <a:highlight>
                  <a:srgbClr val="FAFAFA"/>
                </a:highlight>
                <a:latin typeface="Consolas"/>
                <a:ea typeface="Consolas"/>
                <a:cs typeface="Consolas"/>
                <a:sym typeface="Consolas"/>
              </a:rPr>
              <a:t>→ auto-populates unit dropdown</a:t>
            </a:r>
            <a:endParaRPr sz="1800">
              <a:solidFill>
                <a:srgbClr val="33445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1"/>
          <p:cNvSpPr txBox="1"/>
          <p:nvPr/>
        </p:nvSpPr>
        <p:spPr>
          <a:xfrm>
            <a:off x="6126480" y="3154680"/>
            <a:ext cx="21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min/maxCount</a:t>
            </a:r>
            <a:endParaRPr sz="1800"/>
          </a:p>
        </p:txBody>
      </p:sp>
      <p:sp>
        <p:nvSpPr>
          <p:cNvPr id="158" name="Google Shape;158;p21"/>
          <p:cNvSpPr txBox="1"/>
          <p:nvPr/>
        </p:nvSpPr>
        <p:spPr>
          <a:xfrm>
            <a:off x="8503920" y="3154680"/>
            <a:ext cx="3474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cardinality constraints</a:t>
            </a:r>
            <a:endParaRPr sz="1800"/>
          </a:p>
        </p:txBody>
      </p:sp>
      <p:sp>
        <p:nvSpPr>
          <p:cNvPr id="159" name="Google Shape;159;p21"/>
          <p:cNvSpPr txBox="1"/>
          <p:nvPr/>
        </p:nvSpPr>
        <p:spPr>
          <a:xfrm>
            <a:off x="6126480" y="3977640"/>
            <a:ext cx="21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JSON storage</a:t>
            </a:r>
            <a:endParaRPr sz="1800"/>
          </a:p>
        </p:txBody>
      </p:sp>
      <p:sp>
        <p:nvSpPr>
          <p:cNvPr id="160" name="Google Shape;160;p21"/>
          <p:cNvSpPr txBox="1"/>
          <p:nvPr/>
        </p:nvSpPr>
        <p:spPr>
          <a:xfrm>
            <a:off x="8503920" y="3977640"/>
            <a:ext cx="3474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fast CRUD, git-friendly</a:t>
            </a:r>
            <a:endParaRPr sz="1800"/>
          </a:p>
        </p:txBody>
      </p:sp>
      <p:sp>
        <p:nvSpPr>
          <p:cNvPr id="161" name="Google Shape;161;p21"/>
          <p:cNvSpPr txBox="1"/>
          <p:nvPr/>
        </p:nvSpPr>
        <p:spPr>
          <a:xfrm>
            <a:off x="6126480" y="4800600"/>
            <a:ext cx="21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Export</a:t>
            </a:r>
            <a:endParaRPr sz="1800"/>
          </a:p>
        </p:txBody>
      </p:sp>
      <p:sp>
        <p:nvSpPr>
          <p:cNvPr id="162" name="Google Shape;162;p21"/>
          <p:cNvSpPr txBox="1"/>
          <p:nvPr/>
        </p:nvSpPr>
        <p:spPr>
          <a:xfrm>
            <a:off x="8503920" y="4800600"/>
            <a:ext cx="3474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→ SHACL Turtle + dash:editor annotations</a:t>
            </a:r>
            <a:endParaRPr sz="1800"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Brick Approach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/>
          <p:nvPr/>
        </p:nvSpPr>
        <p:spPr>
          <a:xfrm>
            <a:off x="1097280" y="1691640"/>
            <a:ext cx="9875520" cy="658368"/>
          </a:xfrm>
          <a:prstGeom prst="rect">
            <a:avLst/>
          </a:prstGeom>
          <a:solidFill>
            <a:srgbClr val="F5F8FF"/>
          </a:solidFill>
          <a:ln cap="flat" cmpd="sng" w="25400">
            <a:solidFill>
              <a:srgbClr val="026DB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26DB0"/>
                </a:solidFill>
                <a:latin typeface="Courier New"/>
                <a:ea typeface="Courier New"/>
                <a:cs typeface="Courier New"/>
                <a:sym typeface="Courier New"/>
              </a:rPr>
              <a:t>Frontend Layer        </a:t>
            </a:r>
            <a:r>
              <a:rPr b="0" i="0" lang="en-US" sz="1500" u="none" cap="none" strike="noStrike">
                <a:solidFill>
                  <a:srgbClr val="334455"/>
                </a:solidFill>
                <a:latin typeface="Courier New"/>
                <a:ea typeface="Courier New"/>
                <a:cs typeface="Courier New"/>
                <a:sym typeface="Courier New"/>
              </a:rPr>
              <a:t>Web (React/Babel) :5001  ·  Qt (PyQt6) desktop</a:t>
            </a:r>
            <a:endParaRPr/>
          </a:p>
        </p:txBody>
      </p:sp>
      <p:sp>
        <p:nvSpPr>
          <p:cNvPr id="169" name="Google Shape;169;p22"/>
          <p:cNvSpPr/>
          <p:nvPr/>
        </p:nvSpPr>
        <p:spPr>
          <a:xfrm>
            <a:off x="1097280" y="2514600"/>
            <a:ext cx="9875520" cy="658368"/>
          </a:xfrm>
          <a:prstGeom prst="rect">
            <a:avLst/>
          </a:prstGeom>
          <a:solidFill>
            <a:srgbClr val="F5F8FF"/>
          </a:solidFill>
          <a:ln cap="flat" cmpd="sng" w="25400">
            <a:solidFill>
              <a:srgbClr val="3344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4455"/>
                </a:solidFill>
                <a:latin typeface="Courier New"/>
                <a:ea typeface="Courier New"/>
                <a:cs typeface="Courier New"/>
                <a:sym typeface="Courier New"/>
              </a:rPr>
              <a:t>REST API              </a:t>
            </a:r>
            <a:r>
              <a:rPr b="0" i="0" lang="en-US" sz="1500" u="none" cap="none" strike="noStrike">
                <a:solidFill>
                  <a:srgbClr val="334455"/>
                </a:solidFill>
                <a:latin typeface="Courier New"/>
                <a:ea typeface="Courier New"/>
                <a:cs typeface="Courier New"/>
                <a:sym typeface="Courier New"/>
              </a:rPr>
              <a:t>Flask — multi-tenant, per-session BrickCore</a:t>
            </a:r>
            <a:endParaRPr/>
          </a:p>
        </p:txBody>
      </p:sp>
      <p:sp>
        <p:nvSpPr>
          <p:cNvPr id="170" name="Google Shape;170;p22"/>
          <p:cNvSpPr/>
          <p:nvPr/>
        </p:nvSpPr>
        <p:spPr>
          <a:xfrm>
            <a:off x="1097280" y="3337560"/>
            <a:ext cx="9875520" cy="658368"/>
          </a:xfrm>
          <a:prstGeom prst="rect">
            <a:avLst/>
          </a:prstGeom>
          <a:solidFill>
            <a:srgbClr val="F5F8FF"/>
          </a:solidFill>
          <a:ln cap="flat" cmpd="sng" w="25400">
            <a:solidFill>
              <a:srgbClr val="925E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925E00"/>
                </a:solidFill>
                <a:latin typeface="Courier New"/>
                <a:ea typeface="Courier New"/>
                <a:cs typeface="Courier New"/>
                <a:sym typeface="Courier New"/>
              </a:rPr>
              <a:t>Core Services         </a:t>
            </a:r>
            <a:r>
              <a:rPr b="0" i="0" lang="en-US" sz="1500" u="none" cap="none" strike="noStrike">
                <a:solidFill>
                  <a:srgbClr val="334455"/>
                </a:solidFill>
                <a:latin typeface="Courier New"/>
                <a:ea typeface="Courier New"/>
                <a:cs typeface="Courier New"/>
                <a:sym typeface="Courier New"/>
              </a:rPr>
              <a:t>OntologyManager · EnrichmentEngine · SHACLExporter</a:t>
            </a:r>
            <a:endParaRPr/>
          </a:p>
        </p:txBody>
      </p:sp>
      <p:sp>
        <p:nvSpPr>
          <p:cNvPr id="171" name="Google Shape;171;p22"/>
          <p:cNvSpPr/>
          <p:nvPr/>
        </p:nvSpPr>
        <p:spPr>
          <a:xfrm>
            <a:off x="1097280" y="4160520"/>
            <a:ext cx="9875520" cy="658368"/>
          </a:xfrm>
          <a:prstGeom prst="rect">
            <a:avLst/>
          </a:prstGeom>
          <a:solidFill>
            <a:srgbClr val="F5F8FF"/>
          </a:solidFill>
          <a:ln cap="flat" cmpd="sng" w="25400">
            <a:solidFill>
              <a:srgbClr val="167A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67A40"/>
                </a:solidFill>
                <a:latin typeface="Courier New"/>
                <a:ea typeface="Courier New"/>
                <a:cs typeface="Courier New"/>
                <a:sym typeface="Courier New"/>
              </a:rPr>
              <a:t>Shared Library        </a:t>
            </a:r>
            <a:r>
              <a:rPr b="0" i="0" lang="en-US" sz="1500" u="none" cap="none" strike="noStrike">
                <a:solidFill>
                  <a:srgbClr val="334455"/>
                </a:solidFill>
                <a:latin typeface="Courier New"/>
                <a:ea typeface="Courier New"/>
                <a:cs typeface="Courier New"/>
                <a:sym typeface="Courier New"/>
              </a:rPr>
              <a:t>JSON bricks/schemas  ·  TTL ontology cache</a:t>
            </a:r>
            <a:endParaRPr/>
          </a:p>
        </p:txBody>
      </p:sp>
      <p:sp>
        <p:nvSpPr>
          <p:cNvPr id="172" name="Google Shape;172;p22"/>
          <p:cNvSpPr/>
          <p:nvPr/>
        </p:nvSpPr>
        <p:spPr>
          <a:xfrm>
            <a:off x="1097280" y="4983480"/>
            <a:ext cx="9875520" cy="658368"/>
          </a:xfrm>
          <a:prstGeom prst="rect">
            <a:avLst/>
          </a:prstGeom>
          <a:solidFill>
            <a:srgbClr val="F5F8FF"/>
          </a:solidFill>
          <a:ln cap="flat" cmpd="sng" w="25400">
            <a:solidFill>
              <a:srgbClr val="B84A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84A00"/>
                </a:solidFill>
                <a:latin typeface="Courier New"/>
                <a:ea typeface="Courier New"/>
                <a:cs typeface="Courier New"/>
                <a:sym typeface="Courier New"/>
              </a:rPr>
              <a:t>Standards Out         </a:t>
            </a:r>
            <a:r>
              <a:rPr b="0" i="0" lang="en-US" sz="1500" u="none" cap="none" strike="noStrike">
                <a:solidFill>
                  <a:srgbClr val="334455"/>
                </a:solidFill>
                <a:latin typeface="Courier New"/>
                <a:ea typeface="Courier New"/>
                <a:cs typeface="Courier New"/>
                <a:sym typeface="Courier New"/>
              </a:rPr>
              <a:t>SHACL Turtle  ·  DASH editors  ·  HTML forms</a:t>
            </a:r>
            <a:endParaRPr/>
          </a:p>
        </p:txBody>
      </p:sp>
      <p:sp>
        <p:nvSpPr>
          <p:cNvPr id="173" name="Google Shape;173;p22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Both Web and Qt share the same BrickCore — no logic duplication.</a:t>
            </a:r>
            <a:endParaRPr/>
          </a:p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Architecture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3"/>
          <p:cNvSpPr/>
          <p:nvPr/>
        </p:nvSpPr>
        <p:spPr>
          <a:xfrm>
            <a:off x="73225" y="1213425"/>
            <a:ext cx="7553100" cy="4993800"/>
          </a:xfrm>
          <a:prstGeom prst="rect">
            <a:avLst/>
          </a:prstGeom>
          <a:solidFill>
            <a:srgbClr val="F0F4F8"/>
          </a:solidFill>
          <a:ln cap="flat" cmpd="sng" w="12700">
            <a:solidFill>
              <a:srgbClr val="026DB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ShaclForm-library/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├── bricks/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└── battery_dpp/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    ├── mass_b1000003-ba77-4000-8000-000000000003.json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    ├── temperature_b1000005-ba77-4000-8000-000000000005.json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    ├── batterycapacity_b1000004-ba77-4000-8000-000000000004.json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    └── ...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├── schemas/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└── battery_dpp/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    └── ev-battery-dpp-001.json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└── ontologies/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└── cache/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├── qudt-units.ttl         (2906 units)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├── qudt_quantitykind.ttl  (1217 kinds)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├── battery_substances.ttl (25 substances, PubChem IRIs)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└── ...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0" name="Google Shape;180;p23"/>
          <p:cNvSpPr txBox="1"/>
          <p:nvPr/>
        </p:nvSpPr>
        <p:spPr>
          <a:xfrm>
            <a:off x="7626350" y="1950725"/>
            <a:ext cx="4475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→  Filesystem-based — git-friendly, no database</a:t>
            </a:r>
            <a:endParaRPr/>
          </a:p>
        </p:txBody>
      </p:sp>
      <p:sp>
        <p:nvSpPr>
          <p:cNvPr id="181" name="Google Shape;181;p23"/>
          <p:cNvSpPr txBox="1"/>
          <p:nvPr/>
        </p:nvSpPr>
        <p:spPr>
          <a:xfrm>
            <a:off x="7626350" y="2609088"/>
            <a:ext cx="4475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→  Single source of truth for both Web and Qt</a:t>
            </a:r>
            <a:endParaRPr/>
          </a:p>
        </p:txBody>
      </p:sp>
      <p:sp>
        <p:nvSpPr>
          <p:cNvPr id="182" name="Google Shape;182;p23"/>
          <p:cNvSpPr txBox="1"/>
          <p:nvPr/>
        </p:nvSpPr>
        <p:spPr>
          <a:xfrm>
            <a:off x="7626350" y="3267450"/>
            <a:ext cx="4475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→  17 ontologies loaded at startup (~45 MB TTL)</a:t>
            </a:r>
            <a:endParaRPr/>
          </a:p>
        </p:txBody>
      </p:sp>
      <p:sp>
        <p:nvSpPr>
          <p:cNvPr id="183" name="Google Shape;183;p23"/>
          <p:cNvSpPr txBox="1"/>
          <p:nvPr/>
        </p:nvSpPr>
        <p:spPr>
          <a:xfrm>
            <a:off x="7626350" y="3925813"/>
            <a:ext cx="4475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→  Add ontology → drop .ttl in cache → restart</a:t>
            </a:r>
            <a:endParaRPr/>
          </a:p>
        </p:txBody>
      </p:sp>
      <p:sp>
        <p:nvSpPr>
          <p:cNvPr id="184" name="Google Shape;184;p23"/>
          <p:cNvSpPr txBox="1"/>
          <p:nvPr/>
        </p:nvSpPr>
        <p:spPr>
          <a:xfrm>
            <a:off x="7626350" y="4584175"/>
            <a:ext cx="4475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→  New prefixes &amp; enrichment rules available instantly</a:t>
            </a:r>
            <a:endParaRPr/>
          </a:p>
        </p:txBody>
      </p:sp>
      <p:sp>
        <p:nvSpPr>
          <p:cNvPr id="185" name="Google Shape;185;p23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Shared Library System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4"/>
          <p:cNvSpPr txBox="1"/>
          <p:nvPr/>
        </p:nvSpPr>
        <p:spPr>
          <a:xfrm>
            <a:off x="365760" y="942323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Layer 0: Datatype → Widget  (fast path)</a:t>
            </a:r>
            <a:endParaRPr/>
          </a:p>
        </p:txBody>
      </p:sp>
      <p:sp>
        <p:nvSpPr>
          <p:cNvPr id="191" name="Google Shape;191;p24"/>
          <p:cNvSpPr txBox="1"/>
          <p:nvPr/>
        </p:nvSpPr>
        <p:spPr>
          <a:xfrm>
            <a:off x="457200" y="1828800"/>
            <a:ext cx="3657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sh:datatype</a:t>
            </a:r>
            <a:endParaRPr sz="1800"/>
          </a:p>
        </p:txBody>
      </p:sp>
      <p:sp>
        <p:nvSpPr>
          <p:cNvPr id="192" name="Google Shape;192;p24"/>
          <p:cNvSpPr txBox="1"/>
          <p:nvPr/>
        </p:nvSpPr>
        <p:spPr>
          <a:xfrm>
            <a:off x="4389120" y="1828800"/>
            <a:ext cx="3657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widget type</a:t>
            </a:r>
            <a:endParaRPr sz="1800"/>
          </a:p>
        </p:txBody>
      </p:sp>
      <p:sp>
        <p:nvSpPr>
          <p:cNvPr id="193" name="Google Shape;193;p24"/>
          <p:cNvSpPr txBox="1"/>
          <p:nvPr/>
        </p:nvSpPr>
        <p:spPr>
          <a:xfrm>
            <a:off x="7772400" y="1828800"/>
            <a:ext cx="3657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rendered as</a:t>
            </a:r>
            <a:endParaRPr sz="1800"/>
          </a:p>
        </p:txBody>
      </p:sp>
      <p:sp>
        <p:nvSpPr>
          <p:cNvPr id="194" name="Google Shape;194;p24"/>
          <p:cNvSpPr txBox="1"/>
          <p:nvPr/>
        </p:nvSpPr>
        <p:spPr>
          <a:xfrm>
            <a:off x="457200" y="2286000"/>
            <a:ext cx="3749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xsd:boolean</a:t>
            </a:r>
            <a:endParaRPr sz="1800"/>
          </a:p>
        </p:txBody>
      </p:sp>
      <p:sp>
        <p:nvSpPr>
          <p:cNvPr id="195" name="Google Shape;195;p24"/>
          <p:cNvSpPr txBox="1"/>
          <p:nvPr/>
        </p:nvSpPr>
        <p:spPr>
          <a:xfrm>
            <a:off x="4389120" y="2286000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boolean_toggle</a:t>
            </a:r>
            <a:endParaRPr sz="1800"/>
          </a:p>
        </p:txBody>
      </p:sp>
      <p:sp>
        <p:nvSpPr>
          <p:cNvPr id="196" name="Google Shape;196;p24"/>
          <p:cNvSpPr txBox="1"/>
          <p:nvPr/>
        </p:nvSpPr>
        <p:spPr>
          <a:xfrm>
            <a:off x="7772400" y="228600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checkbox</a:t>
            </a:r>
            <a:endParaRPr sz="1800"/>
          </a:p>
        </p:txBody>
      </p:sp>
      <p:sp>
        <p:nvSpPr>
          <p:cNvPr id="197" name="Google Shape;197;p24"/>
          <p:cNvSpPr txBox="1"/>
          <p:nvPr/>
        </p:nvSpPr>
        <p:spPr>
          <a:xfrm>
            <a:off x="457200" y="2852928"/>
            <a:ext cx="3749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xsd:date</a:t>
            </a:r>
            <a:endParaRPr sz="1800"/>
          </a:p>
        </p:txBody>
      </p:sp>
      <p:sp>
        <p:nvSpPr>
          <p:cNvPr id="198" name="Google Shape;198;p24"/>
          <p:cNvSpPr txBox="1"/>
          <p:nvPr/>
        </p:nvSpPr>
        <p:spPr>
          <a:xfrm>
            <a:off x="4389120" y="2852928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date_picker</a:t>
            </a:r>
            <a:endParaRPr sz="1800"/>
          </a:p>
        </p:txBody>
      </p:sp>
      <p:sp>
        <p:nvSpPr>
          <p:cNvPr id="199" name="Google Shape;199;p24"/>
          <p:cNvSpPr txBox="1"/>
          <p:nvPr/>
        </p:nvSpPr>
        <p:spPr>
          <a:xfrm>
            <a:off x="7772400" y="2852928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calendar widget</a:t>
            </a:r>
            <a:endParaRPr sz="1800"/>
          </a:p>
        </p:txBody>
      </p:sp>
      <p:sp>
        <p:nvSpPr>
          <p:cNvPr id="200" name="Google Shape;200;p24"/>
          <p:cNvSpPr txBox="1"/>
          <p:nvPr/>
        </p:nvSpPr>
        <p:spPr>
          <a:xfrm>
            <a:off x="457200" y="3419856"/>
            <a:ext cx="3749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xsd:decimal</a:t>
            </a:r>
            <a:endParaRPr sz="1800"/>
          </a:p>
        </p:txBody>
      </p:sp>
      <p:sp>
        <p:nvSpPr>
          <p:cNvPr id="201" name="Google Shape;201;p24"/>
          <p:cNvSpPr txBox="1"/>
          <p:nvPr/>
        </p:nvSpPr>
        <p:spPr>
          <a:xfrm>
            <a:off x="4389120" y="3419856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decimal_input</a:t>
            </a:r>
            <a:endParaRPr sz="1800"/>
          </a:p>
        </p:txBody>
      </p:sp>
      <p:sp>
        <p:nvSpPr>
          <p:cNvPr id="202" name="Google Shape;202;p24"/>
          <p:cNvSpPr txBox="1"/>
          <p:nvPr/>
        </p:nvSpPr>
        <p:spPr>
          <a:xfrm>
            <a:off x="7772400" y="3419856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numeric field</a:t>
            </a:r>
            <a:endParaRPr sz="1800"/>
          </a:p>
        </p:txBody>
      </p:sp>
      <p:sp>
        <p:nvSpPr>
          <p:cNvPr id="203" name="Google Shape;203;p24"/>
          <p:cNvSpPr txBox="1"/>
          <p:nvPr/>
        </p:nvSpPr>
        <p:spPr>
          <a:xfrm>
            <a:off x="457200" y="3986784"/>
            <a:ext cx="3749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xsd:anyURI</a:t>
            </a:r>
            <a:endParaRPr sz="1800"/>
          </a:p>
        </p:txBody>
      </p:sp>
      <p:sp>
        <p:nvSpPr>
          <p:cNvPr id="204" name="Google Shape;204;p24"/>
          <p:cNvSpPr txBox="1"/>
          <p:nvPr/>
        </p:nvSpPr>
        <p:spPr>
          <a:xfrm>
            <a:off x="4389120" y="3986784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uri_input</a:t>
            </a:r>
            <a:endParaRPr sz="1800"/>
          </a:p>
        </p:txBody>
      </p:sp>
      <p:sp>
        <p:nvSpPr>
          <p:cNvPr id="205" name="Google Shape;205;p24"/>
          <p:cNvSpPr txBox="1"/>
          <p:nvPr/>
        </p:nvSpPr>
        <p:spPr>
          <a:xfrm>
            <a:off x="7772400" y="3986784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URL-validated field</a:t>
            </a:r>
            <a:endParaRPr sz="1800"/>
          </a:p>
        </p:txBody>
      </p:sp>
      <p:sp>
        <p:nvSpPr>
          <p:cNvPr id="206" name="Google Shape;206;p24"/>
          <p:cNvSpPr txBox="1"/>
          <p:nvPr/>
        </p:nvSpPr>
        <p:spPr>
          <a:xfrm>
            <a:off x="457200" y="4553712"/>
            <a:ext cx="3749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rdf:langString</a:t>
            </a:r>
            <a:endParaRPr sz="1800"/>
          </a:p>
        </p:txBody>
      </p:sp>
      <p:sp>
        <p:nvSpPr>
          <p:cNvPr id="207" name="Google Shape;207;p24"/>
          <p:cNvSpPr txBox="1"/>
          <p:nvPr/>
        </p:nvSpPr>
        <p:spPr>
          <a:xfrm>
            <a:off x="4389120" y="4553712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language_text</a:t>
            </a:r>
            <a:endParaRPr sz="1800"/>
          </a:p>
        </p:txBody>
      </p:sp>
      <p:sp>
        <p:nvSpPr>
          <p:cNvPr id="208" name="Google Shape;208;p24"/>
          <p:cNvSpPr txBox="1"/>
          <p:nvPr/>
        </p:nvSpPr>
        <p:spPr>
          <a:xfrm>
            <a:off x="7772400" y="4553712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multilingual input</a:t>
            </a:r>
            <a:endParaRPr sz="1800"/>
          </a:p>
        </p:txBody>
      </p:sp>
      <p:sp>
        <p:nvSpPr>
          <p:cNvPr id="209" name="Google Shape;209;p24"/>
          <p:cNvSpPr txBox="1"/>
          <p:nvPr/>
        </p:nvSpPr>
        <p:spPr>
          <a:xfrm>
            <a:off x="457200" y="5120640"/>
            <a:ext cx="3749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xsd:integer</a:t>
            </a:r>
            <a:endParaRPr sz="1800"/>
          </a:p>
        </p:txBody>
      </p:sp>
      <p:sp>
        <p:nvSpPr>
          <p:cNvPr id="210" name="Google Shape;210;p24"/>
          <p:cNvSpPr txBox="1"/>
          <p:nvPr/>
        </p:nvSpPr>
        <p:spPr>
          <a:xfrm>
            <a:off x="4389120" y="5120640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decimal_input</a:t>
            </a:r>
            <a:endParaRPr sz="1800"/>
          </a:p>
        </p:txBody>
      </p:sp>
      <p:sp>
        <p:nvSpPr>
          <p:cNvPr id="211" name="Google Shape;211;p24"/>
          <p:cNvSpPr txBox="1"/>
          <p:nvPr/>
        </p:nvSpPr>
        <p:spPr>
          <a:xfrm>
            <a:off x="7772400" y="512064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integer-constrained</a:t>
            </a:r>
            <a:endParaRPr sz="1800"/>
          </a:p>
        </p:txBody>
      </p:sp>
      <p:sp>
        <p:nvSpPr>
          <p:cNvPr id="212" name="Google Shape;212;p24"/>
          <p:cNvSpPr txBox="1"/>
          <p:nvPr/>
        </p:nvSpPr>
        <p:spPr>
          <a:xfrm>
            <a:off x="365760" y="594360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No ontology lookup — purely declarative rules in widget_rules.ttl. Add new datatypes by adding TTL triples.</a:t>
            </a:r>
            <a:endParaRPr/>
          </a:p>
        </p:txBody>
      </p:sp>
      <p:sp>
        <p:nvSpPr>
          <p:cNvPr id="213" name="Google Shape;213;p24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Enrichment Engine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5"/>
          <p:cNvSpPr txBox="1"/>
          <p:nvPr/>
        </p:nvSpPr>
        <p:spPr>
          <a:xfrm>
            <a:off x="311250" y="991343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Layers 1-2: Semantic Resolution  (QUDT is one example)</a:t>
            </a:r>
            <a:endParaRPr/>
          </a:p>
        </p:txBody>
      </p:sp>
      <p:sp>
        <p:nvSpPr>
          <p:cNvPr id="219" name="Google Shape;219;p25"/>
          <p:cNvSpPr/>
          <p:nvPr/>
        </p:nvSpPr>
        <p:spPr>
          <a:xfrm>
            <a:off x="365750" y="1854275"/>
            <a:ext cx="5394900" cy="4272300"/>
          </a:xfrm>
          <a:prstGeom prst="rect">
            <a:avLst/>
          </a:prstGeom>
          <a:solidFill>
            <a:srgbClr val="E8F4FF"/>
          </a:solidFill>
          <a:ln cap="flat" cmpd="sng" w="19050">
            <a:solidFill>
              <a:srgbClr val="026DB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Physical quantities (QUDT)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sh:class = qudt:Mass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  ↓ Layer 1: dimensional sig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    (1, 0, 0, 0, 0, 0, 0)  [M¹]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  ↓ Layer 2: applicableUnit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    query QUDT graph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4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→ unit_dropdown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  [kg, g, lb, oz, mg, t]</a:t>
            </a:r>
            <a:endParaRPr/>
          </a:p>
        </p:txBody>
      </p:sp>
      <p:sp>
        <p:nvSpPr>
          <p:cNvPr id="220" name="Google Shape;220;p25"/>
          <p:cNvSpPr/>
          <p:nvPr/>
        </p:nvSpPr>
        <p:spPr>
          <a:xfrm>
            <a:off x="6309354" y="1854275"/>
            <a:ext cx="5394900" cy="4272300"/>
          </a:xfrm>
          <a:prstGeom prst="rect">
            <a:avLst/>
          </a:prstGeom>
          <a:solidFill>
            <a:srgbClr val="EDFFF3"/>
          </a:solidFill>
          <a:ln cap="flat" cmpd="sng" w="19050">
            <a:solidFill>
              <a:srgbClr val="167A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Controlled vocab (SKOS)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sh:class = skos:Concept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+ skos:inScheme &lt;myVocab&gt;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  ↓ Layer 2: extract concepts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    from scheme graph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4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→ skos_selector dropdown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  [Concept A, B, C ...]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  (your vocabulary, not QUDT)</a:t>
            </a:r>
            <a:endParaRPr/>
          </a:p>
        </p:txBody>
      </p:sp>
      <p:sp>
        <p:nvSpPr>
          <p:cNvPr id="221" name="Google Shape;221;p25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Any ontology with the right predicate structure works — rules declared in widget_rules.ttl, zero Python changes.</a:t>
            </a:r>
            <a:endParaRPr/>
          </a:p>
        </p:txBody>
      </p:sp>
      <p:sp>
        <p:nvSpPr>
          <p:cNvPr id="222" name="Google Shape;222;p25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Enrichment Engine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6"/>
          <p:cNvSpPr txBox="1"/>
          <p:nvPr/>
        </p:nvSpPr>
        <p:spPr>
          <a:xfrm>
            <a:off x="365760" y="960110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Layers 3-4: Namespace &amp; Inheritance Fallbacks</a:t>
            </a:r>
            <a:endParaRPr/>
          </a:p>
        </p:txBody>
      </p:sp>
      <p:sp>
        <p:nvSpPr>
          <p:cNvPr id="228" name="Google Shape;228;p26"/>
          <p:cNvSpPr txBox="1"/>
          <p:nvPr/>
        </p:nvSpPr>
        <p:spPr>
          <a:xfrm>
            <a:off x="365746" y="1783075"/>
            <a:ext cx="869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Layer</a:t>
            </a:r>
            <a:endParaRPr sz="1800"/>
          </a:p>
        </p:txBody>
      </p:sp>
      <p:sp>
        <p:nvSpPr>
          <p:cNvPr id="229" name="Google Shape;229;p26"/>
          <p:cNvSpPr txBox="1"/>
          <p:nvPr/>
        </p:nvSpPr>
        <p:spPr>
          <a:xfrm>
            <a:off x="1340395" y="1783093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Trigger</a:t>
            </a:r>
            <a:endParaRPr sz="1800"/>
          </a:p>
        </p:txBody>
      </p:sp>
      <p:sp>
        <p:nvSpPr>
          <p:cNvPr id="230" name="Google Shape;230;p26"/>
          <p:cNvSpPr txBox="1"/>
          <p:nvPr/>
        </p:nvSpPr>
        <p:spPr>
          <a:xfrm>
            <a:off x="4266475" y="1783093"/>
            <a:ext cx="2834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Result</a:t>
            </a:r>
            <a:endParaRPr sz="1800"/>
          </a:p>
        </p:txBody>
      </p:sp>
      <p:sp>
        <p:nvSpPr>
          <p:cNvPr id="231" name="Google Shape;231;p26"/>
          <p:cNvSpPr txBox="1"/>
          <p:nvPr/>
        </p:nvSpPr>
        <p:spPr>
          <a:xfrm>
            <a:off x="7283995" y="1783093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Example</a:t>
            </a:r>
            <a:endParaRPr sz="1800"/>
          </a:p>
        </p:txBody>
      </p:sp>
      <p:sp>
        <p:nvSpPr>
          <p:cNvPr id="232" name="Google Shape;232;p26"/>
          <p:cNvSpPr txBox="1"/>
          <p:nvPr/>
        </p:nvSpPr>
        <p:spPr>
          <a:xfrm>
            <a:off x="365746" y="2441444"/>
            <a:ext cx="869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800"/>
          </a:p>
        </p:txBody>
      </p:sp>
      <p:sp>
        <p:nvSpPr>
          <p:cNvPr id="233" name="Google Shape;233;p26"/>
          <p:cNvSpPr txBox="1"/>
          <p:nvPr/>
        </p:nvSpPr>
        <p:spPr>
          <a:xfrm>
            <a:off x="1340395" y="2441461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Namespace prefix match</a:t>
            </a:r>
            <a:endParaRPr sz="1800"/>
          </a:p>
        </p:txBody>
      </p:sp>
      <p:sp>
        <p:nvSpPr>
          <p:cNvPr id="234" name="Google Shape;234;p26"/>
          <p:cNvSpPr txBox="1"/>
          <p:nvPr/>
        </p:nvSpPr>
        <p:spPr>
          <a:xfrm>
            <a:off x="4266475" y="2441461"/>
            <a:ext cx="2834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Suggest known properties</a:t>
            </a:r>
            <a:endParaRPr sz="1800"/>
          </a:p>
        </p:txBody>
      </p:sp>
      <p:sp>
        <p:nvSpPr>
          <p:cNvPr id="235" name="Google Shape;235;p26"/>
          <p:cNvSpPr txBox="1"/>
          <p:nvPr/>
        </p:nvSpPr>
        <p:spPr>
          <a:xfrm>
            <a:off x="7283995" y="2441461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foaf:Person → name, mbox…</a:t>
            </a:r>
            <a:endParaRPr sz="1800"/>
          </a:p>
        </p:txBody>
      </p:sp>
      <p:sp>
        <p:nvSpPr>
          <p:cNvPr id="236" name="Google Shape;236;p26"/>
          <p:cNvSpPr txBox="1"/>
          <p:nvPr/>
        </p:nvSpPr>
        <p:spPr>
          <a:xfrm>
            <a:off x="365746" y="3099812"/>
            <a:ext cx="869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800"/>
          </a:p>
        </p:txBody>
      </p:sp>
      <p:sp>
        <p:nvSpPr>
          <p:cNvPr id="237" name="Google Shape;237;p26"/>
          <p:cNvSpPr txBox="1"/>
          <p:nvPr/>
        </p:nvSpPr>
        <p:spPr>
          <a:xfrm>
            <a:off x="1340395" y="3099829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Predicate in loaded onto</a:t>
            </a:r>
            <a:endParaRPr sz="1800"/>
          </a:p>
        </p:txBody>
      </p:sp>
      <p:sp>
        <p:nvSpPr>
          <p:cNvPr id="238" name="Google Shape;238;p26"/>
          <p:cNvSpPr txBox="1"/>
          <p:nvPr/>
        </p:nvSpPr>
        <p:spPr>
          <a:xfrm>
            <a:off x="4266475" y="3099829"/>
            <a:ext cx="2834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Suggest known properties</a:t>
            </a:r>
            <a:endParaRPr sz="1800"/>
          </a:p>
        </p:txBody>
      </p:sp>
      <p:sp>
        <p:nvSpPr>
          <p:cNvPr id="239" name="Google Shape;239;p26"/>
          <p:cNvSpPr txBox="1"/>
          <p:nvPr/>
        </p:nvSpPr>
        <p:spPr>
          <a:xfrm>
            <a:off x="7283995" y="3099829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schema:Thing → identifier…</a:t>
            </a:r>
            <a:endParaRPr sz="1800"/>
          </a:p>
        </p:txBody>
      </p:sp>
      <p:sp>
        <p:nvSpPr>
          <p:cNvPr id="240" name="Google Shape;240;p26"/>
          <p:cNvSpPr txBox="1"/>
          <p:nvPr/>
        </p:nvSpPr>
        <p:spPr>
          <a:xfrm>
            <a:off x="365746" y="3758181"/>
            <a:ext cx="869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800"/>
          </a:p>
        </p:txBody>
      </p:sp>
      <p:sp>
        <p:nvSpPr>
          <p:cNvPr id="241" name="Google Shape;241;p26"/>
          <p:cNvSpPr txBox="1"/>
          <p:nvPr/>
        </p:nvSpPr>
        <p:spPr>
          <a:xfrm>
            <a:off x="1340395" y="3758197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rdfs:subClassOf chain</a:t>
            </a:r>
            <a:endParaRPr sz="1800"/>
          </a:p>
        </p:txBody>
      </p:sp>
      <p:sp>
        <p:nvSpPr>
          <p:cNvPr id="242" name="Google Shape;242;p26"/>
          <p:cNvSpPr txBox="1"/>
          <p:nvPr/>
        </p:nvSpPr>
        <p:spPr>
          <a:xfrm>
            <a:off x="4266475" y="3758197"/>
            <a:ext cx="2834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Entity search-as-you-type</a:t>
            </a:r>
            <a:endParaRPr sz="1800"/>
          </a:p>
        </p:txBody>
      </p:sp>
      <p:sp>
        <p:nvSpPr>
          <p:cNvPr id="243" name="Google Shape;243;p26"/>
          <p:cNvSpPr txBox="1"/>
          <p:nvPr/>
        </p:nvSpPr>
        <p:spPr>
          <a:xfrm>
            <a:off x="7283995" y="3758197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foaf:Person ⊑ foaf:Agent</a:t>
            </a:r>
            <a:endParaRPr sz="1800"/>
          </a:p>
        </p:txBody>
      </p:sp>
      <p:sp>
        <p:nvSpPr>
          <p:cNvPr id="244" name="Google Shape;244;p26"/>
          <p:cNvSpPr txBox="1"/>
          <p:nvPr/>
        </p:nvSpPr>
        <p:spPr>
          <a:xfrm>
            <a:off x="365746" y="4416550"/>
            <a:ext cx="869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800"/>
          </a:p>
        </p:txBody>
      </p:sp>
      <p:sp>
        <p:nvSpPr>
          <p:cNvPr id="245" name="Google Shape;245;p26"/>
          <p:cNvSpPr txBox="1"/>
          <p:nvPr/>
        </p:nvSpPr>
        <p:spPr>
          <a:xfrm>
            <a:off x="1340395" y="4416565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No match at any layer</a:t>
            </a:r>
            <a:endParaRPr sz="1800"/>
          </a:p>
        </p:txBody>
      </p:sp>
      <p:sp>
        <p:nvSpPr>
          <p:cNvPr id="246" name="Google Shape;246;p26"/>
          <p:cNvSpPr txBox="1"/>
          <p:nvPr/>
        </p:nvSpPr>
        <p:spPr>
          <a:xfrm>
            <a:off x="4266475" y="4416565"/>
            <a:ext cx="2834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Plain text field (fallback)</a:t>
            </a:r>
            <a:endParaRPr sz="1800"/>
          </a:p>
        </p:txBody>
      </p:sp>
      <p:sp>
        <p:nvSpPr>
          <p:cNvPr id="247" name="Google Shape;247;p26"/>
          <p:cNvSpPr txBox="1"/>
          <p:nvPr/>
        </p:nvSpPr>
        <p:spPr>
          <a:xfrm>
            <a:off x="7283995" y="4416565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unknown:Widget → text input</a:t>
            </a:r>
            <a:endParaRPr sz="1800"/>
          </a:p>
        </p:txBody>
      </p:sp>
      <p:sp>
        <p:nvSpPr>
          <p:cNvPr id="248" name="Google Shape;248;p26"/>
          <p:cNvSpPr txBox="1"/>
          <p:nvPr/>
        </p:nvSpPr>
        <p:spPr>
          <a:xfrm>
            <a:off x="365760" y="5394960"/>
            <a:ext cx="1143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Load any OWL/RDFS ontology → its classes and subclass chains become immediately available.</a:t>
            </a:r>
            <a:endParaRPr sz="1800"/>
          </a:p>
        </p:txBody>
      </p:sp>
      <p:sp>
        <p:nvSpPr>
          <p:cNvPr id="249" name="Google Shape;249;p26"/>
          <p:cNvSpPr txBox="1"/>
          <p:nvPr/>
        </p:nvSpPr>
        <p:spPr>
          <a:xfrm>
            <a:off x="365760" y="5897880"/>
            <a:ext cx="1143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No vocabulary names are hardcoded in Python — purely data-driven.</a:t>
            </a:r>
            <a:endParaRPr sz="1800"/>
          </a:p>
        </p:txBody>
      </p:sp>
      <p:sp>
        <p:nvSpPr>
          <p:cNvPr id="250" name="Google Shape;250;p26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Enrichment Engine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7"/>
          <p:cNvSpPr txBox="1"/>
          <p:nvPr/>
        </p:nvSpPr>
        <p:spPr>
          <a:xfrm>
            <a:off x="326835" y="975785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widget_rules.ttl — Rules Without Code Changes</a:t>
            </a:r>
            <a:endParaRPr/>
          </a:p>
        </p:txBody>
      </p:sp>
      <p:sp>
        <p:nvSpPr>
          <p:cNvPr id="256" name="Google Shape;256;p27"/>
          <p:cNvSpPr/>
          <p:nvPr/>
        </p:nvSpPr>
        <p:spPr>
          <a:xfrm>
            <a:off x="365750" y="2087825"/>
            <a:ext cx="7772400" cy="4084500"/>
          </a:xfrm>
          <a:prstGeom prst="rect">
            <a:avLst/>
          </a:prstGeom>
          <a:solidFill>
            <a:srgbClr val="F0F4F8"/>
          </a:solidFill>
          <a:ln cap="flat" cmpd="sng" w="12700">
            <a:solidFill>
              <a:srgbClr val="026DB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# Physical quantity — dimensional signature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dashgui:MassRule a dashgui:WidgetRule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dashgui:widget              "unit_dropdown"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dashgui:dimensionalSignature "1 0 0 0 0 0 0"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dashgui:siUnit &lt;qudt-unit:KiloGM&gt; 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# Controlled vocabulary — predicate trigger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dashgui:SkosRule a dashgui:WidgetRule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dashgui:widget          "skos_selector"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dashgui:triggerPredicate skos:inScheme 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# Entity hierarchy — subClassOf trigger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dashgui:AgentRule a dashgui:WidgetRule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dashgui:widget          "entity_lookup"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dashgui:triggerSubClassOf foaf:Agent .</a:t>
            </a:r>
            <a:endParaRPr/>
          </a:p>
        </p:txBody>
      </p:sp>
      <p:sp>
        <p:nvSpPr>
          <p:cNvPr id="257" name="Google Shape;257;p27"/>
          <p:cNvSpPr txBox="1"/>
          <p:nvPr/>
        </p:nvSpPr>
        <p:spPr>
          <a:xfrm>
            <a:off x="8412480" y="201168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✓  No ontology names in Python</a:t>
            </a:r>
            <a:endParaRPr/>
          </a:p>
        </p:txBody>
      </p:sp>
      <p:sp>
        <p:nvSpPr>
          <p:cNvPr id="258" name="Google Shape;258;p27"/>
          <p:cNvSpPr txBox="1"/>
          <p:nvPr/>
        </p:nvSpPr>
        <p:spPr>
          <a:xfrm>
            <a:off x="8412480" y="2724912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✓  12 dimensional signatures</a:t>
            </a:r>
            <a:endParaRPr/>
          </a:p>
        </p:txBody>
      </p:sp>
      <p:sp>
        <p:nvSpPr>
          <p:cNvPr id="259" name="Google Shape;259;p27"/>
          <p:cNvSpPr txBox="1"/>
          <p:nvPr/>
        </p:nvSpPr>
        <p:spPr>
          <a:xfrm>
            <a:off x="8412480" y="3438144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✓  4 predicate-trigger rules</a:t>
            </a:r>
            <a:endParaRPr/>
          </a:p>
        </p:txBody>
      </p:sp>
      <p:sp>
        <p:nvSpPr>
          <p:cNvPr id="260" name="Google Shape;260;p27"/>
          <p:cNvSpPr txBox="1"/>
          <p:nvPr/>
        </p:nvSpPr>
        <p:spPr>
          <a:xfrm>
            <a:off x="8412480" y="4151376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✓  3 subClassOf-trigger rules</a:t>
            </a:r>
            <a:endParaRPr/>
          </a:p>
        </p:txBody>
      </p:sp>
      <p:sp>
        <p:nvSpPr>
          <p:cNvPr id="261" name="Google Shape;261;p27"/>
          <p:cNvSpPr txBox="1"/>
          <p:nvPr/>
        </p:nvSpPr>
        <p:spPr>
          <a:xfrm>
            <a:off x="8412480" y="4864608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✓  Add your rule → add TTL triples</a:t>
            </a:r>
            <a:endParaRPr/>
          </a:p>
        </p:txBody>
      </p:sp>
      <p:sp>
        <p:nvSpPr>
          <p:cNvPr id="262" name="Google Shape;262;p27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Declarative Config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8"/>
          <p:cNvSpPr txBox="1"/>
          <p:nvPr/>
        </p:nvSpPr>
        <p:spPr>
          <a:xfrm>
            <a:off x="365760" y="975785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From Bricks to SHACL Turtle</a:t>
            </a:r>
            <a:endParaRPr/>
          </a:p>
        </p:txBody>
      </p:sp>
      <p:sp>
        <p:nvSpPr>
          <p:cNvPr id="268" name="Google Shape;268;p28"/>
          <p:cNvSpPr/>
          <p:nvPr/>
        </p:nvSpPr>
        <p:spPr>
          <a:xfrm>
            <a:off x="365750" y="2266850"/>
            <a:ext cx="4886400" cy="3585300"/>
          </a:xfrm>
          <a:prstGeom prst="rect">
            <a:avLst/>
          </a:prstGeom>
          <a:solidFill>
            <a:srgbClr val="F0F4F8"/>
          </a:solidFill>
          <a:ln cap="flat" cmpd="sng" w="12700">
            <a:solidFill>
              <a:srgbClr val="026DB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# Brick (JSON)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"name": "Mass",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"object_type": "NodeShape",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"target_class": "https://schema.org/QuantitativeValue",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"leaf_properties": [{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"path": "http://qudt.org/schema/qudt/value",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"datatype": "xsd:decimal",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"min_count": 1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},{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"path": "http://qudt.org/schema/qudt/hasUnit",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"sh_class": "http://qudt.org/vocab/quantitykind/Mass",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"min_count": 1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}]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24A7A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69" name="Google Shape;269;p28"/>
          <p:cNvSpPr/>
          <p:nvPr/>
        </p:nvSpPr>
        <p:spPr>
          <a:xfrm>
            <a:off x="7987500" y="2266850"/>
            <a:ext cx="3883200" cy="3585300"/>
          </a:xfrm>
          <a:prstGeom prst="rect">
            <a:avLst/>
          </a:prstGeom>
          <a:solidFill>
            <a:srgbClr val="F0F4F8"/>
          </a:solidFill>
          <a:ln cap="flat" cmpd="sng" w="12700">
            <a:solidFill>
              <a:srgbClr val="026DB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# SHACL (Turtle)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schema:Mass a sh:NodeShape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sh:targetClass ex:Mass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sh:property [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sh:path ex:value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sh:datatype xsd:decimal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sh:class qudt:Mass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dash:editor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dash:InstancesSelectEditor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sh:in (unit:KG unit:G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unit:LB unit:OZ) 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] .</a:t>
            </a:r>
            <a:endParaRPr/>
          </a:p>
        </p:txBody>
      </p:sp>
      <p:sp>
        <p:nvSpPr>
          <p:cNvPr id="270" name="Google Shape;270;p28"/>
          <p:cNvSpPr txBox="1"/>
          <p:nvPr/>
        </p:nvSpPr>
        <p:spPr>
          <a:xfrm>
            <a:off x="365760" y="6035040"/>
            <a:ext cx="1143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EnrichmentEngine runs at export time — dash:editor and sh:in resolved from sh:class via ontology lookup.</a:t>
            </a:r>
            <a:endParaRPr sz="1800"/>
          </a:p>
        </p:txBody>
      </p:sp>
      <p:sp>
        <p:nvSpPr>
          <p:cNvPr id="271" name="Google Shape;271;p28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SHACL Export</a:t>
            </a:r>
            <a:endParaRPr/>
          </a:p>
        </p:txBody>
      </p:sp>
      <p:sp>
        <p:nvSpPr>
          <p:cNvPr id="272" name="Google Shape;272;p28"/>
          <p:cNvSpPr/>
          <p:nvPr/>
        </p:nvSpPr>
        <p:spPr>
          <a:xfrm>
            <a:off x="5401350" y="3705350"/>
            <a:ext cx="2436900" cy="708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800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export_schema()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9"/>
          <p:cNvSpPr txBox="1"/>
          <p:nvPr/>
        </p:nvSpPr>
        <p:spPr>
          <a:xfrm>
            <a:off x="326835" y="952435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Widget Types → DASH Editors</a:t>
            </a:r>
            <a:endParaRPr/>
          </a:p>
        </p:txBody>
      </p:sp>
      <p:sp>
        <p:nvSpPr>
          <p:cNvPr id="278" name="Google Shape;278;p29"/>
          <p:cNvSpPr txBox="1"/>
          <p:nvPr/>
        </p:nvSpPr>
        <p:spPr>
          <a:xfrm>
            <a:off x="365760" y="1737360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widget type</a:t>
            </a:r>
            <a:endParaRPr sz="1800"/>
          </a:p>
        </p:txBody>
      </p:sp>
      <p:sp>
        <p:nvSpPr>
          <p:cNvPr id="279" name="Google Shape;279;p29"/>
          <p:cNvSpPr txBox="1"/>
          <p:nvPr/>
        </p:nvSpPr>
        <p:spPr>
          <a:xfrm>
            <a:off x="3931920" y="1737360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dash:editor</a:t>
            </a:r>
            <a:endParaRPr sz="1800"/>
          </a:p>
        </p:txBody>
      </p:sp>
      <p:sp>
        <p:nvSpPr>
          <p:cNvPr id="280" name="Google Shape;280;p29"/>
          <p:cNvSpPr txBox="1"/>
          <p:nvPr/>
        </p:nvSpPr>
        <p:spPr>
          <a:xfrm>
            <a:off x="8229600" y="17373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dash:viewer</a:t>
            </a:r>
            <a:endParaRPr sz="1800"/>
          </a:p>
        </p:txBody>
      </p:sp>
      <p:sp>
        <p:nvSpPr>
          <p:cNvPr id="281" name="Google Shape;281;p29"/>
          <p:cNvSpPr txBox="1"/>
          <p:nvPr/>
        </p:nvSpPr>
        <p:spPr>
          <a:xfrm>
            <a:off x="365760" y="2194560"/>
            <a:ext cx="33832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text</a:t>
            </a:r>
            <a:endParaRPr sz="1800"/>
          </a:p>
        </p:txBody>
      </p:sp>
      <p:sp>
        <p:nvSpPr>
          <p:cNvPr id="282" name="Google Shape;282;p29"/>
          <p:cNvSpPr txBox="1"/>
          <p:nvPr/>
        </p:nvSpPr>
        <p:spPr>
          <a:xfrm>
            <a:off x="3931920" y="2194560"/>
            <a:ext cx="4114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dash:TextFieldEditor</a:t>
            </a:r>
            <a:endParaRPr sz="1800"/>
          </a:p>
        </p:txBody>
      </p:sp>
      <p:sp>
        <p:nvSpPr>
          <p:cNvPr id="283" name="Google Shape;283;p29"/>
          <p:cNvSpPr txBox="1"/>
          <p:nvPr/>
        </p:nvSpPr>
        <p:spPr>
          <a:xfrm>
            <a:off x="8229600" y="2194560"/>
            <a:ext cx="3657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dash:LabelViewer</a:t>
            </a:r>
            <a:endParaRPr sz="1800"/>
          </a:p>
        </p:txBody>
      </p:sp>
      <p:sp>
        <p:nvSpPr>
          <p:cNvPr id="284" name="Google Shape;284;p29"/>
          <p:cNvSpPr txBox="1"/>
          <p:nvPr/>
        </p:nvSpPr>
        <p:spPr>
          <a:xfrm>
            <a:off x="365760" y="2743200"/>
            <a:ext cx="33832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boolean_toggle</a:t>
            </a:r>
            <a:endParaRPr sz="1800"/>
          </a:p>
        </p:txBody>
      </p:sp>
      <p:sp>
        <p:nvSpPr>
          <p:cNvPr id="285" name="Google Shape;285;p29"/>
          <p:cNvSpPr txBox="1"/>
          <p:nvPr/>
        </p:nvSpPr>
        <p:spPr>
          <a:xfrm>
            <a:off x="3931920" y="2743200"/>
            <a:ext cx="4114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dash:BooleanSelectEditor</a:t>
            </a:r>
            <a:endParaRPr sz="1800"/>
          </a:p>
        </p:txBody>
      </p:sp>
      <p:sp>
        <p:nvSpPr>
          <p:cNvPr id="286" name="Google Shape;286;p29"/>
          <p:cNvSpPr txBox="1"/>
          <p:nvPr/>
        </p:nvSpPr>
        <p:spPr>
          <a:xfrm>
            <a:off x="8229600" y="2743200"/>
            <a:ext cx="3657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dash:BooleanViewer</a:t>
            </a:r>
            <a:endParaRPr sz="1800"/>
          </a:p>
        </p:txBody>
      </p:sp>
      <p:sp>
        <p:nvSpPr>
          <p:cNvPr id="287" name="Google Shape;287;p29"/>
          <p:cNvSpPr txBox="1"/>
          <p:nvPr/>
        </p:nvSpPr>
        <p:spPr>
          <a:xfrm>
            <a:off x="365760" y="3291840"/>
            <a:ext cx="33832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date_picker</a:t>
            </a:r>
            <a:endParaRPr sz="1800"/>
          </a:p>
        </p:txBody>
      </p:sp>
      <p:sp>
        <p:nvSpPr>
          <p:cNvPr id="288" name="Google Shape;288;p29"/>
          <p:cNvSpPr txBox="1"/>
          <p:nvPr/>
        </p:nvSpPr>
        <p:spPr>
          <a:xfrm>
            <a:off x="3931920" y="3291840"/>
            <a:ext cx="4114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dash:DatePickerEditor</a:t>
            </a:r>
            <a:endParaRPr sz="1800"/>
          </a:p>
        </p:txBody>
      </p:sp>
      <p:sp>
        <p:nvSpPr>
          <p:cNvPr id="289" name="Google Shape;289;p29"/>
          <p:cNvSpPr txBox="1"/>
          <p:nvPr/>
        </p:nvSpPr>
        <p:spPr>
          <a:xfrm>
            <a:off x="8229600" y="3291840"/>
            <a:ext cx="3657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dash:LabelViewer</a:t>
            </a:r>
            <a:endParaRPr sz="1800"/>
          </a:p>
        </p:txBody>
      </p:sp>
      <p:sp>
        <p:nvSpPr>
          <p:cNvPr id="290" name="Google Shape;290;p29"/>
          <p:cNvSpPr txBox="1"/>
          <p:nvPr/>
        </p:nvSpPr>
        <p:spPr>
          <a:xfrm>
            <a:off x="365760" y="3840480"/>
            <a:ext cx="33832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decimal_input</a:t>
            </a:r>
            <a:endParaRPr sz="1800"/>
          </a:p>
        </p:txBody>
      </p:sp>
      <p:sp>
        <p:nvSpPr>
          <p:cNvPr id="291" name="Google Shape;291;p29"/>
          <p:cNvSpPr txBox="1"/>
          <p:nvPr/>
        </p:nvSpPr>
        <p:spPr>
          <a:xfrm>
            <a:off x="3931920" y="3840480"/>
            <a:ext cx="4114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dash:DecimalFieldEditor</a:t>
            </a:r>
            <a:endParaRPr sz="1800"/>
          </a:p>
        </p:txBody>
      </p:sp>
      <p:sp>
        <p:nvSpPr>
          <p:cNvPr id="292" name="Google Shape;292;p29"/>
          <p:cNvSpPr txBox="1"/>
          <p:nvPr/>
        </p:nvSpPr>
        <p:spPr>
          <a:xfrm>
            <a:off x="8229600" y="3840480"/>
            <a:ext cx="3657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dash:LabelViewer</a:t>
            </a:r>
            <a:endParaRPr sz="1800"/>
          </a:p>
        </p:txBody>
      </p:sp>
      <p:sp>
        <p:nvSpPr>
          <p:cNvPr id="293" name="Google Shape;293;p29"/>
          <p:cNvSpPr txBox="1"/>
          <p:nvPr/>
        </p:nvSpPr>
        <p:spPr>
          <a:xfrm>
            <a:off x="365760" y="4389120"/>
            <a:ext cx="33832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unit_dropdown</a:t>
            </a:r>
            <a:endParaRPr sz="1800"/>
          </a:p>
        </p:txBody>
      </p:sp>
      <p:sp>
        <p:nvSpPr>
          <p:cNvPr id="294" name="Google Shape;294;p29"/>
          <p:cNvSpPr txBox="1"/>
          <p:nvPr/>
        </p:nvSpPr>
        <p:spPr>
          <a:xfrm>
            <a:off x="3931920" y="4389120"/>
            <a:ext cx="4114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dash:InstancesSelectEditor</a:t>
            </a:r>
            <a:endParaRPr sz="1800"/>
          </a:p>
        </p:txBody>
      </p:sp>
      <p:sp>
        <p:nvSpPr>
          <p:cNvPr id="295" name="Google Shape;295;p29"/>
          <p:cNvSpPr txBox="1"/>
          <p:nvPr/>
        </p:nvSpPr>
        <p:spPr>
          <a:xfrm>
            <a:off x="8229600" y="4389120"/>
            <a:ext cx="3657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dash:LabelViewer</a:t>
            </a:r>
            <a:endParaRPr sz="1800"/>
          </a:p>
        </p:txBody>
      </p:sp>
      <p:sp>
        <p:nvSpPr>
          <p:cNvPr id="296" name="Google Shape;296;p29"/>
          <p:cNvSpPr txBox="1"/>
          <p:nvPr/>
        </p:nvSpPr>
        <p:spPr>
          <a:xfrm>
            <a:off x="365760" y="4937760"/>
            <a:ext cx="33832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skos_selector</a:t>
            </a:r>
            <a:endParaRPr sz="1800"/>
          </a:p>
        </p:txBody>
      </p:sp>
      <p:sp>
        <p:nvSpPr>
          <p:cNvPr id="297" name="Google Shape;297;p29"/>
          <p:cNvSpPr txBox="1"/>
          <p:nvPr/>
        </p:nvSpPr>
        <p:spPr>
          <a:xfrm>
            <a:off x="3931920" y="4937760"/>
            <a:ext cx="4114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dash:InstancesSelectEditor</a:t>
            </a:r>
            <a:endParaRPr sz="1800"/>
          </a:p>
        </p:txBody>
      </p:sp>
      <p:sp>
        <p:nvSpPr>
          <p:cNvPr id="298" name="Google Shape;298;p29"/>
          <p:cNvSpPr txBox="1"/>
          <p:nvPr/>
        </p:nvSpPr>
        <p:spPr>
          <a:xfrm>
            <a:off x="8229600" y="4937760"/>
            <a:ext cx="3657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dash:LabelViewer</a:t>
            </a:r>
            <a:endParaRPr sz="1800"/>
          </a:p>
        </p:txBody>
      </p:sp>
      <p:sp>
        <p:nvSpPr>
          <p:cNvPr id="299" name="Google Shape;299;p29"/>
          <p:cNvSpPr txBox="1"/>
          <p:nvPr/>
        </p:nvSpPr>
        <p:spPr>
          <a:xfrm>
            <a:off x="365760" y="5486400"/>
            <a:ext cx="33832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entity_lookup</a:t>
            </a:r>
            <a:endParaRPr sz="1800"/>
          </a:p>
        </p:txBody>
      </p:sp>
      <p:sp>
        <p:nvSpPr>
          <p:cNvPr id="300" name="Google Shape;300;p29"/>
          <p:cNvSpPr txBox="1"/>
          <p:nvPr/>
        </p:nvSpPr>
        <p:spPr>
          <a:xfrm>
            <a:off x="3931920" y="5486400"/>
            <a:ext cx="4114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dash:AutoCompleteEditor</a:t>
            </a:r>
            <a:endParaRPr sz="1800"/>
          </a:p>
        </p:txBody>
      </p:sp>
      <p:sp>
        <p:nvSpPr>
          <p:cNvPr id="301" name="Google Shape;301;p29"/>
          <p:cNvSpPr txBox="1"/>
          <p:nvPr/>
        </p:nvSpPr>
        <p:spPr>
          <a:xfrm>
            <a:off x="8229600" y="5486400"/>
            <a:ext cx="3657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dash:LabelViewer</a:t>
            </a:r>
            <a:endParaRPr sz="1800"/>
          </a:p>
        </p:txBody>
      </p:sp>
      <p:sp>
        <p:nvSpPr>
          <p:cNvPr id="302" name="Google Shape;302;p29"/>
          <p:cNvSpPr txBox="1"/>
          <p:nvPr/>
        </p:nvSpPr>
        <p:spPr>
          <a:xfrm>
            <a:off x="365760" y="5989320"/>
            <a:ext cx="1143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DASH (Data Shapes) provides the form widgets — SHACL provides the validation constraints.</a:t>
            </a:r>
            <a:endParaRPr sz="1800"/>
          </a:p>
        </p:txBody>
      </p:sp>
      <p:sp>
        <p:nvSpPr>
          <p:cNvPr id="303" name="Google Shape;303;p29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SHACL Export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0"/>
          <p:cNvSpPr txBox="1"/>
          <p:nvPr/>
        </p:nvSpPr>
        <p:spPr>
          <a:xfrm>
            <a:off x="334610" y="952435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Web Frontend: React + Babel  (single file)</a:t>
            </a:r>
            <a:endParaRPr/>
          </a:p>
        </p:txBody>
      </p:sp>
      <p:sp>
        <p:nvSpPr>
          <p:cNvPr id="309" name="Google Shape;309;p30"/>
          <p:cNvSpPr/>
          <p:nvPr/>
        </p:nvSpPr>
        <p:spPr>
          <a:xfrm>
            <a:off x="365750" y="2033326"/>
            <a:ext cx="7132200" cy="3818700"/>
          </a:xfrm>
          <a:prstGeom prst="rect">
            <a:avLst/>
          </a:prstGeom>
          <a:solidFill>
            <a:srgbClr val="F0F4F8"/>
          </a:solidFill>
          <a:ln cap="flat" cmpd="sng" w="12700">
            <a:solidFill>
              <a:srgbClr val="026DB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index.html  (inline JSX, Babel standalone — no build step)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└── App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├── SessionManager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├── BrickList  (sidebar)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└── BrickEditor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├── BasicFields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├── LeafPropertiesList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└── PropertyEditorModal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├── DatatypeSelector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├── OntologyBrowser  (all 17 ontologies)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└── EnrichmentDisplay  (live widget preview)</a:t>
            </a:r>
            <a:endParaRPr/>
          </a:p>
        </p:txBody>
      </p:sp>
      <p:sp>
        <p:nvSpPr>
          <p:cNvPr id="310" name="Google Shape;310;p30"/>
          <p:cNvSpPr txBox="1"/>
          <p:nvPr/>
        </p:nvSpPr>
        <p:spPr>
          <a:xfrm>
            <a:off x="7733475" y="2296753"/>
            <a:ext cx="1645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REST API</a:t>
            </a:r>
            <a:endParaRPr sz="1800"/>
          </a:p>
        </p:txBody>
      </p:sp>
      <p:sp>
        <p:nvSpPr>
          <p:cNvPr id="311" name="Google Shape;311;p30"/>
          <p:cNvSpPr txBox="1"/>
          <p:nvPr/>
        </p:nvSpPr>
        <p:spPr>
          <a:xfrm>
            <a:off x="9516555" y="2296753"/>
            <a:ext cx="2469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Flask backend, per-session BrickCore</a:t>
            </a:r>
            <a:endParaRPr sz="1800"/>
          </a:p>
        </p:txBody>
      </p:sp>
      <p:sp>
        <p:nvSpPr>
          <p:cNvPr id="312" name="Google Shape;312;p30"/>
          <p:cNvSpPr txBox="1"/>
          <p:nvPr/>
        </p:nvSpPr>
        <p:spPr>
          <a:xfrm>
            <a:off x="7733475" y="3009985"/>
            <a:ext cx="1645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Enrichment</a:t>
            </a:r>
            <a:endParaRPr sz="1800"/>
          </a:p>
        </p:txBody>
      </p:sp>
      <p:sp>
        <p:nvSpPr>
          <p:cNvPr id="313" name="Google Shape;313;p30"/>
          <p:cNvSpPr txBox="1"/>
          <p:nvPr/>
        </p:nvSpPr>
        <p:spPr>
          <a:xfrm>
            <a:off x="9516555" y="3009985"/>
            <a:ext cx="2469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useEffect hooks call /api/enrichment</a:t>
            </a:r>
            <a:endParaRPr sz="1800"/>
          </a:p>
        </p:txBody>
      </p:sp>
      <p:sp>
        <p:nvSpPr>
          <p:cNvPr id="314" name="Google Shape;314;p30"/>
          <p:cNvSpPr txBox="1"/>
          <p:nvPr/>
        </p:nvSpPr>
        <p:spPr>
          <a:xfrm>
            <a:off x="7733475" y="3723217"/>
            <a:ext cx="1645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Ontology</a:t>
            </a:r>
            <a:endParaRPr sz="1800"/>
          </a:p>
        </p:txBody>
      </p:sp>
      <p:sp>
        <p:nvSpPr>
          <p:cNvPr id="315" name="Google Shape;315;p30"/>
          <p:cNvSpPr txBox="1"/>
          <p:nvPr/>
        </p:nvSpPr>
        <p:spPr>
          <a:xfrm>
            <a:off x="9516555" y="3723217"/>
            <a:ext cx="2469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Browser opens on 'All Ontologies' merged view</a:t>
            </a:r>
            <a:endParaRPr sz="1800"/>
          </a:p>
        </p:txBody>
      </p:sp>
      <p:sp>
        <p:nvSpPr>
          <p:cNvPr id="316" name="Google Shape;316;p30"/>
          <p:cNvSpPr txBox="1"/>
          <p:nvPr/>
        </p:nvSpPr>
        <p:spPr>
          <a:xfrm>
            <a:off x="7733475" y="4436449"/>
            <a:ext cx="1645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No build</a:t>
            </a:r>
            <a:endParaRPr sz="1800"/>
          </a:p>
        </p:txBody>
      </p:sp>
      <p:sp>
        <p:nvSpPr>
          <p:cNvPr id="317" name="Google Shape;317;p30"/>
          <p:cNvSpPr txBox="1"/>
          <p:nvPr/>
        </p:nvSpPr>
        <p:spPr>
          <a:xfrm>
            <a:off x="9516555" y="4436449"/>
            <a:ext cx="2469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Babel transpiles in-browser — rapid iteration</a:t>
            </a:r>
            <a:endParaRPr sz="1800"/>
          </a:p>
        </p:txBody>
      </p:sp>
      <p:sp>
        <p:nvSpPr>
          <p:cNvPr id="318" name="Google Shape;318;p30"/>
          <p:cNvSpPr txBox="1"/>
          <p:nvPr/>
        </p:nvSpPr>
        <p:spPr>
          <a:xfrm>
            <a:off x="7733475" y="5149681"/>
            <a:ext cx="1645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Future</a:t>
            </a:r>
            <a:endParaRPr sz="1800"/>
          </a:p>
        </p:txBody>
      </p:sp>
      <p:sp>
        <p:nvSpPr>
          <p:cNvPr id="319" name="Google Shape;319;p30"/>
          <p:cNvSpPr txBox="1"/>
          <p:nvPr/>
        </p:nvSpPr>
        <p:spPr>
          <a:xfrm>
            <a:off x="9516555" y="5149681"/>
            <a:ext cx="2469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Migrate to Vite + React for production DX</a:t>
            </a:r>
            <a:endParaRPr sz="1800"/>
          </a:p>
        </p:txBody>
      </p:sp>
      <p:sp>
        <p:nvSpPr>
          <p:cNvPr id="320" name="Google Shape;320;p30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Frontend: Web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1"/>
          <p:cNvSpPr txBox="1"/>
          <p:nvPr/>
        </p:nvSpPr>
        <p:spPr>
          <a:xfrm>
            <a:off x="365760" y="969260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Qt Frontend: PyQt6 + UI Files</a:t>
            </a:r>
            <a:endParaRPr/>
          </a:p>
        </p:txBody>
      </p:sp>
      <p:sp>
        <p:nvSpPr>
          <p:cNvPr id="326" name="Google Shape;326;p31"/>
          <p:cNvSpPr/>
          <p:nvPr/>
        </p:nvSpPr>
        <p:spPr>
          <a:xfrm>
            <a:off x="365750" y="1737350"/>
            <a:ext cx="6236100" cy="4114800"/>
          </a:xfrm>
          <a:prstGeom prst="rect">
            <a:avLst/>
          </a:prstGeom>
          <a:solidFill>
            <a:srgbClr val="F0F4F8"/>
          </a:solidFill>
          <a:ln cap="flat" cmpd="sng" w="12700">
            <a:solidFill>
              <a:srgbClr val="026DB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brick_editor.py  (main window)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├── loadUi('property_editor.ui')   ← Qt Designer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├── Constraint group boxes (dynamic show/hide)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├── Datatype combo → _update_group_visibility()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└── Class browser button → SimpleOntologyBrowser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├── gui_components.py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├── PropertyEditorDialog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├── ConstraintEditorDialog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│   └── SimpleOntologyBrowser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24A7A"/>
                </a:solidFill>
                <a:latin typeface="Courier New"/>
                <a:ea typeface="Courier New"/>
                <a:cs typeface="Courier New"/>
                <a:sym typeface="Courier New"/>
              </a:rPr>
              <a:t>└── brick_core_simple.py  ← same as web backend</a:t>
            </a:r>
            <a:endParaRPr/>
          </a:p>
        </p:txBody>
      </p:sp>
      <p:sp>
        <p:nvSpPr>
          <p:cNvPr id="327" name="Google Shape;327;p31"/>
          <p:cNvSpPr txBox="1"/>
          <p:nvPr/>
        </p:nvSpPr>
        <p:spPr>
          <a:xfrm>
            <a:off x="6959949" y="1737350"/>
            <a:ext cx="2144700" cy="67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UI files</a:t>
            </a:r>
            <a:endParaRPr sz="1800"/>
          </a:p>
        </p:txBody>
      </p:sp>
      <p:sp>
        <p:nvSpPr>
          <p:cNvPr id="328" name="Google Shape;328;p31"/>
          <p:cNvSpPr txBox="1"/>
          <p:nvPr/>
        </p:nvSpPr>
        <p:spPr>
          <a:xfrm>
            <a:off x="8205450" y="1737350"/>
            <a:ext cx="3818700" cy="67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.ui XML — layout changes without recompile</a:t>
            </a:r>
            <a:endParaRPr sz="1800"/>
          </a:p>
        </p:txBody>
      </p:sp>
      <p:sp>
        <p:nvSpPr>
          <p:cNvPr id="329" name="Google Shape;329;p31"/>
          <p:cNvSpPr txBox="1"/>
          <p:nvPr/>
        </p:nvSpPr>
        <p:spPr>
          <a:xfrm>
            <a:off x="6959949" y="2885025"/>
            <a:ext cx="2144700" cy="67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loadUi()</a:t>
            </a:r>
            <a:endParaRPr sz="1800"/>
          </a:p>
        </p:txBody>
      </p:sp>
      <p:sp>
        <p:nvSpPr>
          <p:cNvPr id="330" name="Google Shape;330;p31"/>
          <p:cNvSpPr txBox="1"/>
          <p:nvPr/>
        </p:nvSpPr>
        <p:spPr>
          <a:xfrm>
            <a:off x="8205450" y="2885025"/>
            <a:ext cx="3818700" cy="67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Dynamic load at runtime — no pyuic step</a:t>
            </a:r>
            <a:endParaRPr sz="1800"/>
          </a:p>
        </p:txBody>
      </p:sp>
      <p:sp>
        <p:nvSpPr>
          <p:cNvPr id="331" name="Google Shape;331;p31"/>
          <p:cNvSpPr txBox="1"/>
          <p:nvPr/>
        </p:nvSpPr>
        <p:spPr>
          <a:xfrm>
            <a:off x="6959949" y="4032700"/>
            <a:ext cx="2144700" cy="67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Same core</a:t>
            </a:r>
            <a:endParaRPr sz="1800"/>
          </a:p>
        </p:txBody>
      </p:sp>
      <p:sp>
        <p:nvSpPr>
          <p:cNvPr id="332" name="Google Shape;332;p31"/>
          <p:cNvSpPr txBox="1"/>
          <p:nvPr/>
        </p:nvSpPr>
        <p:spPr>
          <a:xfrm>
            <a:off x="8205450" y="4032700"/>
            <a:ext cx="3818700" cy="67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BrickCore shared with Flask web API</a:t>
            </a:r>
            <a:endParaRPr sz="1800"/>
          </a:p>
        </p:txBody>
      </p:sp>
      <p:sp>
        <p:nvSpPr>
          <p:cNvPr id="333" name="Google Shape;333;p31"/>
          <p:cNvSpPr txBox="1"/>
          <p:nvPr/>
        </p:nvSpPr>
        <p:spPr>
          <a:xfrm>
            <a:off x="6959949" y="5180375"/>
            <a:ext cx="2144700" cy="67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Parity</a:t>
            </a:r>
            <a:endParaRPr sz="1800"/>
          </a:p>
        </p:txBody>
      </p:sp>
      <p:sp>
        <p:nvSpPr>
          <p:cNvPr id="334" name="Google Shape;334;p31"/>
          <p:cNvSpPr txBox="1"/>
          <p:nvPr/>
        </p:nvSpPr>
        <p:spPr>
          <a:xfrm>
            <a:off x="8205450" y="5180375"/>
            <a:ext cx="3818700" cy="67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Same constraint fields as web modal</a:t>
            </a:r>
            <a:endParaRPr sz="1800"/>
          </a:p>
        </p:txBody>
      </p:sp>
      <p:sp>
        <p:nvSpPr>
          <p:cNvPr id="335" name="Google Shape;335;p31"/>
          <p:cNvSpPr txBox="1"/>
          <p:nvPr/>
        </p:nvSpPr>
        <p:spPr>
          <a:xfrm>
            <a:off x="365760" y="5989320"/>
            <a:ext cx="1143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Key Point: Same BrickCore, different UI technology — no logic duplication.</a:t>
            </a:r>
            <a:endParaRPr sz="1800"/>
          </a:p>
        </p:txBody>
      </p:sp>
      <p:sp>
        <p:nvSpPr>
          <p:cNvPr id="336" name="Google Shape;336;p31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Frontend: Qt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2"/>
          <p:cNvSpPr txBox="1"/>
          <p:nvPr/>
        </p:nvSpPr>
        <p:spPr>
          <a:xfrm>
            <a:off x="365760" y="975810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to Extend the System</a:t>
            </a:r>
            <a:endParaRPr/>
          </a:p>
        </p:txBody>
      </p:sp>
      <p:sp>
        <p:nvSpPr>
          <p:cNvPr id="342" name="Google Shape;342;p32"/>
          <p:cNvSpPr txBox="1"/>
          <p:nvPr/>
        </p:nvSpPr>
        <p:spPr>
          <a:xfrm>
            <a:off x="365760" y="1885285"/>
            <a:ext cx="301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What</a:t>
            </a:r>
            <a:endParaRPr sz="1800"/>
          </a:p>
        </p:txBody>
      </p:sp>
      <p:sp>
        <p:nvSpPr>
          <p:cNvPr id="343" name="Google Shape;343;p32"/>
          <p:cNvSpPr txBox="1"/>
          <p:nvPr/>
        </p:nvSpPr>
        <p:spPr>
          <a:xfrm>
            <a:off x="3566160" y="1885285"/>
            <a:ext cx="3840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How</a:t>
            </a:r>
            <a:endParaRPr sz="1800"/>
          </a:p>
        </p:txBody>
      </p:sp>
      <p:sp>
        <p:nvSpPr>
          <p:cNvPr id="344" name="Google Shape;344;p32"/>
          <p:cNvSpPr txBox="1"/>
          <p:nvPr/>
        </p:nvSpPr>
        <p:spPr>
          <a:xfrm>
            <a:off x="7589520" y="1885285"/>
            <a:ext cx="4389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Result</a:t>
            </a:r>
            <a:endParaRPr sz="1800"/>
          </a:p>
        </p:txBody>
      </p:sp>
      <p:sp>
        <p:nvSpPr>
          <p:cNvPr id="345" name="Google Shape;345;p32"/>
          <p:cNvSpPr txBox="1"/>
          <p:nvPr/>
        </p:nvSpPr>
        <p:spPr>
          <a:xfrm>
            <a:off x="365760" y="2342485"/>
            <a:ext cx="3017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Add ontology</a:t>
            </a:r>
            <a:endParaRPr sz="1800"/>
          </a:p>
        </p:txBody>
      </p:sp>
      <p:sp>
        <p:nvSpPr>
          <p:cNvPr id="346" name="Google Shape;346;p32"/>
          <p:cNvSpPr txBox="1"/>
          <p:nvPr/>
        </p:nvSpPr>
        <p:spPr>
          <a:xfrm>
            <a:off x="3566160" y="2342485"/>
            <a:ext cx="3840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Drop .ttl in ontologies/cache/</a:t>
            </a:r>
            <a:endParaRPr sz="1800"/>
          </a:p>
        </p:txBody>
      </p:sp>
      <p:sp>
        <p:nvSpPr>
          <p:cNvPr id="347" name="Google Shape;347;p32"/>
          <p:cNvSpPr txBox="1"/>
          <p:nvPr/>
        </p:nvSpPr>
        <p:spPr>
          <a:xfrm>
            <a:off x="7589520" y="2342485"/>
            <a:ext cx="438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New classes &amp; prefixes available</a:t>
            </a:r>
            <a:endParaRPr sz="1800"/>
          </a:p>
        </p:txBody>
      </p:sp>
      <p:sp>
        <p:nvSpPr>
          <p:cNvPr id="348" name="Google Shape;348;p32"/>
          <p:cNvSpPr txBox="1"/>
          <p:nvPr/>
        </p:nvSpPr>
        <p:spPr>
          <a:xfrm>
            <a:off x="365760" y="3000853"/>
            <a:ext cx="3017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Add widget rule</a:t>
            </a:r>
            <a:endParaRPr sz="1800"/>
          </a:p>
        </p:txBody>
      </p:sp>
      <p:sp>
        <p:nvSpPr>
          <p:cNvPr id="349" name="Google Shape;349;p32"/>
          <p:cNvSpPr txBox="1"/>
          <p:nvPr/>
        </p:nvSpPr>
        <p:spPr>
          <a:xfrm>
            <a:off x="3566160" y="3000853"/>
            <a:ext cx="3840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Add triples to widget_rules.ttl</a:t>
            </a:r>
            <a:endParaRPr sz="1800"/>
          </a:p>
        </p:txBody>
      </p:sp>
      <p:sp>
        <p:nvSpPr>
          <p:cNvPr id="350" name="Google Shape;350;p32"/>
          <p:cNvSpPr txBox="1"/>
          <p:nvPr/>
        </p:nvSpPr>
        <p:spPr>
          <a:xfrm>
            <a:off x="7589520" y="3000853"/>
            <a:ext cx="438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New trigger → new widget, no Python</a:t>
            </a:r>
            <a:endParaRPr sz="1800"/>
          </a:p>
        </p:txBody>
      </p:sp>
      <p:sp>
        <p:nvSpPr>
          <p:cNvPr id="351" name="Google Shape;351;p32"/>
          <p:cNvSpPr txBox="1"/>
          <p:nvPr/>
        </p:nvSpPr>
        <p:spPr>
          <a:xfrm>
            <a:off x="365760" y="3659221"/>
            <a:ext cx="3017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Add datatype</a:t>
            </a:r>
            <a:endParaRPr sz="1800"/>
          </a:p>
        </p:txBody>
      </p:sp>
      <p:sp>
        <p:nvSpPr>
          <p:cNvPr id="352" name="Google Shape;352;p32"/>
          <p:cNvSpPr txBox="1"/>
          <p:nvPr/>
        </p:nvSpPr>
        <p:spPr>
          <a:xfrm>
            <a:off x="3566160" y="3659221"/>
            <a:ext cx="3840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Add rule to widget_rules.ttl</a:t>
            </a:r>
            <a:endParaRPr sz="1800"/>
          </a:p>
        </p:txBody>
      </p:sp>
      <p:sp>
        <p:nvSpPr>
          <p:cNvPr id="353" name="Google Shape;353;p32"/>
          <p:cNvSpPr txBox="1"/>
          <p:nvPr/>
        </p:nvSpPr>
        <p:spPr>
          <a:xfrm>
            <a:off x="7589520" y="3659221"/>
            <a:ext cx="438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New datatype → new widget type</a:t>
            </a:r>
            <a:endParaRPr sz="1800"/>
          </a:p>
        </p:txBody>
      </p:sp>
      <p:sp>
        <p:nvSpPr>
          <p:cNvPr id="354" name="Google Shape;354;p32"/>
          <p:cNvSpPr txBox="1"/>
          <p:nvPr/>
        </p:nvSpPr>
        <p:spPr>
          <a:xfrm>
            <a:off x="365760" y="4317589"/>
            <a:ext cx="3017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Custom validator</a:t>
            </a:r>
            <a:endParaRPr sz="1800"/>
          </a:p>
        </p:txBody>
      </p:sp>
      <p:sp>
        <p:nvSpPr>
          <p:cNvPr id="355" name="Google Shape;355;p32"/>
          <p:cNvSpPr txBox="1"/>
          <p:nvPr/>
        </p:nvSpPr>
        <p:spPr>
          <a:xfrm>
            <a:off x="3566160" y="4317589"/>
            <a:ext cx="3840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Subclass BrickCore</a:t>
            </a:r>
            <a:endParaRPr sz="1800"/>
          </a:p>
        </p:txBody>
      </p:sp>
      <p:sp>
        <p:nvSpPr>
          <p:cNvPr id="356" name="Google Shape;356;p32"/>
          <p:cNvSpPr txBox="1"/>
          <p:nvPr/>
        </p:nvSpPr>
        <p:spPr>
          <a:xfrm>
            <a:off x="7589520" y="4317589"/>
            <a:ext cx="438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Hook into save/load pipeline</a:t>
            </a:r>
            <a:endParaRPr sz="1800"/>
          </a:p>
        </p:txBody>
      </p:sp>
      <p:sp>
        <p:nvSpPr>
          <p:cNvPr id="357" name="Google Shape;357;p32"/>
          <p:cNvSpPr txBox="1"/>
          <p:nvPr/>
        </p:nvSpPr>
        <p:spPr>
          <a:xfrm>
            <a:off x="365760" y="4975957"/>
            <a:ext cx="3017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Custom exporter</a:t>
            </a:r>
            <a:endParaRPr sz="1800"/>
          </a:p>
        </p:txBody>
      </p:sp>
      <p:sp>
        <p:nvSpPr>
          <p:cNvPr id="358" name="Google Shape;358;p32"/>
          <p:cNvSpPr txBox="1"/>
          <p:nvPr/>
        </p:nvSpPr>
        <p:spPr>
          <a:xfrm>
            <a:off x="3566160" y="4975957"/>
            <a:ext cx="3840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Subclass SHACLExporter</a:t>
            </a:r>
            <a:endParaRPr sz="1800"/>
          </a:p>
        </p:txBody>
      </p:sp>
      <p:sp>
        <p:nvSpPr>
          <p:cNvPr id="359" name="Google Shape;359;p32"/>
          <p:cNvSpPr txBox="1"/>
          <p:nvPr/>
        </p:nvSpPr>
        <p:spPr>
          <a:xfrm>
            <a:off x="7589520" y="4975957"/>
            <a:ext cx="438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Custom Turtle templates or formats</a:t>
            </a:r>
            <a:endParaRPr sz="1800"/>
          </a:p>
        </p:txBody>
      </p:sp>
      <p:sp>
        <p:nvSpPr>
          <p:cNvPr id="360" name="Google Shape;360;p32"/>
          <p:cNvSpPr txBox="1"/>
          <p:nvPr/>
        </p:nvSpPr>
        <p:spPr>
          <a:xfrm>
            <a:off x="365760" y="5911520"/>
            <a:ext cx="11430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Everything is pluggable — no ontology names hardcoded in Python.</a:t>
            </a:r>
            <a:endParaRPr sz="1800"/>
          </a:p>
        </p:txBody>
      </p:sp>
      <p:sp>
        <p:nvSpPr>
          <p:cNvPr id="361" name="Google Shape;361;p32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Extension Points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3"/>
          <p:cNvSpPr txBox="1"/>
          <p:nvPr/>
        </p:nvSpPr>
        <p:spPr>
          <a:xfrm>
            <a:off x="334635" y="975810"/>
            <a:ext cx="114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Numbers</a:t>
            </a:r>
            <a:endParaRPr/>
          </a:p>
        </p:txBody>
      </p:sp>
      <p:sp>
        <p:nvSpPr>
          <p:cNvPr id="367" name="Google Shape;367;p33"/>
          <p:cNvSpPr txBox="1"/>
          <p:nvPr/>
        </p:nvSpPr>
        <p:spPr>
          <a:xfrm>
            <a:off x="457200" y="1651710"/>
            <a:ext cx="621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Ontologies loaded at startup</a:t>
            </a:r>
            <a:endParaRPr sz="1800"/>
          </a:p>
        </p:txBody>
      </p:sp>
      <p:sp>
        <p:nvSpPr>
          <p:cNvPr id="368" name="Google Shape;368;p33"/>
          <p:cNvSpPr txBox="1"/>
          <p:nvPr/>
        </p:nvSpPr>
        <p:spPr>
          <a:xfrm>
            <a:off x="6858000" y="165171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17  (≈ 45 MB TTL)</a:t>
            </a:r>
            <a:endParaRPr sz="1800"/>
          </a:p>
        </p:txBody>
      </p:sp>
      <p:sp>
        <p:nvSpPr>
          <p:cNvPr id="369" name="Google Shape;369;p33"/>
          <p:cNvSpPr txBox="1"/>
          <p:nvPr/>
        </p:nvSpPr>
        <p:spPr>
          <a:xfrm>
            <a:off x="457200" y="2200350"/>
            <a:ext cx="621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QUDT units indexed</a:t>
            </a:r>
            <a:endParaRPr sz="1800"/>
          </a:p>
        </p:txBody>
      </p:sp>
      <p:sp>
        <p:nvSpPr>
          <p:cNvPr id="370" name="Google Shape;370;p33"/>
          <p:cNvSpPr txBox="1"/>
          <p:nvPr/>
        </p:nvSpPr>
        <p:spPr>
          <a:xfrm>
            <a:off x="6858000" y="220035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2,906</a:t>
            </a:r>
            <a:endParaRPr sz="1800"/>
          </a:p>
        </p:txBody>
      </p:sp>
      <p:sp>
        <p:nvSpPr>
          <p:cNvPr id="371" name="Google Shape;371;p33"/>
          <p:cNvSpPr txBox="1"/>
          <p:nvPr/>
        </p:nvSpPr>
        <p:spPr>
          <a:xfrm>
            <a:off x="457200" y="2748990"/>
            <a:ext cx="621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Quantity kinds indexed</a:t>
            </a:r>
            <a:endParaRPr sz="1800"/>
          </a:p>
        </p:txBody>
      </p:sp>
      <p:sp>
        <p:nvSpPr>
          <p:cNvPr id="372" name="Google Shape;372;p33"/>
          <p:cNvSpPr txBox="1"/>
          <p:nvPr/>
        </p:nvSpPr>
        <p:spPr>
          <a:xfrm>
            <a:off x="6858000" y="274899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1,217</a:t>
            </a:r>
            <a:endParaRPr sz="1800"/>
          </a:p>
        </p:txBody>
      </p:sp>
      <p:sp>
        <p:nvSpPr>
          <p:cNvPr id="373" name="Google Shape;373;p33"/>
          <p:cNvSpPr txBox="1"/>
          <p:nvPr/>
        </p:nvSpPr>
        <p:spPr>
          <a:xfrm>
            <a:off x="457200" y="3297630"/>
            <a:ext cx="621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Schema.org classes</a:t>
            </a:r>
            <a:endParaRPr sz="1800"/>
          </a:p>
        </p:txBody>
      </p:sp>
      <p:sp>
        <p:nvSpPr>
          <p:cNvPr id="374" name="Google Shape;374;p33"/>
          <p:cNvSpPr txBox="1"/>
          <p:nvPr/>
        </p:nvSpPr>
        <p:spPr>
          <a:xfrm>
            <a:off x="6858000" y="329763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2,987</a:t>
            </a:r>
            <a:endParaRPr sz="1800"/>
          </a:p>
        </p:txBody>
      </p:sp>
      <p:sp>
        <p:nvSpPr>
          <p:cNvPr id="375" name="Google Shape;375;p33"/>
          <p:cNvSpPr txBox="1"/>
          <p:nvPr/>
        </p:nvSpPr>
        <p:spPr>
          <a:xfrm>
            <a:off x="457200" y="3846270"/>
            <a:ext cx="621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Enrichment cache hit rate</a:t>
            </a:r>
            <a:endParaRPr sz="1800"/>
          </a:p>
        </p:txBody>
      </p:sp>
      <p:sp>
        <p:nvSpPr>
          <p:cNvPr id="376" name="Google Shape;376;p33"/>
          <p:cNvSpPr txBox="1"/>
          <p:nvPr/>
        </p:nvSpPr>
        <p:spPr>
          <a:xfrm>
            <a:off x="6858000" y="384627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~95 %  (in-memory per session)</a:t>
            </a:r>
            <a:endParaRPr sz="1800"/>
          </a:p>
        </p:txBody>
      </p:sp>
      <p:sp>
        <p:nvSpPr>
          <p:cNvPr id="377" name="Google Shape;377;p33"/>
          <p:cNvSpPr txBox="1"/>
          <p:nvPr/>
        </p:nvSpPr>
        <p:spPr>
          <a:xfrm>
            <a:off x="457200" y="4394910"/>
            <a:ext cx="621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SHACL export time</a:t>
            </a:r>
            <a:endParaRPr sz="1800"/>
          </a:p>
        </p:txBody>
      </p:sp>
      <p:sp>
        <p:nvSpPr>
          <p:cNvPr id="378" name="Google Shape;378;p33"/>
          <p:cNvSpPr txBox="1"/>
          <p:nvPr/>
        </p:nvSpPr>
        <p:spPr>
          <a:xfrm>
            <a:off x="6858000" y="439491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&lt; 100 ms per brick</a:t>
            </a:r>
            <a:endParaRPr sz="1800"/>
          </a:p>
        </p:txBody>
      </p:sp>
      <p:sp>
        <p:nvSpPr>
          <p:cNvPr id="379" name="Google Shape;379;p33"/>
          <p:cNvSpPr txBox="1"/>
          <p:nvPr/>
        </p:nvSpPr>
        <p:spPr>
          <a:xfrm>
            <a:off x="457200" y="4943550"/>
            <a:ext cx="621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Concurrent sessions tested</a:t>
            </a:r>
            <a:endParaRPr sz="1800"/>
          </a:p>
        </p:txBody>
      </p:sp>
      <p:sp>
        <p:nvSpPr>
          <p:cNvPr id="380" name="Google Shape;380;p33"/>
          <p:cNvSpPr txBox="1"/>
          <p:nvPr/>
        </p:nvSpPr>
        <p:spPr>
          <a:xfrm>
            <a:off x="6858000" y="494355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50+</a:t>
            </a:r>
            <a:endParaRPr sz="1800"/>
          </a:p>
        </p:txBody>
      </p:sp>
      <p:sp>
        <p:nvSpPr>
          <p:cNvPr id="381" name="Google Shape;381;p33"/>
          <p:cNvSpPr txBox="1"/>
          <p:nvPr/>
        </p:nvSpPr>
        <p:spPr>
          <a:xfrm>
            <a:off x="457200" y="5492190"/>
            <a:ext cx="621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Session memory footprint</a:t>
            </a:r>
            <a:endParaRPr sz="1800"/>
          </a:p>
        </p:txBody>
      </p:sp>
      <p:sp>
        <p:nvSpPr>
          <p:cNvPr id="382" name="Google Shape;382;p33"/>
          <p:cNvSpPr txBox="1"/>
          <p:nvPr/>
        </p:nvSpPr>
        <p:spPr>
          <a:xfrm>
            <a:off x="6858000" y="549219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~10 MB</a:t>
            </a:r>
            <a:endParaRPr sz="1800"/>
          </a:p>
        </p:txBody>
      </p:sp>
      <p:sp>
        <p:nvSpPr>
          <p:cNvPr id="383" name="Google Shape;383;p33"/>
          <p:cNvSpPr txBox="1"/>
          <p:nvPr/>
        </p:nvSpPr>
        <p:spPr>
          <a:xfrm>
            <a:off x="457200" y="6040830"/>
            <a:ext cx="621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Test suite</a:t>
            </a:r>
            <a:endParaRPr sz="1800"/>
          </a:p>
        </p:txBody>
      </p:sp>
      <p:sp>
        <p:nvSpPr>
          <p:cNvPr id="384" name="Google Shape;384;p33"/>
          <p:cNvSpPr txBox="1"/>
          <p:nvPr/>
        </p:nvSpPr>
        <p:spPr>
          <a:xfrm>
            <a:off x="6858000" y="604083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7A40"/>
                </a:solidFill>
                <a:latin typeface="Calibri"/>
                <a:ea typeface="Calibri"/>
                <a:cs typeface="Calibri"/>
                <a:sym typeface="Calibri"/>
              </a:rPr>
              <a:t>60 pytest tests, all passing</a:t>
            </a:r>
            <a:endParaRPr sz="1800"/>
          </a:p>
        </p:txBody>
      </p:sp>
      <p:sp>
        <p:nvSpPr>
          <p:cNvPr id="385" name="Google Shape;385;p33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Performance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3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6DB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4"/>
          <p:cNvSpPr txBox="1"/>
          <p:nvPr/>
        </p:nvSpPr>
        <p:spPr>
          <a:xfrm>
            <a:off x="457200" y="164592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🧱  Bricks</a:t>
            </a:r>
            <a:endParaRPr sz="1800"/>
          </a:p>
        </p:txBody>
      </p:sp>
      <p:sp>
        <p:nvSpPr>
          <p:cNvPr id="392" name="Google Shape;392;p34"/>
          <p:cNvSpPr txBox="1"/>
          <p:nvPr/>
        </p:nvSpPr>
        <p:spPr>
          <a:xfrm>
            <a:off x="3383280" y="1645920"/>
            <a:ext cx="8412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Semantic, reusable SHACL components — NodeShape + PropertyShapes as JSON</a:t>
            </a:r>
            <a:endParaRPr sz="1800"/>
          </a:p>
        </p:txBody>
      </p:sp>
      <p:sp>
        <p:nvSpPr>
          <p:cNvPr id="393" name="Google Shape;393;p34"/>
          <p:cNvSpPr txBox="1"/>
          <p:nvPr/>
        </p:nvSpPr>
        <p:spPr>
          <a:xfrm>
            <a:off x="457200" y="2505456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🔍  Enrichment</a:t>
            </a:r>
            <a:endParaRPr sz="1800"/>
          </a:p>
        </p:txBody>
      </p:sp>
      <p:sp>
        <p:nvSpPr>
          <p:cNvPr id="394" name="Google Shape;394;p34"/>
          <p:cNvSpPr txBox="1"/>
          <p:nvPr/>
        </p:nvSpPr>
        <p:spPr>
          <a:xfrm>
            <a:off x="3383280" y="2505456"/>
            <a:ext cx="8412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4-layer resolution — generic, not QUDT-only; any ontology works</a:t>
            </a:r>
            <a:endParaRPr sz="1800"/>
          </a:p>
        </p:txBody>
      </p:sp>
      <p:sp>
        <p:nvSpPr>
          <p:cNvPr id="395" name="Google Shape;395;p34"/>
          <p:cNvSpPr txBox="1"/>
          <p:nvPr/>
        </p:nvSpPr>
        <p:spPr>
          <a:xfrm>
            <a:off x="457200" y="3364992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🏗  Multi-tenant</a:t>
            </a:r>
            <a:endParaRPr sz="1800"/>
          </a:p>
        </p:txBody>
      </p:sp>
      <p:sp>
        <p:nvSpPr>
          <p:cNvPr id="396" name="Google Shape;396;p34"/>
          <p:cNvSpPr txBox="1"/>
          <p:nvPr/>
        </p:nvSpPr>
        <p:spPr>
          <a:xfrm>
            <a:off x="3383280" y="3364992"/>
            <a:ext cx="8412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Web + Qt + API share one BrickCore — no logic duplication</a:t>
            </a:r>
            <a:endParaRPr sz="1800"/>
          </a:p>
        </p:txBody>
      </p:sp>
      <p:sp>
        <p:nvSpPr>
          <p:cNvPr id="397" name="Google Shape;397;p34"/>
          <p:cNvSpPr txBox="1"/>
          <p:nvPr/>
        </p:nvSpPr>
        <p:spPr>
          <a:xfrm>
            <a:off x="457200" y="4224528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🔌  Extensible</a:t>
            </a:r>
            <a:endParaRPr sz="1800"/>
          </a:p>
        </p:txBody>
      </p:sp>
      <p:sp>
        <p:nvSpPr>
          <p:cNvPr id="398" name="Google Shape;398;p34"/>
          <p:cNvSpPr txBox="1"/>
          <p:nvPr/>
        </p:nvSpPr>
        <p:spPr>
          <a:xfrm>
            <a:off x="3383280" y="4224528"/>
            <a:ext cx="8412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Add ontologies or TTL rules — zero Python changes required</a:t>
            </a:r>
            <a:endParaRPr sz="1800"/>
          </a:p>
        </p:txBody>
      </p:sp>
      <p:sp>
        <p:nvSpPr>
          <p:cNvPr id="399" name="Google Shape;399;p34"/>
          <p:cNvSpPr txBox="1"/>
          <p:nvPr/>
        </p:nvSpPr>
        <p:spPr>
          <a:xfrm>
            <a:off x="457200" y="5084064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6DB0"/>
                </a:solidFill>
                <a:latin typeface="Calibri"/>
                <a:ea typeface="Calibri"/>
                <a:cs typeface="Calibri"/>
                <a:sym typeface="Calibri"/>
              </a:rPr>
              <a:t>📐  Standards</a:t>
            </a:r>
            <a:endParaRPr sz="1800"/>
          </a:p>
        </p:txBody>
      </p:sp>
      <p:sp>
        <p:nvSpPr>
          <p:cNvPr id="400" name="Google Shape;400;p34"/>
          <p:cNvSpPr txBox="1"/>
          <p:nvPr/>
        </p:nvSpPr>
        <p:spPr>
          <a:xfrm>
            <a:off x="3383280" y="5084064"/>
            <a:ext cx="8412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SHACL + DASH output — works with any validator, no vendor lock-in</a:t>
            </a:r>
            <a:endParaRPr sz="1800"/>
          </a:p>
        </p:txBody>
      </p:sp>
      <p:sp>
        <p:nvSpPr>
          <p:cNvPr id="401" name="Google Shape;401;p34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Key Takeaways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4A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5"/>
          <p:cNvSpPr txBox="1"/>
          <p:nvPr/>
        </p:nvSpPr>
        <p:spPr>
          <a:xfrm>
            <a:off x="587575" y="1192625"/>
            <a:ext cx="1115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Q: Why not JSON Schema?</a:t>
            </a:r>
            <a:endParaRPr sz="1800"/>
          </a:p>
        </p:txBody>
      </p:sp>
      <p:sp>
        <p:nvSpPr>
          <p:cNvPr id="408" name="Google Shape;408;p35"/>
          <p:cNvSpPr txBox="1"/>
          <p:nvPr/>
        </p:nvSpPr>
        <p:spPr>
          <a:xfrm>
            <a:off x="587575" y="1756127"/>
            <a:ext cx="1115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A: SHACL validates semantics (units, linked data); JSON Schema validates structure. Can convert.</a:t>
            </a:r>
            <a:endParaRPr sz="1800"/>
          </a:p>
        </p:txBody>
      </p:sp>
      <p:sp>
        <p:nvSpPr>
          <p:cNvPr id="409" name="Google Shape;409;p35"/>
          <p:cNvSpPr txBox="1"/>
          <p:nvPr/>
        </p:nvSpPr>
        <p:spPr>
          <a:xfrm>
            <a:off x="587575" y="2507462"/>
            <a:ext cx="1115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Q: Why not use SPARQL for ontology queries?</a:t>
            </a:r>
            <a:endParaRPr sz="1800"/>
          </a:p>
        </p:txBody>
      </p:sp>
      <p:sp>
        <p:nvSpPr>
          <p:cNvPr id="410" name="Google Shape;410;p35"/>
          <p:cNvSpPr txBox="1"/>
          <p:nvPr/>
        </p:nvSpPr>
        <p:spPr>
          <a:xfrm>
            <a:off x="587575" y="3070964"/>
            <a:ext cx="11155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A: rdflib supports it, but direct traversal is faster, simpler to debug, and sufficient — SPARQL adds value only for complex cross-graph joins.</a:t>
            </a:r>
            <a:endParaRPr sz="1800"/>
          </a:p>
        </p:txBody>
      </p:sp>
      <p:sp>
        <p:nvSpPr>
          <p:cNvPr id="411" name="Google Shape;411;p35"/>
          <p:cNvSpPr txBox="1"/>
          <p:nvPr/>
        </p:nvSpPr>
        <p:spPr>
          <a:xfrm>
            <a:off x="587575" y="3822299"/>
            <a:ext cx="1115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Q: Can it work with property graphs (Neo4j)?</a:t>
            </a:r>
            <a:endParaRPr sz="1800"/>
          </a:p>
        </p:txBody>
      </p:sp>
      <p:sp>
        <p:nvSpPr>
          <p:cNvPr id="412" name="Google Shape;412;p35"/>
          <p:cNvSpPr txBox="1"/>
          <p:nvPr/>
        </p:nvSpPr>
        <p:spPr>
          <a:xfrm>
            <a:off x="587575" y="4385801"/>
            <a:ext cx="1115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A: SHACL is RDF-native; but SHACL validates before storage — export to JSON/JSON-LD after.</a:t>
            </a:r>
            <a:endParaRPr sz="1800"/>
          </a:p>
        </p:txBody>
      </p:sp>
      <p:sp>
        <p:nvSpPr>
          <p:cNvPr id="413" name="Google Shape;413;p35"/>
          <p:cNvSpPr txBox="1"/>
          <p:nvPr/>
        </p:nvSpPr>
        <p:spPr>
          <a:xfrm>
            <a:off x="587575" y="5137137"/>
            <a:ext cx="1115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925E00"/>
                </a:solidFill>
                <a:latin typeface="Calibri"/>
                <a:ea typeface="Calibri"/>
                <a:cs typeface="Calibri"/>
                <a:sym typeface="Calibri"/>
              </a:rPr>
              <a:t>Q: Why single-file React?</a:t>
            </a:r>
            <a:endParaRPr sz="1800"/>
          </a:p>
        </p:txBody>
      </p:sp>
      <p:sp>
        <p:nvSpPr>
          <p:cNvPr id="414" name="Google Shape;414;p35"/>
          <p:cNvSpPr txBox="1"/>
          <p:nvPr/>
        </p:nvSpPr>
        <p:spPr>
          <a:xfrm>
            <a:off x="587575" y="5700638"/>
            <a:ext cx="1115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A: Rapid prototyping, no build step. Production: migrate to Vite + React bundle.</a:t>
            </a:r>
            <a:endParaRPr sz="1800"/>
          </a:p>
        </p:txBody>
      </p:sp>
      <p:sp>
        <p:nvSpPr>
          <p:cNvPr id="415" name="Google Shape;415;p35"/>
          <p:cNvSpPr txBox="1"/>
          <p:nvPr>
            <p:ph type="title"/>
          </p:nvPr>
        </p:nvSpPr>
        <p:spPr>
          <a:xfrm>
            <a:off x="415496" y="288700"/>
            <a:ext cx="8818200" cy="590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Questions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FFFFFF"/>
      </a:lt2>
      <a:accent1>
        <a:srgbClr val="A5A5A5"/>
      </a:accent1>
      <a:accent2>
        <a:srgbClr val="951B81"/>
      </a:accent2>
      <a:accent3>
        <a:srgbClr val="F39200"/>
      </a:accent3>
      <a:accent4>
        <a:srgbClr val="009FE3"/>
      </a:accent4>
      <a:accent5>
        <a:srgbClr val="70AC04"/>
      </a:accent5>
      <a:accent6>
        <a:srgbClr val="A3195B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