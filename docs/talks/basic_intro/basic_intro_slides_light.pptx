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A1A2E"/>
                </a:solidFill>
              </a:rPr>
              <a:t>From Bricks to 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26DB0"/>
                </a:solidFill>
              </a:rPr>
              <a:t>Building Digital Product Passports with SHACL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4455"/>
                </a:solidFill>
              </a:rPr>
              <a:t>A visual approach to structured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25E00"/>
                </a:solidFill>
              </a:rPr>
              <a:t>No coding background required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FFFFFF"/>
                </a:solidFill>
              </a:rPr>
              <a:t>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</a:rPr>
              <a:t>Digital Product Passports Are Hard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737360"/>
            <a:ext cx="5303520" cy="4023360"/>
          </a:xfrm>
          <a:prstGeom prst="rect">
            <a:avLst/>
          </a:prstGeom>
          <a:solidFill>
            <a:srgbClr val="FFEDED"/>
          </a:solidFill>
          <a:ln w="19050">
            <a:solidFill>
              <a:srgbClr val="BF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BF1B1B"/>
                </a:solidFill>
              </a:rPr>
              <a:t>❌  TODAY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• Company A says: 'weight: 5kg'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• Company B says: 'mass: 5000g'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• Company C says: '5'  (just a number!)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/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→ Computers can't understand this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→ Manual data entry &amp; errors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→ Compliance headaches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737360"/>
            <a:ext cx="5303520" cy="4023360"/>
          </a:xfrm>
          <a:prstGeom prst="rect">
            <a:avLst/>
          </a:prstGeom>
          <a:solidFill>
            <a:srgbClr val="EDFFF3"/>
          </a:solidFill>
          <a:ln w="19050">
            <a:solidFill>
              <a:srgbClr val="16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7A40"/>
                </a:solidFill>
              </a:rPr>
              <a:t>✓  WITH SHACL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• Product.weight = 5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• Must be a number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• Must have a unit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• Unit can only be: kg, g, lb, oz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/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→ Machines can validate it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→ Forms guide data entry</a:t>
            </a:r>
          </a:p>
          <a:p>
            <a:pPr algn="l"/>
            <a:r>
              <a:rPr sz="1700" b="0">
                <a:solidFill>
                  <a:srgbClr val="334455"/>
                </a:solidFill>
              </a:rPr>
              <a:t>→ Always consistent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FFFFFF"/>
                </a:solidFill>
              </a:rPr>
              <a:t>  The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</a:rPr>
              <a:t>What If Data Had Grammar?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645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4455"/>
                </a:solidFill>
              </a:rPr>
              <a:t>Like grammar rules in language, data needs rules too.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10607040" cy="685800"/>
          </a:xfrm>
          <a:prstGeom prst="rect">
            <a:avLst/>
          </a:prstGeom>
          <a:solidFill>
            <a:srgbClr val="F0F4F8"/>
          </a:solidFill>
          <a:ln w="1270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>
                <a:solidFill>
                  <a:srgbClr val="024A7A"/>
                </a:solidFill>
                <a:latin typeface="Courier New"/>
              </a:rPr>
              <a:t>❌  "The product weighs about 5kg usually"   (ambiguous)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91840"/>
            <a:ext cx="10607040" cy="1920240"/>
          </a:xfrm>
          <a:prstGeom prst="rect">
            <a:avLst/>
          </a:prstGeom>
          <a:solidFill>
            <a:srgbClr val="F0F4F8"/>
          </a:solidFill>
          <a:ln w="1270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700">
                <a:solidFill>
                  <a:srgbClr val="024A7A"/>
                </a:solidFill>
                <a:latin typeface="Courier New"/>
              </a:rPr>
              <a:t>✓   Product.weight  =  5</a:t>
            </a:r>
          </a:p>
          <a:p>
            <a:pPr algn="l"/>
            <a:r>
              <a:rPr sz="1700">
                <a:solidFill>
                  <a:srgbClr val="024A7A"/>
                </a:solidFill>
                <a:latin typeface="Courier New"/>
              </a:rPr>
              <a:t>         type  →  number</a:t>
            </a:r>
          </a:p>
          <a:p>
            <a:pPr algn="l"/>
            <a:r>
              <a:rPr sz="1700">
                <a:solidFill>
                  <a:srgbClr val="024A7A"/>
                </a:solidFill>
                <a:latin typeface="Courier New"/>
              </a:rPr>
              <a:t>         unit  →  kg  (or g, lb, oz)</a:t>
            </a:r>
          </a:p>
          <a:p>
            <a:pPr algn="l"/>
            <a:r>
              <a:rPr sz="1700">
                <a:solidFill>
                  <a:srgbClr val="024A7A"/>
                </a:solidFill>
                <a:latin typeface="Courier New"/>
              </a:rPr>
              <a:t>     required  →  yes</a:t>
            </a:r>
          </a:p>
          <a:p>
            <a:pPr algn="l"/>
            <a:r>
              <a:rPr sz="1700">
                <a:solidFill>
                  <a:srgbClr val="024A7A"/>
                </a:solidFill>
                <a:latin typeface="Courier New"/>
              </a:rPr>
              <a:t>      checked  →  automatically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4864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25E00"/>
                </a:solidFill>
              </a:rPr>
              <a:t>SHACL is the W3C standard for writing these rules.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FFFFFF"/>
                </a:solidFill>
              </a:rPr>
              <a:t>  The Brick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</a:rPr>
              <a:t>Lego Bricks for Data Schemas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600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334455"/>
                </a:solidFill>
              </a:rPr>
              <a:t>Instead of writing rules from scratch every time → create reusable bricks once, snap them together.</a:t>
            </a:r>
          </a:p>
        </p:txBody>
      </p:sp>
      <p:sp>
        <p:nvSpPr>
          <p:cNvPr id="5" name="Oval 4"/>
          <p:cNvSpPr/>
          <p:nvPr/>
        </p:nvSpPr>
        <p:spPr>
          <a:xfrm>
            <a:off x="365760" y="2468880"/>
            <a:ext cx="2743200" cy="3108960"/>
          </a:xfrm>
          <a:prstGeom prst="ellipse">
            <a:avLst/>
          </a:prstGeom>
          <a:solidFill>
            <a:srgbClr val="E8F4FF"/>
          </a:solidFill>
          <a:ln w="1905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26DB0"/>
                </a:solidFill>
              </a:rPr>
              <a:t>🧱  Mass</a:t>
            </a:r>
          </a:p>
          <a:p>
            <a:pPr algn="l"/>
            <a:r>
              <a:rPr sz="1000" b="0">
                <a:solidFill>
                  <a:srgbClr val="1A1A2E"/>
                </a:solidFill>
              </a:rPr>
              <a:t/>
            </a:r>
          </a:p>
          <a:p>
            <a:pPr algn="ctr"/>
            <a:r>
              <a:rPr sz="1600" b="0">
                <a:solidFill>
                  <a:srgbClr val="334455"/>
                </a:solidFill>
              </a:rPr>
              <a:t>number + unit
(kg, g, lb, oz, mg, t)</a:t>
            </a:r>
          </a:p>
        </p:txBody>
      </p:sp>
      <p:sp>
        <p:nvSpPr>
          <p:cNvPr id="6" name="Oval 5"/>
          <p:cNvSpPr/>
          <p:nvPr/>
        </p:nvSpPr>
        <p:spPr>
          <a:xfrm>
            <a:off x="3291840" y="2468880"/>
            <a:ext cx="2743200" cy="3108960"/>
          </a:xfrm>
          <a:prstGeom prst="ellipse">
            <a:avLst/>
          </a:prstGeom>
          <a:solidFill>
            <a:srgbClr val="E8F4FF"/>
          </a:solidFill>
          <a:ln w="1905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26DB0"/>
                </a:solidFill>
              </a:rPr>
              <a:t>🌡  Temperature</a:t>
            </a:r>
          </a:p>
          <a:p>
            <a:pPr algn="l"/>
            <a:r>
              <a:rPr sz="1000" b="0">
                <a:solidFill>
                  <a:srgbClr val="1A1A2E"/>
                </a:solidFill>
              </a:rPr>
              <a:t/>
            </a:r>
          </a:p>
          <a:p>
            <a:pPr algn="ctr"/>
            <a:r>
              <a:rPr sz="1600" b="0">
                <a:solidFill>
                  <a:srgbClr val="334455"/>
                </a:solidFill>
              </a:rPr>
              <a:t>number + degrees
(°C, °F, K)</a:t>
            </a:r>
          </a:p>
        </p:txBody>
      </p:sp>
      <p:sp>
        <p:nvSpPr>
          <p:cNvPr id="7" name="Oval 6"/>
          <p:cNvSpPr/>
          <p:nvPr/>
        </p:nvSpPr>
        <p:spPr>
          <a:xfrm>
            <a:off x="6217920" y="2468880"/>
            <a:ext cx="2743200" cy="3108960"/>
          </a:xfrm>
          <a:prstGeom prst="ellipse">
            <a:avLst/>
          </a:prstGeom>
          <a:solidFill>
            <a:srgbClr val="E8F4FF"/>
          </a:solidFill>
          <a:ln w="1905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26DB0"/>
                </a:solidFill>
              </a:rPr>
              <a:t>⚡  Battery Cap</a:t>
            </a:r>
          </a:p>
          <a:p>
            <a:pPr algn="l"/>
            <a:r>
              <a:rPr sz="1000" b="0">
                <a:solidFill>
                  <a:srgbClr val="1A1A2E"/>
                </a:solidFill>
              </a:rPr>
              <a:t/>
            </a:r>
          </a:p>
          <a:p>
            <a:pPr algn="ctr"/>
            <a:r>
              <a:rPr sz="1600" b="0">
                <a:solidFill>
                  <a:srgbClr val="334455"/>
                </a:solidFill>
              </a:rPr>
              <a:t>number + unit
(Ah, mAh, Coulombs)</a:t>
            </a:r>
          </a:p>
        </p:txBody>
      </p:sp>
      <p:sp>
        <p:nvSpPr>
          <p:cNvPr id="8" name="Oval 7"/>
          <p:cNvSpPr/>
          <p:nvPr/>
        </p:nvSpPr>
        <p:spPr>
          <a:xfrm>
            <a:off x="9144000" y="2468880"/>
            <a:ext cx="2743200" cy="3108960"/>
          </a:xfrm>
          <a:prstGeom prst="ellipse">
            <a:avLst/>
          </a:prstGeom>
          <a:solidFill>
            <a:srgbClr val="E8F4FF"/>
          </a:solidFill>
          <a:ln w="1905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26DB0"/>
                </a:solidFill>
              </a:rPr>
              <a:t>🏭  Manufacturer</a:t>
            </a:r>
          </a:p>
          <a:p>
            <a:pPr algn="l"/>
            <a:r>
              <a:rPr sz="1000" b="0">
                <a:solidFill>
                  <a:srgbClr val="1A1A2E"/>
                </a:solidFill>
              </a:rPr>
              <a:t/>
            </a:r>
          </a:p>
          <a:p>
            <a:pPr algn="ctr"/>
            <a:r>
              <a:rPr sz="1600" b="0">
                <a:solidFill>
                  <a:srgbClr val="334455"/>
                </a:solidFill>
              </a:rPr>
              <a:t>name + ID + country
(linked data)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25E00"/>
                </a:solidFill>
              </a:rPr>
              <a:t>Define once → reuse across every product schema in your organisation.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FFFFFF"/>
                </a:solidFill>
              </a:rPr>
              <a:t>  Brick Editor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</a:rPr>
              <a:t>Creating a Reusable Brick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600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334455"/>
                </a:solidFill>
              </a:rPr>
              <a:t>Point-and-click — no coding needed: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669280" cy="502920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26DB0"/>
                </a:solidFill>
                <a:latin typeface="Courier New"/>
              </a:rPr>
              <a:t>Name        </a:t>
            </a:r>
            <a:r>
              <a:rPr sz="1600">
                <a:solidFill>
                  <a:srgbClr val="334455"/>
                </a:solidFill>
                <a:latin typeface="Courier New"/>
              </a:rPr>
              <a:t>BatteryCapacity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61488"/>
            <a:ext cx="5669280" cy="502920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26DB0"/>
                </a:solidFill>
                <a:latin typeface="Courier New"/>
              </a:rPr>
              <a:t>Path        </a:t>
            </a:r>
            <a:r>
              <a:rPr sz="1600">
                <a:solidFill>
                  <a:srgbClr val="334455"/>
                </a:solidFill>
                <a:latin typeface="Courier New"/>
              </a:rPr>
              <a:t>ex:batteryCapacity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28416"/>
            <a:ext cx="5669280" cy="502920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26DB0"/>
                </a:solidFill>
                <a:latin typeface="Courier New"/>
              </a:rPr>
              <a:t>Datatype    </a:t>
            </a:r>
            <a:r>
              <a:rPr sz="1600">
                <a:solidFill>
                  <a:srgbClr val="334455"/>
                </a:solidFill>
                <a:latin typeface="Courier New"/>
              </a:rPr>
              <a:t>xsd:decimal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895344"/>
            <a:ext cx="5669280" cy="502920"/>
          </a:xfrm>
          <a:prstGeom prst="rect">
            <a:avLst/>
          </a:prstGeom>
          <a:solidFill>
            <a:srgbClr val="EC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26DB0"/>
                </a:solidFill>
                <a:latin typeface="Courier New"/>
              </a:rPr>
              <a:t>Class       </a:t>
            </a:r>
            <a:r>
              <a:rPr sz="1600">
                <a:solidFill>
                  <a:srgbClr val="334455"/>
                </a:solidFill>
                <a:latin typeface="Courier New"/>
              </a:rPr>
              <a:t>qudt:ElectricCharge   ← triggers magic 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25E00"/>
                </a:solidFill>
              </a:rPr>
              <a:t>Result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468880"/>
            <a:ext cx="5212080" cy="2743200"/>
          </a:xfrm>
          <a:prstGeom prst="rect">
            <a:avLst/>
          </a:prstGeom>
          <a:solidFill>
            <a:srgbClr val="F0F4F8"/>
          </a:solidFill>
          <a:ln w="1270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Unit dropdown appears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automatically: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/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  ▼  Ampere-hour (Ah)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     Milliampere-hour (mAh)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     Coulomb (C)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     Kiloampere-hour (kAh)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25E00"/>
                </a:solidFill>
              </a:rPr>
              <a:t>The system looks up applicable units from the QUDT ontology — no manual list needed.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FFFFFF"/>
                </a:solidFill>
              </a:rPr>
              <a:t>  Schema Editor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</a:rPr>
              <a:t>Assembling Bricks into a Product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737360"/>
            <a:ext cx="11430000" cy="4114800"/>
          </a:xfrm>
          <a:prstGeom prst="rect">
            <a:avLst/>
          </a:prstGeom>
          <a:solidFill>
            <a:srgbClr val="F0F4F8"/>
          </a:solidFill>
          <a:ln w="1270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EV Battery Schema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├── Battery Identification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│   ├── Model Number      (text)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│   ├── Serial Number     (text)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│   └── Manufacturer      (linked data)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├── Physical Properties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│   ├── Mass           ← [Mass brick]        → unit dropdown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│   └── Capacity       ← [BatteryCapacity]   → unit dropdown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└── Environmental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    ├── Carbon Footprint  ← [CO₂ brick]      → unit dropdown</a:t>
            </a:r>
          </a:p>
          <a:p>
            <a:pPr algn="l"/>
            <a:r>
              <a:rPr sz="1500">
                <a:solidFill>
                  <a:srgbClr val="024A7A"/>
                </a:solidFill>
                <a:latin typeface="Courier New"/>
              </a:rPr>
              <a:t>    └── Recyclability     ← [Percent brick]  → %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035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25E00"/>
                </a:solidFill>
              </a:rPr>
              <a:t>Visual tree editor — drag bricks in, set connections, done.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FFFFFF"/>
                </a:solidFill>
              </a:rPr>
              <a:t>  One Source → Many Outputs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</a:rPr>
              <a:t>The Magic: One Brick, Three Things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26DB0"/>
                </a:solidFill>
              </a:rPr>
              <a:t>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26679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26DB0"/>
                </a:solidFill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26DB0"/>
                </a:solidFill>
              </a:rPr>
              <a:t>Brick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286000"/>
            <a:ext cx="3794760" cy="3200400"/>
          </a:xfrm>
          <a:prstGeom prst="rect">
            <a:avLst/>
          </a:prstGeom>
          <a:solidFill>
            <a:srgbClr val="F0F4F8"/>
          </a:solidFill>
          <a:ln w="1270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{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name: 'Mass',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datatype: xsd:decimal,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class: qudt:Mass,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units: [kg,g,lb,...]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73736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26DB0"/>
                </a:solidFill>
              </a:rPr>
              <a:t>SHACL 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2286000"/>
            <a:ext cx="3794760" cy="3200400"/>
          </a:xfrm>
          <a:prstGeom prst="rect">
            <a:avLst/>
          </a:prstGeom>
          <a:solidFill>
            <a:srgbClr val="F0F4F8"/>
          </a:solidFill>
          <a:ln w="1270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sh:property [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sh:path ex:mass ;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sh:datatype xsd:decimal ;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sh:class qudt:Mass ;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sh:in (kg g lb oz) ;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]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3736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26DB0"/>
                </a:solidFill>
              </a:rPr>
              <a:t>User 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286000"/>
            <a:ext cx="3794760" cy="3200400"/>
          </a:xfrm>
          <a:prstGeom prst="rect">
            <a:avLst/>
          </a:prstGeom>
          <a:solidFill>
            <a:srgbClr val="F0F4F8"/>
          </a:solidFill>
          <a:ln w="1270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Mass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┌─────────┬──────┐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│  5      │ ▼ kg │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└─────────┴──────┘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/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Change brick once</a:t>
            </a:r>
          </a:p>
          <a:p>
            <a:pPr algn="l"/>
            <a:r>
              <a:rPr sz="1400">
                <a:solidFill>
                  <a:srgbClr val="024A7A"/>
                </a:solidFill>
                <a:latin typeface="Courier New"/>
              </a:rPr>
              <a:t>  → all forms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FFFFFF"/>
                </a:solidFill>
              </a:rPr>
              <a:t>  Enrichment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</a:rPr>
              <a:t>Smart Widgets from Context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828800"/>
            <a:ext cx="502920" cy="502920"/>
          </a:xfrm>
          <a:prstGeom prst="ellipse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74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1A2E"/>
                </a:solidFill>
              </a:rPr>
              <a:t>You type:  qudt:Mass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331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26DB0"/>
                </a:solidFill>
              </a:rPr>
              <a:t>↓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788920"/>
            <a:ext cx="502920" cy="502920"/>
          </a:xfrm>
          <a:prstGeom prst="ellipse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4455"/>
                </a:solidFill>
              </a:rPr>
              <a:t>System queries QUDT ontology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291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26DB0"/>
                </a:solidFill>
              </a:rPr>
              <a:t>↓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749040"/>
            <a:ext cx="502920" cy="502920"/>
          </a:xfrm>
          <a:prstGeom prst="ellipse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94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4455"/>
                </a:solidFill>
              </a:rPr>
              <a:t>Finds 6 applicable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251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26DB0"/>
                </a:solidFill>
              </a:rPr>
              <a:t>↓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709160"/>
            <a:ext cx="502920" cy="502920"/>
          </a:xfrm>
          <a:prstGeom prst="ellipse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67A40"/>
                </a:solidFill>
              </a:rPr>
              <a:t>Creates unit dropdown automatically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25E00"/>
                </a:solidFill>
              </a:rPr>
              <a:t>Works for any physical quantity: temperature, pressure, energy, voltage 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FFFFFF"/>
                </a:solidFill>
              </a:rPr>
              <a:t>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</a:rPr>
              <a:t>How It All Connects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280160"/>
            <a:ext cx="9144000" cy="658368"/>
          </a:xfrm>
          <a:prstGeom prst="rect">
            <a:avLst/>
          </a:prstGeom>
          <a:solidFill>
            <a:srgbClr val="F5F8FF"/>
          </a:solidFill>
          <a:ln w="1905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334455"/>
                </a:solidFill>
                <a:latin typeface="Courier New"/>
              </a:rPr>
              <a:t>Shared Ontologies     </a:t>
            </a:r>
            <a:r>
              <a:rPr sz="1500">
                <a:solidFill>
                  <a:srgbClr val="334455"/>
                </a:solidFill>
                <a:latin typeface="Courier New"/>
              </a:rPr>
              <a:t>QUDT · Schema.org · FOAF · SKOS  (17 vocabularies)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148840"/>
            <a:ext cx="9144000" cy="658368"/>
          </a:xfrm>
          <a:prstGeom prst="rect">
            <a:avLst/>
          </a:prstGeom>
          <a:solidFill>
            <a:srgbClr val="F5F8FF"/>
          </a:solidFill>
          <a:ln w="1905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026DB0"/>
                </a:solidFill>
                <a:latin typeface="Courier New"/>
              </a:rPr>
              <a:t>Brick Library         </a:t>
            </a:r>
            <a:r>
              <a:rPr sz="1500">
                <a:solidFill>
                  <a:srgbClr val="334455"/>
                </a:solidFill>
                <a:latin typeface="Courier New"/>
              </a:rPr>
              <a:t>Reusable building blocks (JSON)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9144000" cy="658368"/>
          </a:xfrm>
          <a:prstGeom prst="rect">
            <a:avLst/>
          </a:prstGeom>
          <a:solidFill>
            <a:srgbClr val="F5F8FF"/>
          </a:solidFill>
          <a:ln w="19050">
            <a:solidFill>
              <a:srgbClr val="026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026DB0"/>
                </a:solidFill>
                <a:latin typeface="Courier New"/>
              </a:rPr>
              <a:t>Schema Composer       </a:t>
            </a:r>
            <a:r>
              <a:rPr sz="1500">
                <a:solidFill>
                  <a:srgbClr val="334455"/>
                </a:solidFill>
                <a:latin typeface="Courier New"/>
              </a:rPr>
              <a:t>Assemble bricks into product blueprints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886200"/>
            <a:ext cx="9144000" cy="658368"/>
          </a:xfrm>
          <a:prstGeom prst="rect">
            <a:avLst/>
          </a:prstGeom>
          <a:solidFill>
            <a:srgbClr val="F5F8FF"/>
          </a:solidFill>
          <a:ln w="1905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334455"/>
                </a:solidFill>
                <a:latin typeface="Courier New"/>
              </a:rPr>
              <a:t>SHACL Exporter        </a:t>
            </a:r>
            <a:r>
              <a:rPr sz="1500">
                <a:solidFill>
                  <a:srgbClr val="334455"/>
                </a:solidFill>
                <a:latin typeface="Courier New"/>
              </a:rPr>
              <a:t>Generates validation rules (Turtle)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754880"/>
            <a:ext cx="9144000" cy="658368"/>
          </a:xfrm>
          <a:prstGeom prst="rect">
            <a:avLst/>
          </a:prstGeom>
          <a:solidFill>
            <a:srgbClr val="F5F8FF"/>
          </a:solidFill>
          <a:ln w="19050">
            <a:solidFill>
              <a:srgbClr val="16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167A40"/>
                </a:solidFill>
                <a:latin typeface="Courier New"/>
              </a:rPr>
              <a:t>Form Generator        </a:t>
            </a:r>
            <a:r>
              <a:rPr sz="1500">
                <a:solidFill>
                  <a:srgbClr val="334455"/>
                </a:solidFill>
                <a:latin typeface="Courier New"/>
              </a:rPr>
              <a:t>HTML interface the data-entry clerk sees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5623560"/>
            <a:ext cx="9144000" cy="658368"/>
          </a:xfrm>
          <a:prstGeom prst="rect">
            <a:avLst/>
          </a:prstGeom>
          <a:solidFill>
            <a:srgbClr val="F5F8FF"/>
          </a:solidFill>
          <a:ln w="19050">
            <a:solidFill>
              <a:srgbClr val="92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925E00"/>
                </a:solidFill>
                <a:latin typeface="Courier New"/>
              </a:rPr>
              <a:t>Validated Data        </a:t>
            </a:r>
            <a:r>
              <a:rPr sz="1500">
                <a:solidFill>
                  <a:srgbClr val="334455"/>
                </a:solidFill>
                <a:latin typeface="Courier New"/>
              </a:rPr>
              <a:t>Ready for Digital Product Passports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FFFFFF"/>
                </a:solidFill>
              </a:rPr>
              <a:t>  Real-World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</a:rPr>
              <a:t>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34455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8288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26DB0"/>
                </a:solidFill>
              </a:rPr>
              <a:t>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8288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26DB0"/>
                </a:solidFill>
              </a:rPr>
              <a:t>After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860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455"/>
                </a:solidFill>
              </a:rPr>
              <a:t>Schema definition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1B1B"/>
                </a:solidFill>
              </a:rPr>
              <a:t>3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2860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67A40"/>
                </a:solidFill>
              </a:rPr>
              <a:t>1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944368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455"/>
                </a:solidFill>
              </a:rPr>
              <a:t>Unit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94436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1B1B"/>
                </a:solidFill>
              </a:rPr>
              <a:t>manual lookup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94436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67A40"/>
                </a:solidFill>
              </a:rPr>
              <a:t>automatic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02736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455"/>
                </a:solidFill>
              </a:rPr>
              <a:t>Validation errors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6027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1B1B"/>
                </a:solidFill>
              </a:rPr>
              <a:t>50+ (found late)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6027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67A40"/>
                </a:solidFill>
              </a:rPr>
              <a:t>2 (caught early)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61104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455"/>
                </a:solidFill>
              </a:rPr>
              <a:t>Consistency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2611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1B1B"/>
                </a:solidFill>
              </a:rPr>
              <a:t>varies per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2611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67A40"/>
                </a:solidFill>
              </a:rPr>
              <a:t>standardised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919472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455"/>
                </a:solidFill>
              </a:rPr>
              <a:t>Non-technical authors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94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1B1B"/>
                </a:solidFill>
              </a:rPr>
              <a:t>impossible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9194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67A40"/>
                </a:solidFill>
              </a:rPr>
              <a:t>point-and-click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5486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26DB0"/>
                </a:solidFill>
              </a:rPr>
              <a:t>🧱  Bricks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64592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</a:rPr>
              <a:t>Reusable, semantic data components — define once, use everywhere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8716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26DB0"/>
                </a:solidFill>
              </a:rPr>
              <a:t>🔗  SHACL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487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</a:rPr>
              <a:t>Standardised validation rules — machines can check your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2841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26DB0"/>
                </a:solidFill>
              </a:rPr>
              <a:t>✨  Enrichment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28416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</a:rPr>
              <a:t>Ontology-driven smart widgets — unit dropdowns appear automatically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6966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26DB0"/>
                </a:solidFill>
              </a:rPr>
              <a:t>🎨  Forms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169664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</a:rPr>
              <a:t>Automatic user interfaces — no coding needed for data 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1091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26DB0"/>
                </a:solidFill>
              </a:rPr>
              <a:t>♻️  Reuse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01091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</a:rPr>
              <a:t>Change a brick once → every form using it updates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75488"/>
          </a:xfrm>
          <a:prstGeom prst="rect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FFFFFF"/>
                </a:solidFill>
              </a:rPr>
              <a:t>  Getting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943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</a:rPr>
              <a:t>One Download, One Command</a:t>
            </a:r>
          </a:p>
        </p:txBody>
      </p:sp>
      <p:sp>
        <p:nvSpPr>
          <p:cNvPr id="4" name="Oval 3"/>
          <p:cNvSpPr/>
          <p:nvPr/>
        </p:nvSpPr>
        <p:spPr>
          <a:xfrm>
            <a:off x="365760" y="1691640"/>
            <a:ext cx="502920" cy="502920"/>
          </a:xfrm>
          <a:prstGeom prst="ellipse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728216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6DB0"/>
                </a:solidFill>
              </a:rPr>
              <a:t>Download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55648"/>
            <a:ext cx="8961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455"/>
                </a:solidFill>
              </a:rPr>
              <a:t>Clone or download the repository from GitHub</a:t>
            </a:r>
          </a:p>
        </p:txBody>
      </p:sp>
      <p:sp>
        <p:nvSpPr>
          <p:cNvPr id="7" name="Oval 6"/>
          <p:cNvSpPr/>
          <p:nvPr/>
        </p:nvSpPr>
        <p:spPr>
          <a:xfrm>
            <a:off x="365760" y="2651760"/>
            <a:ext cx="502920" cy="502920"/>
          </a:xfrm>
          <a:prstGeom prst="ellipse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88336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6DB0"/>
                </a:solidFill>
              </a:rPr>
              <a:t>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715768"/>
            <a:ext cx="8961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455"/>
                </a:solidFill>
              </a:rPr>
              <a:t>Execute the included start script:  dev-start-both-docker.sh</a:t>
            </a:r>
          </a:p>
        </p:txBody>
      </p:sp>
      <p:sp>
        <p:nvSpPr>
          <p:cNvPr id="10" name="Oval 9"/>
          <p:cNvSpPr/>
          <p:nvPr/>
        </p:nvSpPr>
        <p:spPr>
          <a:xfrm>
            <a:off x="365760" y="3611880"/>
            <a:ext cx="502920" cy="502920"/>
          </a:xfrm>
          <a:prstGeom prst="ellipse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48456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6DB0"/>
                </a:solidFill>
              </a:rPr>
              <a:t>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675888"/>
            <a:ext cx="8961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455"/>
                </a:solidFill>
              </a:rPr>
              <a:t>Browser opens automatically — no installation needed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" y="4572000"/>
            <a:ext cx="502920" cy="502920"/>
          </a:xfrm>
          <a:prstGeom prst="ellipse">
            <a:avLst/>
          </a:prstGeom>
          <a:solidFill>
            <a:srgbClr val="02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608576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6DB0"/>
                </a:solidFill>
              </a:rPr>
              <a:t>Your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636008"/>
            <a:ext cx="8961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455"/>
                </a:solidFill>
              </a:rPr>
              <a:t>Library folder stays on your machine — nothing is sent anywhere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852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25E00"/>
                </a:solidFill>
              </a:rPr>
              <a:t>The script handles everything — Docker is just the packaging, you never need to know it's there.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A1A2E"/>
                </a:solidFill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25E00"/>
                </a:solidFill>
              </a:rPr>
              <a:t>Q: Can non-programmers use this?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8444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4455"/>
                </a:solidFill>
              </a:rPr>
              <a:t>A: Yes — brick_app and schema_app are point-and-click web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25E00"/>
                </a:solidFill>
              </a:rPr>
              <a:t>Q: What about our own vocabulary?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445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4455"/>
                </a:solidFill>
              </a:rPr>
              <a:t>A: Load any RDF/OWL ontology — enrichment works with it automatically.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25E00"/>
                </a:solidFill>
              </a:rPr>
              <a:t>Q: Does it connect to our database?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0468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4455"/>
                </a:solidFill>
              </a:rPr>
              <a:t>A: Exported SHACL validates data; can export to JSON/XML/RDF for any system.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