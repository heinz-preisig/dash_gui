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88950"/>
  <p:notesSz cx="6858000" cy="9144000"/>
  <p:embeddedFontLst>
    <p:embeddedFont>
      <p:font typeface="Play"/>
      <p:regular r:id="rId29"/>
      <p:bold r:id="rId30"/>
    </p:embeddedFont>
    <p:embeddedFont>
      <p:font typeface="Arial Black"/>
      <p:regular r:id="rId31"/>
    </p:embeddedFont>
    <p:embeddedFont>
      <p:font typeface="Open Sans Light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alBlack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5.xml"/><Relationship Id="rId33" Type="http://schemas.openxmlformats.org/officeDocument/2006/relationships/font" Target="fonts/OpenSansLight-bold.fntdata"/><Relationship Id="rId10" Type="http://schemas.openxmlformats.org/officeDocument/2006/relationships/slide" Target="slides/slide4.xml"/><Relationship Id="rId32" Type="http://schemas.openxmlformats.org/officeDocument/2006/relationships/font" Target="fonts/OpenSansLight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Light-italic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852be8a7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d852be8a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fbcf5b21c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fbcf5b21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fbcf5b21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fbcf5b2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fbcf5b21c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fbcf5b21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bcf5b21c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fbcf5b21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fbcf5b21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fbcf5b2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fbcf5b21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fbcf5b21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fbcf5b21c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fbcf5b21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d852be8a7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d852be8a7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e0ac838dd_0_66:notes"/>
          <p:cNvSpPr txBox="1"/>
          <p:nvPr>
            <p:ph idx="1" type="body"/>
          </p:nvPr>
        </p:nvSpPr>
        <p:spPr>
          <a:xfrm>
            <a:off x="685512" y="4400259"/>
            <a:ext cx="54867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e0ac838dd_0_66:notes"/>
          <p:cNvSpPr/>
          <p:nvPr>
            <p:ph idx="2" type="sldImg"/>
          </p:nvPr>
        </p:nvSpPr>
        <p:spPr>
          <a:xfrm>
            <a:off x="520623" y="1143171"/>
            <a:ext cx="581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1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5.png"/></Relationships>
</file>

<file path=ppt/slideLayouts/_rels/slideLayout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jpg"/><Relationship Id="rId10" Type="http://schemas.openxmlformats.org/officeDocument/2006/relationships/image" Target="../media/image8.png"/><Relationship Id="rId13" Type="http://schemas.openxmlformats.org/officeDocument/2006/relationships/image" Target="../media/image10.png"/><Relationship Id="rId1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5" Type="http://schemas.openxmlformats.org/officeDocument/2006/relationships/image" Target="../media/image14.png"/><Relationship Id="rId14" Type="http://schemas.openxmlformats.org/officeDocument/2006/relationships/image" Target="../media/image16.png"/><Relationship Id="rId16" Type="http://schemas.openxmlformats.org/officeDocument/2006/relationships/image" Target="../media/image15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7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697" y="1091467"/>
            <a:ext cx="4454303" cy="422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452353" y="1807308"/>
            <a:ext cx="63924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00" lIns="94425" spcFirstLastPara="1" rIns="94425" wrap="square" tIns="472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7" u="none" cap="none" strike="noStrike">
                <a:solidFill>
                  <a:srgbClr val="4B8C33"/>
                </a:solidFill>
                <a:latin typeface="Arial Black"/>
                <a:ea typeface="Arial Black"/>
                <a:cs typeface="Arial Black"/>
                <a:sym typeface="Arial Black"/>
              </a:rPr>
              <a:t>Know Your Products!</a:t>
            </a:r>
            <a:br>
              <a:rPr b="0" i="0" lang="en-US" sz="33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3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433573" y="6399175"/>
            <a:ext cx="8856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00" lIns="94425" spcFirstLastPara="1" rIns="94425" wrap="square" tIns="472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r>
              <a:rPr b="0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CSA project has been funded by the European Commission for the programme HORIZON-CL4-2023-RESILIENCE-01, Grant Agreement No </a:t>
            </a:r>
            <a:r>
              <a:rPr b="1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101138510</a:t>
            </a:r>
            <a:endParaRPr b="0" i="0" sz="6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WIKKI LIMITED, UK participant in Horizon Europe Project DigiPass, is supported by UKRI grant number 10100819: </a:t>
            </a:r>
            <a:r>
              <a:rPr b="1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endParaRPr b="0" i="0" sz="6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0877" y="6226767"/>
            <a:ext cx="705498" cy="45630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6515517" y="6299865"/>
            <a:ext cx="47745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" u="none" cap="none" strike="noStrike">
                <a:solidFill>
                  <a:srgbClr val="A02B93"/>
                </a:solidFill>
                <a:latin typeface="Arial"/>
                <a:ea typeface="Arial"/>
                <a:cs typeface="Arial"/>
                <a:sym typeface="Arial"/>
              </a:rPr>
              <a:t>COORDINATION AND KNOWLEDGE SHARING ACROSS MATERIALS DEVELOPMENT COMMUNITIES (CSA):</a:t>
            </a:r>
            <a:endParaRPr b="0" i="0" sz="6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00075" y="6514000"/>
            <a:ext cx="4454400" cy="24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7200" lIns="94425" spcFirstLastPara="1" rIns="94425" wrap="square" tIns="47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9" u="none" cap="none" strike="noStrike">
                <a:solidFill>
                  <a:srgbClr val="4B8C33"/>
                </a:solidFill>
                <a:latin typeface="Open Sans"/>
                <a:ea typeface="Open Sans"/>
                <a:cs typeface="Open Sans"/>
                <a:sym typeface="Open Sans"/>
              </a:rPr>
              <a:t>Know Your Products!</a:t>
            </a:r>
            <a:endParaRPr b="0" i="0" sz="15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52353" y="885834"/>
            <a:ext cx="63924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00" lIns="94425" spcFirstLastPara="1" rIns="94425" wrap="square" tIns="472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95" u="none" cap="none" strike="noStrike">
                <a:solidFill>
                  <a:srgbClr val="4B8C33"/>
                </a:solidFill>
                <a:latin typeface="Arial Black"/>
                <a:ea typeface="Arial Black"/>
                <a:cs typeface="Arial Black"/>
                <a:sym typeface="Arial Black"/>
              </a:rPr>
              <a:t>DigiPass</a:t>
            </a:r>
            <a:endParaRPr b="0" i="0" sz="6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371075" y="2978100"/>
            <a:ext cx="11371800" cy="90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4000"/>
              <a:buNone/>
              <a:defRPr b="1" sz="4000">
                <a:solidFill>
                  <a:srgbClr val="E9713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6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894625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300"/>
              <a:buNone/>
              <a:defRPr sz="3600">
                <a:solidFill>
                  <a:srgbClr val="38BDF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15496" y="1197300"/>
            <a:ext cx="11358000" cy="48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>
              <a:spcBef>
                <a:spcPts val="1300"/>
              </a:spcBef>
              <a:spcAft>
                <a:spcPts val="0"/>
              </a:spcAft>
              <a:buSzPts val="2400"/>
              <a:buChar char="•"/>
              <a:defRPr/>
            </a:lvl1pPr>
            <a:lvl2pPr indent="-349250" lvl="1" marL="914400">
              <a:spcBef>
                <a:spcPts val="700"/>
              </a:spcBef>
              <a:spcAft>
                <a:spcPts val="0"/>
              </a:spcAft>
              <a:buSzPts val="1900"/>
              <a:buChar char="•"/>
              <a:defRPr/>
            </a:lvl2pPr>
            <a:lvl3pPr indent="-311150" lvl="2" marL="1371600">
              <a:spcBef>
                <a:spcPts val="700"/>
              </a:spcBef>
              <a:spcAft>
                <a:spcPts val="0"/>
              </a:spcAft>
              <a:buSzPts val="1300"/>
              <a:buChar char="•"/>
              <a:defRPr/>
            </a:lvl3pPr>
            <a:lvl4pPr indent="-298450" lvl="3" marL="18288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226322" y="223087"/>
            <a:ext cx="731419" cy="70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6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894625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300"/>
              <a:buNone/>
              <a:defRPr sz="3600">
                <a:solidFill>
                  <a:srgbClr val="38BDF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9pPr>
          </a:lstStyle>
          <a:p/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226322" y="223087"/>
            <a:ext cx="731419" cy="70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_Welt">
  <p:cSld name="Schlussfolie_Wel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579828" y="5635488"/>
            <a:ext cx="34158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FOR PEOPLE AND THEIR</a:t>
            </a:r>
            <a:br>
              <a:rPr b="0" i="0" lang="en-US" sz="2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FUTURE ENVIRONMENT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7660" y="5748704"/>
            <a:ext cx="952772" cy="63518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5803948" y="5349604"/>
            <a:ext cx="61014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DigiPass</a:t>
            </a:r>
            <a:r>
              <a:rPr lang="en-US" sz="1300">
                <a:solidFill>
                  <a:schemeClr val="dk1"/>
                </a:solidFill>
              </a:rPr>
              <a:t> project has been funded by the European Commission for the programme HORIZON-CL4-2023-RESILIENCE-01, 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Grant Agreement No </a:t>
            </a:r>
            <a:r>
              <a:rPr b="1" lang="en-US" sz="1300">
                <a:solidFill>
                  <a:schemeClr val="dk1"/>
                </a:solidFill>
              </a:rPr>
              <a:t>101138510</a:t>
            </a:r>
            <a:br>
              <a:rPr b="1"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WIKKI LIMITED, UK participant in Horizon Europe Project DigiPass, is supported by UKRI grant number </a:t>
            </a:r>
            <a:r>
              <a:rPr b="1" lang="en-US" sz="1300">
                <a:solidFill>
                  <a:schemeClr val="dk1"/>
                </a:solidFill>
              </a:rPr>
              <a:t>10100819: DigiPass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508" y="122449"/>
            <a:ext cx="2105884" cy="994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 rotWithShape="1">
          <a:blip r:embed="rId4">
            <a:alphaModFix/>
          </a:blip>
          <a:srcRect b="34934" l="0" r="0" t="0"/>
          <a:stretch/>
        </p:blipFill>
        <p:spPr>
          <a:xfrm>
            <a:off x="680966" y="4566468"/>
            <a:ext cx="2221588" cy="12748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7"/>
          <p:cNvGrpSpPr/>
          <p:nvPr/>
        </p:nvGrpSpPr>
        <p:grpSpPr>
          <a:xfrm>
            <a:off x="892209" y="1180075"/>
            <a:ext cx="10761651" cy="3023271"/>
            <a:chOff x="702492" y="1067753"/>
            <a:chExt cx="8073257" cy="2268020"/>
          </a:xfrm>
        </p:grpSpPr>
        <p:pic>
          <p:nvPicPr>
            <p:cNvPr id="52" name="Google Shape;5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2492" y="1067753"/>
              <a:ext cx="1096901" cy="86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75416" y="1285907"/>
              <a:ext cx="1700333" cy="424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11960" y="2313089"/>
              <a:ext cx="1104430" cy="21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64566" y="1332746"/>
              <a:ext cx="1883410" cy="5956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803135" y="1928361"/>
              <a:ext cx="1008714" cy="246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orange logo&#10;&#10;Description automatically generated" id="57" name="Google Shape;5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03637" y="2495140"/>
              <a:ext cx="653136" cy="5186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with letters and numbers&#10;&#10;Description automatically generated" id="58" name="Google Shape;58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67661" y="2240831"/>
              <a:ext cx="1115847" cy="356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337283" y="2844478"/>
              <a:ext cx="983829" cy="41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yellow logo&#10;&#10;Description automatically generated" id="60" name="Google Shape;60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38508" y="1304371"/>
              <a:ext cx="763664" cy="38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of a company&#10;&#10;Description automatically generated" id="61" name="Google Shape;61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03801" y="2313096"/>
              <a:ext cx="1152525" cy="328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a black square&#10;&#10;Description automatically generated with medium confidence" id="62" name="Google Shape;62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280778" y="2909885"/>
              <a:ext cx="1307727" cy="425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210622" y="2815523"/>
              <a:ext cx="501650" cy="501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type="title"/>
          </p:nvPr>
        </p:nvSpPr>
        <p:spPr>
          <a:xfrm>
            <a:off x="1884488" y="546720"/>
            <a:ext cx="84192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" type="subTitle"/>
          </p:nvPr>
        </p:nvSpPr>
        <p:spPr>
          <a:xfrm>
            <a:off x="747653" y="4447200"/>
            <a:ext cx="23877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9"/>
          <p:cNvSpPr txBox="1"/>
          <p:nvPr>
            <p:ph type="title"/>
          </p:nvPr>
        </p:nvSpPr>
        <p:spPr>
          <a:xfrm>
            <a:off x="1575606" y="2175400"/>
            <a:ext cx="9037800" cy="250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E8C07"/>
              </a:buClr>
              <a:buSzPts val="8000"/>
              <a:buNone/>
              <a:defRPr sz="8000">
                <a:solidFill>
                  <a:srgbClr val="2E8C07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84488" y="546720"/>
            <a:ext cx="84192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-Layout-1">
  <p:cSld name="Standard-Layout-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26022" y="145954"/>
            <a:ext cx="11354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26022" y="1028015"/>
            <a:ext cx="11354700" cy="5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Zeitachse">
  <p:cSld name="1_Zeitachs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/>
          <p:nvPr/>
        </p:nvSpPr>
        <p:spPr>
          <a:xfrm>
            <a:off x="1101238" y="0"/>
            <a:ext cx="11085928" cy="68580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81" name="Google Shape;8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8158" y="5827777"/>
            <a:ext cx="1520444" cy="57633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09328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609328" y="1604520"/>
            <a:ext cx="109698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9205263" y="6356367"/>
            <a:ext cx="214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www.batcat.info</a:t>
            </a:r>
            <a:endParaRPr sz="1700">
              <a:solidFill>
                <a:srgbClr val="E691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Art">
  <p:cSld name="SmartAr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609328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0" name="Google Shape;90;p14"/>
          <p:cNvSpPr/>
          <p:nvPr>
            <p:ph idx="2" type="dgm"/>
          </p:nvPr>
        </p:nvSpPr>
        <p:spPr>
          <a:xfrm>
            <a:off x="837990" y="2139084"/>
            <a:ext cx="10512900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>
            <a:off x="0" y="0"/>
            <a:ext cx="299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0" y="0"/>
            <a:ext cx="299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8966" y="6056557"/>
            <a:ext cx="1520444" cy="57633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>
            <p:ph idx="3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-white 1">
  <p:cSld name="BLANK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BLANK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0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" Type="http://schemas.openxmlformats.org/officeDocument/2006/relationships/image" Target="../media/image18.png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15" Type="http://schemas.openxmlformats.org/officeDocument/2006/relationships/image" Target="../media/image13.jpg"/><Relationship Id="rId14" Type="http://schemas.openxmlformats.org/officeDocument/2006/relationships/image" Target="../media/image37.png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23.jp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101324" y="0"/>
            <a:ext cx="11085928" cy="68580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7" name="Google Shape;7;p1"/>
          <p:cNvSpPr/>
          <p:nvPr/>
        </p:nvSpPr>
        <p:spPr>
          <a:xfrm>
            <a:off x="11756658" y="6471733"/>
            <a:ext cx="376200" cy="366300"/>
          </a:xfrm>
          <a:prstGeom prst="ellipse">
            <a:avLst/>
          </a:prstGeom>
          <a:noFill/>
          <a:ln cap="flat" cmpd="sng" w="12700">
            <a:solidFill>
              <a:srgbClr val="F1C23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" name="Google Shape;8;p1"/>
          <p:cNvSpPr/>
          <p:nvPr/>
        </p:nvSpPr>
        <p:spPr>
          <a:xfrm>
            <a:off x="467243" y="6493120"/>
            <a:ext cx="7890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119975" spcFirstLastPara="1" rIns="119975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5A5A5"/>
                </a:solidFill>
              </a:rPr>
              <a:t>AI3D -- Thessaloniki, Greece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09447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47" y="1604640"/>
            <a:ext cx="109698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rgbClr val="E69138"/>
                </a:solidFill>
              </a:defRPr>
            </a:lvl1pPr>
            <a:lvl2pPr lvl="1" algn="ctr">
              <a:buNone/>
              <a:defRPr sz="1700">
                <a:solidFill>
                  <a:srgbClr val="E69138"/>
                </a:solidFill>
              </a:defRPr>
            </a:lvl2pPr>
            <a:lvl3pPr lvl="2" algn="ctr">
              <a:buNone/>
              <a:defRPr sz="1700">
                <a:solidFill>
                  <a:srgbClr val="E69138"/>
                </a:solidFill>
              </a:defRPr>
            </a:lvl3pPr>
            <a:lvl4pPr lvl="3" algn="ctr">
              <a:buNone/>
              <a:defRPr sz="1700">
                <a:solidFill>
                  <a:srgbClr val="E69138"/>
                </a:solidFill>
              </a:defRPr>
            </a:lvl4pPr>
            <a:lvl5pPr lvl="4" algn="ctr">
              <a:buNone/>
              <a:defRPr sz="1700">
                <a:solidFill>
                  <a:srgbClr val="E69138"/>
                </a:solidFill>
              </a:defRPr>
            </a:lvl5pPr>
            <a:lvl6pPr lvl="5" algn="ctr">
              <a:buNone/>
              <a:defRPr sz="1700">
                <a:solidFill>
                  <a:srgbClr val="E69138"/>
                </a:solidFill>
              </a:defRPr>
            </a:lvl6pPr>
            <a:lvl7pPr lvl="6" algn="ctr">
              <a:buNone/>
              <a:defRPr sz="1700">
                <a:solidFill>
                  <a:srgbClr val="E69138"/>
                </a:solidFill>
              </a:defRPr>
            </a:lvl7pPr>
            <a:lvl8pPr lvl="7" algn="ctr">
              <a:buNone/>
              <a:defRPr sz="1700">
                <a:solidFill>
                  <a:srgbClr val="E69138"/>
                </a:solidFill>
              </a:defRPr>
            </a:lvl8pPr>
            <a:lvl9pPr lvl="8" algn="ctr">
              <a:buNone/>
              <a:defRPr sz="1700">
                <a:solidFill>
                  <a:srgbClr val="E69138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37846" y="6289200"/>
            <a:ext cx="1139117" cy="4311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519350" y="6566040"/>
            <a:ext cx="1807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89975" spcFirstLastPara="1" rIns="89975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strike="noStrike">
                <a:solidFill>
                  <a:srgbClr val="4B8C33"/>
                </a:solidFill>
                <a:latin typeface="Open Sans"/>
                <a:ea typeface="Open Sans"/>
                <a:cs typeface="Open Sans"/>
                <a:sym typeface="Open Sans"/>
              </a:rPr>
              <a:t>Know Your Products!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17"/>
          <p:cNvGrpSpPr/>
          <p:nvPr/>
        </p:nvGrpSpPr>
        <p:grpSpPr>
          <a:xfrm>
            <a:off x="5616834" y="1384131"/>
            <a:ext cx="6285514" cy="4323383"/>
            <a:chOff x="5618520" y="1384200"/>
            <a:chExt cx="6287400" cy="4324680"/>
          </a:xfrm>
        </p:grpSpPr>
        <p:pic>
          <p:nvPicPr>
            <p:cNvPr id="103" name="Google Shape;103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618520" y="1384200"/>
              <a:ext cx="1590840" cy="1247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39560" y="1624680"/>
              <a:ext cx="2466360" cy="614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94000" y="4417920"/>
              <a:ext cx="1601640" cy="306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07560" y="2522160"/>
              <a:ext cx="2732040" cy="863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162800" y="2595960"/>
              <a:ext cx="1462680" cy="357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orange logo&#10;&#10;Description automatically generated" id="108" name="Google Shape;10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56640" y="3067920"/>
              <a:ext cx="946800" cy="751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with letters and numbers&#10;&#10;Description automatically generated" id="109" name="Google Shape;109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148400" y="3456720"/>
              <a:ext cx="1618200" cy="516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863120" y="3619080"/>
              <a:ext cx="1426680" cy="60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yellow logo&#10;&#10;Description automatically generated" id="111" name="Google Shape;111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863120" y="1727640"/>
              <a:ext cx="1107000" cy="561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of a company&#10;&#10;Description automatically generated" id="112" name="Google Shape;112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053920" y="4825440"/>
              <a:ext cx="1671480" cy="475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a black square&#10;&#10;Description automatically generated with medium confidence" id="113" name="Google Shape;113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946080" y="4241880"/>
              <a:ext cx="1896480" cy="617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542280" y="4982040"/>
              <a:ext cx="726840" cy="726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17"/>
          <p:cNvGrpSpPr/>
          <p:nvPr/>
        </p:nvGrpSpPr>
        <p:grpSpPr>
          <a:xfrm>
            <a:off x="1007697" y="1134720"/>
            <a:ext cx="3966371" cy="4290420"/>
            <a:chOff x="1007999" y="1134720"/>
            <a:chExt cx="3967561" cy="4290420"/>
          </a:xfrm>
        </p:grpSpPr>
        <p:pic>
          <p:nvPicPr>
            <p:cNvPr id="116" name="Google Shape;116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rot="10800000">
              <a:off x="1007999" y="1134720"/>
              <a:ext cx="3967561" cy="3849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7"/>
            <p:cNvSpPr/>
            <p:nvPr/>
          </p:nvSpPr>
          <p:spPr>
            <a:xfrm>
              <a:off x="1589040" y="5061240"/>
              <a:ext cx="27822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89975" spcFirstLastPara="1" rIns="89975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 strike="noStrike">
                  <a:solidFill>
                    <a:schemeClr val="accent5"/>
                  </a:solidFill>
                  <a:latin typeface="Open Sans"/>
                  <a:ea typeface="Open Sans"/>
                  <a:cs typeface="Open Sans"/>
                  <a:sym typeface="Open Sans"/>
                </a:rPr>
                <a:t>Know Your Products!</a:t>
              </a:r>
              <a:endParaRPr b="0" sz="19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17"/>
          <p:cNvSpPr/>
          <p:nvPr/>
        </p:nvSpPr>
        <p:spPr>
          <a:xfrm>
            <a:off x="2789662" y="6383880"/>
            <a:ext cx="84399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89975" spcFirstLastPara="1" rIns="89975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r>
              <a:rPr b="0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CSA project has been funded by the European Commission for the programme HORIZON-CL4-2023-RESILIENCE-01, Grant Agreement No </a:t>
            </a:r>
            <a:r>
              <a:rPr b="1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101138510</a:t>
            </a:r>
            <a:endParaRPr b="0" sz="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WIKKI LIMITED, UK participant in Horizon Europe Project DigiPass, is supported by UKRI grant number 10100819: </a:t>
            </a:r>
            <a:r>
              <a:rPr b="1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endParaRPr b="0" sz="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230270" y="6215760"/>
            <a:ext cx="672312" cy="44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6679569" y="6287040"/>
            <a:ext cx="4550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COORDINATION AND KNOWLEDGE SHARING ACROSS MATERIALS DEVELOPMENT COMMUNITIES (CSA):</a:t>
            </a:r>
            <a:endParaRPr b="0" sz="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09328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609328" y="1604520"/>
            <a:ext cx="109698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r">
              <a:buNone/>
              <a:defRPr sz="1700">
                <a:solidFill>
                  <a:schemeClr val="dk1"/>
                </a:solidFill>
              </a:defRPr>
            </a:lvl1pPr>
            <a:lvl2pPr lvl="1" algn="r">
              <a:buNone/>
              <a:defRPr sz="1700">
                <a:solidFill>
                  <a:schemeClr val="dk1"/>
                </a:solidFill>
              </a:defRPr>
            </a:lvl2pPr>
            <a:lvl3pPr lvl="2" algn="r">
              <a:buNone/>
              <a:defRPr sz="1700">
                <a:solidFill>
                  <a:schemeClr val="dk1"/>
                </a:solidFill>
              </a:defRPr>
            </a:lvl3pPr>
            <a:lvl4pPr lvl="3" algn="r">
              <a:buNone/>
              <a:defRPr sz="1700">
                <a:solidFill>
                  <a:schemeClr val="dk1"/>
                </a:solidFill>
              </a:defRPr>
            </a:lvl4pPr>
            <a:lvl5pPr lvl="4" algn="r">
              <a:buNone/>
              <a:defRPr sz="1700">
                <a:solidFill>
                  <a:schemeClr val="dk1"/>
                </a:solidFill>
              </a:defRPr>
            </a:lvl5pPr>
            <a:lvl6pPr lvl="5" algn="r">
              <a:buNone/>
              <a:defRPr sz="1700">
                <a:solidFill>
                  <a:schemeClr val="dk1"/>
                </a:solidFill>
              </a:defRPr>
            </a:lvl6pPr>
            <a:lvl7pPr lvl="6" algn="r">
              <a:buNone/>
              <a:defRPr sz="1700">
                <a:solidFill>
                  <a:schemeClr val="dk1"/>
                </a:solidFill>
              </a:defRPr>
            </a:lvl7pPr>
            <a:lvl8pPr lvl="7" algn="r">
              <a:buNone/>
              <a:defRPr sz="1700">
                <a:solidFill>
                  <a:schemeClr val="dk1"/>
                </a:solidFill>
              </a:defRPr>
            </a:lvl8pPr>
            <a:lvl9pPr lvl="8" algn="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5601579" y="3942225"/>
            <a:ext cx="64233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Building Digital Product Passports with SHACL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5601580" y="4573050"/>
            <a:ext cx="43383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 visual approach to structured data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5601581" y="5161275"/>
            <a:ext cx="31209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No coding background required</a:t>
            </a:r>
            <a:endParaRPr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233650" y="2746875"/>
            <a:ext cx="11371800" cy="901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Bricks to Forms</a:t>
            </a:r>
            <a:endParaRPr/>
          </a:p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1308906" y="1078125"/>
            <a:ext cx="9037800" cy="250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Heinz A. Preisig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Process Systems Engineering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NTNU, Trondheim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Norway</a:t>
            </a:r>
            <a:endParaRPr sz="4000"/>
          </a:p>
        </p:txBody>
      </p:sp>
      <p:pic>
        <p:nvPicPr>
          <p:cNvPr id="141" name="Google Shape;141;p20" title="NTNU hovedlogo - farger - bred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1074" y="5927525"/>
            <a:ext cx="2320502" cy="4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20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5638" y="3854825"/>
            <a:ext cx="1870701" cy="187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4762113" y="5801725"/>
            <a:ext cx="19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e-mail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Product has a Story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415475" y="2006150"/>
            <a:ext cx="11358000" cy="3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rPr lang="en-US" sz="2200"/>
              <a:t>Pick any object in this room.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rPr lang="en-US" sz="2200"/>
              <a:t>Where was it made?  From what?  By whom?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rPr lang="en-US" sz="2200"/>
              <a:t>Is any material in it hazardous?  Can it be repaired?  Recycled?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rPr lang="en-US" sz="2200"/>
              <a:t>The data exists — somewhere.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rPr lang="en-US" sz="2200"/>
              <a:t>Spread across supplier spreadsheets, PDF certificates, email threads,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rPr lang="en-US" sz="2200"/>
              <a:t>ERP systems that don't talk to each other.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200"/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Product has a Story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415475" y="1567388"/>
            <a:ext cx="11358000" cy="41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A Digital Product Passport (DPP) is a simple idea: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  attach a structured, machine-readable data record to every product —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  like a passport for things instead of people.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Scan a QR code → get the verified data record,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instantly, in any language, readable by any system.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The EU is making this mandatory across many sectors: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/>
              <a:t>batteries, textiles, electronics, construction materials, machinery …</a:t>
            </a:r>
            <a:endParaRPr/>
          </a:p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Data Exists. Problem -- Agreement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415500" y="2129025"/>
            <a:ext cx="11241900" cy="30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Supplier A reports:   weight: 5 kg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Supplier B reports:   mass: 5000 g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Supplier C reports:   5              ← unit unknown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All three mean the same thing.  No computer can tell.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The problem is not missing data.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200"/>
              <a:t>It is that everyone describes the same thing differently.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200"/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Data Exists. Problem -- Agreement</a:t>
            </a:r>
            <a:endParaRPr/>
          </a:p>
        </p:txBody>
      </p:sp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346925" y="1570088"/>
            <a:ext cx="11495100" cy="4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For any DPP to work — regardless of product sector —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the data must be: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✓  Named consistently        ("mass", not "weight" or "Gewicht")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✓  Typed consistently        (number, not free text)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✓  Unitised consistently     (kg, g, lb — from an agreed list)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✓  Validated automatically   (catch errors before they propagate)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✓  Linked to shared meaning  (so any system interprets it identically)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This is a data standards problem — and it has a W3C standard solution.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/>
        </p:nvSpPr>
        <p:spPr>
          <a:xfrm>
            <a:off x="608085" y="121157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Digital Product Passports Are Hard</a:t>
            </a:r>
            <a:endParaRPr/>
          </a:p>
        </p:txBody>
      </p:sp>
      <p:sp>
        <p:nvSpPr>
          <p:cNvPr id="178" name="Google Shape;178;p25"/>
          <p:cNvSpPr/>
          <p:nvPr/>
        </p:nvSpPr>
        <p:spPr>
          <a:xfrm>
            <a:off x="645547" y="2063435"/>
            <a:ext cx="5303400" cy="4023300"/>
          </a:xfrm>
          <a:prstGeom prst="rect">
            <a:avLst/>
          </a:prstGeom>
          <a:solidFill>
            <a:srgbClr val="FFEDED"/>
          </a:solidFill>
          <a:ln cap="flat" cmpd="sng" w="19050">
            <a:solidFill>
              <a:srgbClr val="BF1B1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❌  TODAY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Company A says: 'weight: 5kg'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Company B says: 'mass: 5000g'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Company C says: '5'  (just a number!)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Computers can't understand this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Manual data entry &amp; errors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Compliance headaches</a:t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6240008" y="2063435"/>
            <a:ext cx="5303400" cy="4023300"/>
          </a:xfrm>
          <a:prstGeom prst="rect">
            <a:avLst/>
          </a:prstGeom>
          <a:solidFill>
            <a:srgbClr val="EDFFF3"/>
          </a:solidFill>
          <a:ln cap="flat" cmpd="sng" w="19050">
            <a:solidFill>
              <a:srgbClr val="167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✓  WITH SHACL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Product.weight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Must be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Must have a unit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Unit can only be: kg, g, lb, oz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Machines can validate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Forms guide data entry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Always consistent</a:t>
            </a:r>
            <a:endParaRPr/>
          </a:p>
        </p:txBody>
      </p:sp>
      <p:sp>
        <p:nvSpPr>
          <p:cNvPr id="180" name="Google Shape;180;p25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SHACL: Rules that Computers can read … 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415475" y="2184938"/>
            <a:ext cx="11358000" cy="29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200"/>
              <a:t>SHACL  (Shapes Constraint Language)  is a W3C standard for writing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200"/>
              <a:t>data rules that machines can automatically check and act on.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200"/>
              <a:t>"mass" must be present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200"/>
              <a:t>"mass" must be a decimal number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200"/>
              <a:t>its unit must come from an agreed list  (kg, g, lb, oz …)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200"/>
              <a:t>that list is linked to a shared ontology  (QUDT)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SHACL: Rules that Computers can read …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415475" y="2141588"/>
            <a:ext cx="11358000" cy="29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Write the rule once: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  ✓  any data claiming to be a DPP is validated against it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  ✓  a data-entry form is generated from it automatically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  ✓  any system — regardless of programming language or platform —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     can read, validate and exchange the data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SHACL: Rules that Computers can read</a:t>
            </a:r>
            <a:endParaRPr/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415500" y="1941188"/>
            <a:ext cx="11358000" cy="3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The key insight: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  The form is not designed separately from the data model.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  It is a direct consequence of the rule.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We use a battery DPP as our worked example throughout this talk.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rPr lang="en-US" sz="2200"/>
              <a:t>The approach works for any product, any sector.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3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200"/>
          </a:p>
        </p:txBody>
      </p:sp>
      <p:sp>
        <p:nvSpPr>
          <p:cNvPr id="202" name="Google Shape;202;p28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608085" y="113132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If Data Had Grammar?</a:t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608085" y="209144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Like grammar rules in language, data needs rules too.</a:t>
            </a:r>
            <a:endParaRPr/>
          </a:p>
        </p:txBody>
      </p:sp>
      <p:sp>
        <p:nvSpPr>
          <p:cNvPr id="209" name="Google Shape;209;p29"/>
          <p:cNvSpPr/>
          <p:nvPr/>
        </p:nvSpPr>
        <p:spPr>
          <a:xfrm>
            <a:off x="882405" y="2822965"/>
            <a:ext cx="10607100" cy="6858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❌  "The product weighs about 5kg usually"   (ambiguous)</a:t>
            </a:r>
            <a:endParaRPr/>
          </a:p>
        </p:txBody>
      </p:sp>
      <p:sp>
        <p:nvSpPr>
          <p:cNvPr id="210" name="Google Shape;210;p29"/>
          <p:cNvSpPr/>
          <p:nvPr/>
        </p:nvSpPr>
        <p:spPr>
          <a:xfrm>
            <a:off x="882405" y="3737365"/>
            <a:ext cx="10607100" cy="19203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✓   Product.weight  =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    type  → 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unit  →  kg  (or g, lb, oz)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required  →  yes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 checked  →  automatically</a:t>
            </a:r>
            <a:endParaRPr/>
          </a:p>
        </p:txBody>
      </p:sp>
      <p:sp>
        <p:nvSpPr>
          <p:cNvPr id="211" name="Google Shape;211;p29"/>
          <p:cNvSpPr txBox="1"/>
          <p:nvPr/>
        </p:nvSpPr>
        <p:spPr>
          <a:xfrm>
            <a:off x="608085" y="5931925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SHACL is the W3C standard for writing these rules.</a:t>
            </a:r>
            <a:endParaRPr/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Vision</a:t>
            </a:r>
            <a:endParaRPr/>
          </a:p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/>
        </p:nvSpPr>
        <p:spPr>
          <a:xfrm>
            <a:off x="365760" y="124042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Lego Bricks for Data Schemas</a:t>
            </a:r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365760" y="2154825"/>
            <a:ext cx="1143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Instead of writing rules from scratch every time → create reusable bricks once, snap them together.</a:t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>
            <a:off x="320025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🧱  Mass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number + unit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(kg, g, lb, oz, mg, t)</a:t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>
            <a:off x="3246108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🌡  Temperature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number + degrees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(°C, °F, K)</a:t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6172191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⚡  Battery Cap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number + unit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(kAh, Ah, mAh, C)</a:t>
            </a: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9098274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🏭  Manufacturer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name + ID + country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(linked data)</a:t>
            </a:r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365760" y="5810975"/>
            <a:ext cx="114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Define once → reuse across every product schema in your organisation.</a:t>
            </a:r>
            <a:endParaRPr/>
          </a:p>
        </p:txBody>
      </p:sp>
      <p:sp>
        <p:nvSpPr>
          <p:cNvPr id="225" name="Google Shape;225;p30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Brick Idea</a:t>
            </a:r>
            <a:endParaRPr/>
          </a:p>
        </p:txBody>
      </p:sp>
      <p:sp>
        <p:nvSpPr>
          <p:cNvPr id="226" name="Google Shape;226;p30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/>
        </p:nvSpPr>
        <p:spPr>
          <a:xfrm>
            <a:off x="326335" y="1165863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Creating a Reusable Brick</a:t>
            </a:r>
            <a:endParaRPr/>
          </a:p>
        </p:txBody>
      </p:sp>
      <p:sp>
        <p:nvSpPr>
          <p:cNvPr id="232" name="Google Shape;232;p31"/>
          <p:cNvSpPr txBox="1"/>
          <p:nvPr/>
        </p:nvSpPr>
        <p:spPr>
          <a:xfrm>
            <a:off x="326335" y="2080263"/>
            <a:ext cx="548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Point-and-click — no coding needed:</a:t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326325" y="2730475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Name    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BatteryCapacity</a:t>
            </a:r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326325" y="3297400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Path    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ex:batteryCapacity</a:t>
            </a:r>
            <a:endParaRPr/>
          </a:p>
        </p:txBody>
      </p:sp>
      <p:sp>
        <p:nvSpPr>
          <p:cNvPr id="235" name="Google Shape;235;p31"/>
          <p:cNvSpPr/>
          <p:nvPr/>
        </p:nvSpPr>
        <p:spPr>
          <a:xfrm>
            <a:off x="326325" y="3864325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Datatype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xsd:decimal</a:t>
            </a:r>
            <a:endParaRPr/>
          </a:p>
        </p:txBody>
      </p:sp>
      <p:sp>
        <p:nvSpPr>
          <p:cNvPr id="236" name="Google Shape;236;p31"/>
          <p:cNvSpPr/>
          <p:nvPr/>
        </p:nvSpPr>
        <p:spPr>
          <a:xfrm>
            <a:off x="326325" y="4431250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Class   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qudt:ElectricCharge   ← triggers magic ✨</a:t>
            </a:r>
            <a:endParaRPr/>
          </a:p>
        </p:txBody>
      </p:sp>
      <p:sp>
        <p:nvSpPr>
          <p:cNvPr id="237" name="Google Shape;237;p31"/>
          <p:cNvSpPr txBox="1"/>
          <p:nvPr/>
        </p:nvSpPr>
        <p:spPr>
          <a:xfrm>
            <a:off x="7721155" y="2361178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Result →</a:t>
            </a:r>
            <a:endParaRPr/>
          </a:p>
        </p:txBody>
      </p:sp>
      <p:sp>
        <p:nvSpPr>
          <p:cNvPr id="238" name="Google Shape;238;p31"/>
          <p:cNvSpPr/>
          <p:nvPr/>
        </p:nvSpPr>
        <p:spPr>
          <a:xfrm>
            <a:off x="7721150" y="2948950"/>
            <a:ext cx="4035300" cy="2743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Unit dropdown appears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automatically: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▼  Ampere-hour (Ah)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Milliampere-hour (mAh)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Coulomb (C)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Kiloampere-hour (kAh)</a:t>
            </a:r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The system looks up applicable units from the QUDT ontology — no manual list needed.</a:t>
            </a:r>
            <a:endParaRPr/>
          </a:p>
        </p:txBody>
      </p:sp>
      <p:sp>
        <p:nvSpPr>
          <p:cNvPr id="240" name="Google Shape;240;p31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Brick Editor</a:t>
            </a:r>
            <a:endParaRPr/>
          </a:p>
        </p:txBody>
      </p:sp>
      <p:sp>
        <p:nvSpPr>
          <p:cNvPr id="241" name="Google Shape;241;p31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/>
          <p:nvPr/>
        </p:nvSpPr>
        <p:spPr>
          <a:xfrm>
            <a:off x="365750" y="1000825"/>
            <a:ext cx="11430000" cy="53991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EV Battery Schema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Battery Identification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Model Number      (text)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Serial Number     (text)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Manufacturing Date (date)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Manufacturer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├── Company Name  (text)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├── EORI / ID     (text)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    └── Country       (dropdown)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Physical Properties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Mass           ← [Mass brick]        → unit dropdown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Dimensions     ← [Dimensions brick]  → unit dropdown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Capacity       ← [BatteryCapacity]   → unit dropdown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Min Temperature ← [Temperature brick] → unit dropdown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Max Temperature ← [Temperature brick] → unit dropdown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Environmental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Carbon Footprint  ← [CO₂ brick]      → unit dropdown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Recyclability     ← [Percent brick]  → per material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└── Material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Component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│   └── Cathode       ← [Cathode brick]  → chemistry dropdown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Composition       ← [Composition]    → substance vocabulary</a:t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245185" y="1468065"/>
            <a:ext cx="114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Visual tree editor — drag bricks in, set connections, done.</a:t>
            </a:r>
            <a:endParaRPr/>
          </a:p>
        </p:txBody>
      </p:sp>
      <p:sp>
        <p:nvSpPr>
          <p:cNvPr id="248" name="Google Shape;248;p32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Schema Editor -- Assemble Schema</a:t>
            </a:r>
            <a:endParaRPr/>
          </a:p>
        </p:txBody>
      </p:sp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/>
        </p:nvSpPr>
        <p:spPr>
          <a:xfrm>
            <a:off x="402360" y="121892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Magic: One Brick, Three Things</a:t>
            </a:r>
            <a:endParaRPr/>
          </a:p>
        </p:txBody>
      </p:sp>
      <p:sp>
        <p:nvSpPr>
          <p:cNvPr id="255" name="Google Shape;255;p33"/>
          <p:cNvSpPr txBox="1"/>
          <p:nvPr/>
        </p:nvSpPr>
        <p:spPr>
          <a:xfrm>
            <a:off x="3877080" y="4007845"/>
            <a:ext cx="45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56" name="Google Shape;256;p33"/>
          <p:cNvSpPr txBox="1"/>
          <p:nvPr/>
        </p:nvSpPr>
        <p:spPr>
          <a:xfrm>
            <a:off x="7763279" y="4007845"/>
            <a:ext cx="45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57" name="Google Shape;257;p33"/>
          <p:cNvSpPr txBox="1"/>
          <p:nvPr/>
        </p:nvSpPr>
        <p:spPr>
          <a:xfrm>
            <a:off x="310920" y="2270485"/>
            <a:ext cx="374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Brick (JSON)</a:t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310920" y="2819125"/>
            <a:ext cx="3794700" cy="3200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name: 'Mass',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datatype: xsd:decimal,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class: qudt:Mass,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units: [kg,g,lb,...]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59" name="Google Shape;259;p33"/>
          <p:cNvSpPr txBox="1"/>
          <p:nvPr/>
        </p:nvSpPr>
        <p:spPr>
          <a:xfrm>
            <a:off x="4197120" y="2270485"/>
            <a:ext cx="374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SHACL Rules</a:t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4197120" y="2819125"/>
            <a:ext cx="3794700" cy="3200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sh:property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sh:path ex:mass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sh:datatype xsd:decimal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sh:class qudt:Mass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sh:in (kg g lb oz)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] .</a:t>
            </a:r>
            <a:endParaRPr/>
          </a:p>
        </p:txBody>
      </p:sp>
      <p:sp>
        <p:nvSpPr>
          <p:cNvPr id="261" name="Google Shape;261;p33"/>
          <p:cNvSpPr txBox="1"/>
          <p:nvPr/>
        </p:nvSpPr>
        <p:spPr>
          <a:xfrm>
            <a:off x="8083320" y="2270485"/>
            <a:ext cx="374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User Form</a:t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8083320" y="2819125"/>
            <a:ext cx="3794700" cy="3200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Mass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┌─────────┬──────┐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│  5      │ ▼ kg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└─────────┴──────┘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Change brick once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→ all forms update</a:t>
            </a:r>
            <a:endParaRPr/>
          </a:p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Source → Many Outputs</a:t>
            </a:r>
            <a:endParaRPr/>
          </a:p>
        </p:txBody>
      </p:sp>
      <p:sp>
        <p:nvSpPr>
          <p:cNvPr id="264" name="Google Shape;264;p33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/>
        </p:nvSpPr>
        <p:spPr>
          <a:xfrm>
            <a:off x="594360" y="1217613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Smart Widgets from Context</a:t>
            </a:r>
            <a:endParaRPr/>
          </a:p>
        </p:txBody>
      </p:sp>
      <p:sp>
        <p:nvSpPr>
          <p:cNvPr id="270" name="Google Shape;270;p34"/>
          <p:cNvSpPr/>
          <p:nvPr/>
        </p:nvSpPr>
        <p:spPr>
          <a:xfrm>
            <a:off x="685800" y="236061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1371600" y="240633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type:  qudt:Mass</a:t>
            </a:r>
            <a:endParaRPr/>
          </a:p>
        </p:txBody>
      </p:sp>
      <p:sp>
        <p:nvSpPr>
          <p:cNvPr id="272" name="Google Shape;272;p34"/>
          <p:cNvSpPr txBox="1"/>
          <p:nvPr/>
        </p:nvSpPr>
        <p:spPr>
          <a:xfrm>
            <a:off x="795528" y="2863533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73" name="Google Shape;273;p34"/>
          <p:cNvSpPr/>
          <p:nvPr/>
        </p:nvSpPr>
        <p:spPr>
          <a:xfrm>
            <a:off x="685800" y="3320732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1371600" y="336645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System queries QUDT ontology</a:t>
            </a:r>
            <a:endParaRPr/>
          </a:p>
        </p:txBody>
      </p:sp>
      <p:sp>
        <p:nvSpPr>
          <p:cNvPr id="275" name="Google Shape;275;p34"/>
          <p:cNvSpPr txBox="1"/>
          <p:nvPr/>
        </p:nvSpPr>
        <p:spPr>
          <a:xfrm>
            <a:off x="795528" y="3823653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76" name="Google Shape;276;p34"/>
          <p:cNvSpPr/>
          <p:nvPr/>
        </p:nvSpPr>
        <p:spPr>
          <a:xfrm>
            <a:off x="685800" y="428085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7" name="Google Shape;277;p34"/>
          <p:cNvSpPr txBox="1"/>
          <p:nvPr/>
        </p:nvSpPr>
        <p:spPr>
          <a:xfrm>
            <a:off x="1371600" y="432657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Finds 6 applicable units</a:t>
            </a:r>
            <a:endParaRPr/>
          </a:p>
        </p:txBody>
      </p:sp>
      <p:sp>
        <p:nvSpPr>
          <p:cNvPr id="278" name="Google Shape;278;p34"/>
          <p:cNvSpPr txBox="1"/>
          <p:nvPr/>
        </p:nvSpPr>
        <p:spPr>
          <a:xfrm>
            <a:off x="795528" y="4783773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79" name="Google Shape;279;p34"/>
          <p:cNvSpPr/>
          <p:nvPr/>
        </p:nvSpPr>
        <p:spPr>
          <a:xfrm>
            <a:off x="685800" y="524097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0" name="Google Shape;280;p34"/>
          <p:cNvSpPr txBox="1"/>
          <p:nvPr/>
        </p:nvSpPr>
        <p:spPr>
          <a:xfrm>
            <a:off x="1371600" y="528669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Creates unit dropdown automatically</a:t>
            </a:r>
            <a:endParaRPr/>
          </a:p>
        </p:txBody>
      </p:sp>
      <p:sp>
        <p:nvSpPr>
          <p:cNvPr id="281" name="Google Shape;281;p3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Works for any physical quantity: temperature, pressure, energy, voltage …</a:t>
            </a:r>
            <a:endParaRPr/>
          </a:p>
        </p:txBody>
      </p:sp>
      <p:sp>
        <p:nvSpPr>
          <p:cNvPr id="282" name="Google Shape;282;p34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Enrichment</a:t>
            </a:r>
            <a:r>
              <a:rPr lang="en-US"/>
              <a:t> Engine</a:t>
            </a:r>
            <a:endParaRPr/>
          </a:p>
        </p:txBody>
      </p:sp>
      <p:sp>
        <p:nvSpPr>
          <p:cNvPr id="283" name="Google Shape;283;p34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/>
        </p:nvSpPr>
        <p:spPr>
          <a:xfrm>
            <a:off x="415500" y="1045850"/>
            <a:ext cx="1116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It All Connects</a:t>
            </a:r>
            <a:endParaRPr/>
          </a:p>
        </p:txBody>
      </p:sp>
      <p:sp>
        <p:nvSpPr>
          <p:cNvPr id="289" name="Google Shape;289;p35"/>
          <p:cNvSpPr/>
          <p:nvPr/>
        </p:nvSpPr>
        <p:spPr>
          <a:xfrm>
            <a:off x="415500" y="1868800"/>
            <a:ext cx="113442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3344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Shared Ontologies     </a:t>
            </a:r>
            <a:r>
              <a:rPr b="0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QUDT · Schema.org · FOAF · SKOS  (17 vocabularies)</a:t>
            </a:r>
            <a:endParaRPr sz="2000"/>
          </a:p>
        </p:txBody>
      </p:sp>
      <p:sp>
        <p:nvSpPr>
          <p:cNvPr id="290" name="Google Shape;290;p35"/>
          <p:cNvSpPr/>
          <p:nvPr/>
        </p:nvSpPr>
        <p:spPr>
          <a:xfrm>
            <a:off x="415500" y="2628060"/>
            <a:ext cx="113442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Brick Library         </a:t>
            </a:r>
            <a:r>
              <a:rPr b="0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Reusable building blocks (JSON)</a:t>
            </a:r>
            <a:endParaRPr sz="2000"/>
          </a:p>
        </p:txBody>
      </p:sp>
      <p:sp>
        <p:nvSpPr>
          <p:cNvPr id="291" name="Google Shape;291;p35"/>
          <p:cNvSpPr/>
          <p:nvPr/>
        </p:nvSpPr>
        <p:spPr>
          <a:xfrm>
            <a:off x="415500" y="3387320"/>
            <a:ext cx="113442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Schema Composer       </a:t>
            </a:r>
            <a:r>
              <a:rPr b="0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Assemble bricks into product blueprints</a:t>
            </a:r>
            <a:endParaRPr sz="2000"/>
          </a:p>
        </p:txBody>
      </p:sp>
      <p:sp>
        <p:nvSpPr>
          <p:cNvPr id="292" name="Google Shape;292;p35"/>
          <p:cNvSpPr/>
          <p:nvPr/>
        </p:nvSpPr>
        <p:spPr>
          <a:xfrm>
            <a:off x="415500" y="4146580"/>
            <a:ext cx="113442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3344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SHACL Exporter        </a:t>
            </a:r>
            <a:r>
              <a:rPr b="0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Generates validation rules (Turtle)</a:t>
            </a:r>
            <a:endParaRPr sz="2000"/>
          </a:p>
        </p:txBody>
      </p:sp>
      <p:sp>
        <p:nvSpPr>
          <p:cNvPr id="293" name="Google Shape;293;p35"/>
          <p:cNvSpPr/>
          <p:nvPr/>
        </p:nvSpPr>
        <p:spPr>
          <a:xfrm>
            <a:off x="415500" y="4905840"/>
            <a:ext cx="113442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167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67A40"/>
                </a:solidFill>
                <a:latin typeface="Courier New"/>
                <a:ea typeface="Courier New"/>
                <a:cs typeface="Courier New"/>
                <a:sym typeface="Courier New"/>
              </a:rPr>
              <a:t>Form Generator        </a:t>
            </a:r>
            <a:r>
              <a:rPr b="0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HTML interface the data-entry clerk sees</a:t>
            </a:r>
            <a:endParaRPr sz="2000"/>
          </a:p>
        </p:txBody>
      </p:sp>
      <p:sp>
        <p:nvSpPr>
          <p:cNvPr id="294" name="Google Shape;294;p35"/>
          <p:cNvSpPr/>
          <p:nvPr/>
        </p:nvSpPr>
        <p:spPr>
          <a:xfrm>
            <a:off x="415500" y="5665100"/>
            <a:ext cx="113442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925E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25E00"/>
                </a:solidFill>
                <a:latin typeface="Courier New"/>
                <a:ea typeface="Courier New"/>
                <a:cs typeface="Courier New"/>
                <a:sym typeface="Courier New"/>
              </a:rPr>
              <a:t>Validated Data        </a:t>
            </a:r>
            <a:r>
              <a:rPr b="0" i="0" lang="en-US" sz="20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Ready for Digital Product Passports</a:t>
            </a:r>
            <a:endParaRPr sz="2000"/>
          </a:p>
        </p:txBody>
      </p:sp>
      <p:sp>
        <p:nvSpPr>
          <p:cNvPr id="295" name="Google Shape;295;p35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296" name="Google Shape;296;p35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/>
        </p:nvSpPr>
        <p:spPr>
          <a:xfrm>
            <a:off x="391635" y="107917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/>
          </a:p>
        </p:txBody>
      </p:sp>
      <p:sp>
        <p:nvSpPr>
          <p:cNvPr id="302" name="Google Shape;302;p36"/>
          <p:cNvSpPr txBox="1"/>
          <p:nvPr/>
        </p:nvSpPr>
        <p:spPr>
          <a:xfrm>
            <a:off x="391635" y="2222175"/>
            <a:ext cx="41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6"/>
          <p:cNvSpPr txBox="1"/>
          <p:nvPr/>
        </p:nvSpPr>
        <p:spPr>
          <a:xfrm>
            <a:off x="4780755" y="2222175"/>
            <a:ext cx="411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2400"/>
          </a:p>
        </p:txBody>
      </p:sp>
      <p:sp>
        <p:nvSpPr>
          <p:cNvPr id="304" name="Google Shape;304;p36"/>
          <p:cNvSpPr txBox="1"/>
          <p:nvPr/>
        </p:nvSpPr>
        <p:spPr>
          <a:xfrm>
            <a:off x="8529795" y="2222175"/>
            <a:ext cx="411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2400"/>
          </a:p>
        </p:txBody>
      </p:sp>
      <p:sp>
        <p:nvSpPr>
          <p:cNvPr id="305" name="Google Shape;305;p36"/>
          <p:cNvSpPr txBox="1"/>
          <p:nvPr/>
        </p:nvSpPr>
        <p:spPr>
          <a:xfrm>
            <a:off x="391635" y="2679375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Schema definition time</a:t>
            </a:r>
            <a:endParaRPr sz="2400"/>
          </a:p>
        </p:txBody>
      </p:sp>
      <p:sp>
        <p:nvSpPr>
          <p:cNvPr id="306" name="Google Shape;306;p36"/>
          <p:cNvSpPr txBox="1"/>
          <p:nvPr/>
        </p:nvSpPr>
        <p:spPr>
          <a:xfrm>
            <a:off x="4780755" y="2679375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3 months</a:t>
            </a:r>
            <a:endParaRPr sz="2400"/>
          </a:p>
        </p:txBody>
      </p:sp>
      <p:sp>
        <p:nvSpPr>
          <p:cNvPr id="307" name="Google Shape;307;p36"/>
          <p:cNvSpPr txBox="1"/>
          <p:nvPr/>
        </p:nvSpPr>
        <p:spPr>
          <a:xfrm>
            <a:off x="8529795" y="2679375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1 week</a:t>
            </a:r>
            <a:endParaRPr sz="2400"/>
          </a:p>
        </p:txBody>
      </p:sp>
      <p:sp>
        <p:nvSpPr>
          <p:cNvPr id="308" name="Google Shape;308;p36"/>
          <p:cNvSpPr txBox="1"/>
          <p:nvPr/>
        </p:nvSpPr>
        <p:spPr>
          <a:xfrm>
            <a:off x="391635" y="3337743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Unit configuration</a:t>
            </a:r>
            <a:endParaRPr sz="2400"/>
          </a:p>
        </p:txBody>
      </p:sp>
      <p:sp>
        <p:nvSpPr>
          <p:cNvPr id="309" name="Google Shape;309;p36"/>
          <p:cNvSpPr txBox="1"/>
          <p:nvPr/>
        </p:nvSpPr>
        <p:spPr>
          <a:xfrm>
            <a:off x="4780755" y="3337743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manual lookup</a:t>
            </a:r>
            <a:endParaRPr sz="2400"/>
          </a:p>
        </p:txBody>
      </p:sp>
      <p:sp>
        <p:nvSpPr>
          <p:cNvPr id="310" name="Google Shape;310;p36"/>
          <p:cNvSpPr txBox="1"/>
          <p:nvPr/>
        </p:nvSpPr>
        <p:spPr>
          <a:xfrm>
            <a:off x="8529795" y="3337743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automatic</a:t>
            </a:r>
            <a:endParaRPr sz="2400"/>
          </a:p>
        </p:txBody>
      </p:sp>
      <p:sp>
        <p:nvSpPr>
          <p:cNvPr id="311" name="Google Shape;311;p36"/>
          <p:cNvSpPr txBox="1"/>
          <p:nvPr/>
        </p:nvSpPr>
        <p:spPr>
          <a:xfrm>
            <a:off x="391635" y="3996111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Validation errors</a:t>
            </a:r>
            <a:endParaRPr sz="2400"/>
          </a:p>
        </p:txBody>
      </p:sp>
      <p:sp>
        <p:nvSpPr>
          <p:cNvPr id="312" name="Google Shape;312;p36"/>
          <p:cNvSpPr txBox="1"/>
          <p:nvPr/>
        </p:nvSpPr>
        <p:spPr>
          <a:xfrm>
            <a:off x="4780755" y="3996111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50+ (found late)</a:t>
            </a:r>
            <a:endParaRPr sz="2400"/>
          </a:p>
        </p:txBody>
      </p:sp>
      <p:sp>
        <p:nvSpPr>
          <p:cNvPr id="313" name="Google Shape;313;p36"/>
          <p:cNvSpPr txBox="1"/>
          <p:nvPr/>
        </p:nvSpPr>
        <p:spPr>
          <a:xfrm>
            <a:off x="8529795" y="3996111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2 (caught early)</a:t>
            </a:r>
            <a:endParaRPr sz="2400"/>
          </a:p>
        </p:txBody>
      </p:sp>
      <p:sp>
        <p:nvSpPr>
          <p:cNvPr id="314" name="Google Shape;314;p36"/>
          <p:cNvSpPr txBox="1"/>
          <p:nvPr/>
        </p:nvSpPr>
        <p:spPr>
          <a:xfrm>
            <a:off x="391635" y="4654479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sz="2400"/>
          </a:p>
        </p:txBody>
      </p:sp>
      <p:sp>
        <p:nvSpPr>
          <p:cNvPr id="315" name="Google Shape;315;p36"/>
          <p:cNvSpPr txBox="1"/>
          <p:nvPr/>
        </p:nvSpPr>
        <p:spPr>
          <a:xfrm>
            <a:off x="4780755" y="4654479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varies per team</a:t>
            </a:r>
            <a:endParaRPr sz="2400"/>
          </a:p>
        </p:txBody>
      </p:sp>
      <p:sp>
        <p:nvSpPr>
          <p:cNvPr id="316" name="Google Shape;316;p36"/>
          <p:cNvSpPr txBox="1"/>
          <p:nvPr/>
        </p:nvSpPr>
        <p:spPr>
          <a:xfrm>
            <a:off x="8529795" y="4654479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standardised</a:t>
            </a:r>
            <a:endParaRPr sz="2400"/>
          </a:p>
        </p:txBody>
      </p:sp>
      <p:sp>
        <p:nvSpPr>
          <p:cNvPr id="317" name="Google Shape;317;p36"/>
          <p:cNvSpPr txBox="1"/>
          <p:nvPr/>
        </p:nvSpPr>
        <p:spPr>
          <a:xfrm>
            <a:off x="391635" y="5312847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Non-technical authors</a:t>
            </a:r>
            <a:endParaRPr sz="2400"/>
          </a:p>
        </p:txBody>
      </p:sp>
      <p:sp>
        <p:nvSpPr>
          <p:cNvPr id="318" name="Google Shape;318;p36"/>
          <p:cNvSpPr txBox="1"/>
          <p:nvPr/>
        </p:nvSpPr>
        <p:spPr>
          <a:xfrm>
            <a:off x="4780755" y="5312847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impossible</a:t>
            </a:r>
            <a:endParaRPr sz="2400"/>
          </a:p>
        </p:txBody>
      </p:sp>
      <p:sp>
        <p:nvSpPr>
          <p:cNvPr id="319" name="Google Shape;319;p36"/>
          <p:cNvSpPr txBox="1"/>
          <p:nvPr/>
        </p:nvSpPr>
        <p:spPr>
          <a:xfrm>
            <a:off x="8529795" y="5312847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point-and-click</a:t>
            </a:r>
            <a:endParaRPr sz="2400"/>
          </a:p>
        </p:txBody>
      </p:sp>
      <p:sp>
        <p:nvSpPr>
          <p:cNvPr id="320" name="Google Shape;320;p36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Real-World Impact</a:t>
            </a:r>
            <a:endParaRPr/>
          </a:p>
        </p:txBody>
      </p:sp>
      <p:sp>
        <p:nvSpPr>
          <p:cNvPr id="321" name="Google Shape;321;p36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7"/>
          <p:cNvSpPr txBox="1"/>
          <p:nvPr/>
        </p:nvSpPr>
        <p:spPr>
          <a:xfrm>
            <a:off x="457200" y="1645920"/>
            <a:ext cx="292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🧱  Bricks</a:t>
            </a:r>
            <a:endParaRPr sz="2200"/>
          </a:p>
        </p:txBody>
      </p:sp>
      <p:sp>
        <p:nvSpPr>
          <p:cNvPr id="328" name="Google Shape;328;p37"/>
          <p:cNvSpPr txBox="1"/>
          <p:nvPr/>
        </p:nvSpPr>
        <p:spPr>
          <a:xfrm>
            <a:off x="3474720" y="1645920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Reusable, semantic data components — define once, use everywhere</a:t>
            </a:r>
            <a:endParaRPr sz="2200"/>
          </a:p>
        </p:txBody>
      </p:sp>
      <p:sp>
        <p:nvSpPr>
          <p:cNvPr id="329" name="Google Shape;329;p37"/>
          <p:cNvSpPr txBox="1"/>
          <p:nvPr/>
        </p:nvSpPr>
        <p:spPr>
          <a:xfrm>
            <a:off x="457200" y="2487168"/>
            <a:ext cx="292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🔗  SHACL</a:t>
            </a:r>
            <a:endParaRPr sz="2200"/>
          </a:p>
        </p:txBody>
      </p:sp>
      <p:sp>
        <p:nvSpPr>
          <p:cNvPr id="330" name="Google Shape;330;p37"/>
          <p:cNvSpPr txBox="1"/>
          <p:nvPr/>
        </p:nvSpPr>
        <p:spPr>
          <a:xfrm>
            <a:off x="3474720" y="2487168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Standardised validation rules — machines can check your data</a:t>
            </a:r>
            <a:endParaRPr sz="2200"/>
          </a:p>
        </p:txBody>
      </p:sp>
      <p:sp>
        <p:nvSpPr>
          <p:cNvPr id="331" name="Google Shape;331;p37"/>
          <p:cNvSpPr txBox="1"/>
          <p:nvPr/>
        </p:nvSpPr>
        <p:spPr>
          <a:xfrm>
            <a:off x="457200" y="3328416"/>
            <a:ext cx="292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✨  Enrichment</a:t>
            </a:r>
            <a:endParaRPr sz="2200"/>
          </a:p>
        </p:txBody>
      </p:sp>
      <p:sp>
        <p:nvSpPr>
          <p:cNvPr id="332" name="Google Shape;332;p37"/>
          <p:cNvSpPr txBox="1"/>
          <p:nvPr/>
        </p:nvSpPr>
        <p:spPr>
          <a:xfrm>
            <a:off x="3474725" y="3328425"/>
            <a:ext cx="8601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Ontology-driven smart widgets — unit dropdowns appear automatically</a:t>
            </a:r>
            <a:endParaRPr sz="2200"/>
          </a:p>
        </p:txBody>
      </p:sp>
      <p:sp>
        <p:nvSpPr>
          <p:cNvPr id="333" name="Google Shape;333;p37"/>
          <p:cNvSpPr txBox="1"/>
          <p:nvPr/>
        </p:nvSpPr>
        <p:spPr>
          <a:xfrm>
            <a:off x="457200" y="4169664"/>
            <a:ext cx="292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🎨  Forms</a:t>
            </a:r>
            <a:endParaRPr sz="2200"/>
          </a:p>
        </p:txBody>
      </p:sp>
      <p:sp>
        <p:nvSpPr>
          <p:cNvPr id="334" name="Google Shape;334;p37"/>
          <p:cNvSpPr txBox="1"/>
          <p:nvPr/>
        </p:nvSpPr>
        <p:spPr>
          <a:xfrm>
            <a:off x="3474720" y="4169664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Automatic user interfaces — no coding needed for data entry</a:t>
            </a:r>
            <a:endParaRPr sz="2200"/>
          </a:p>
        </p:txBody>
      </p:sp>
      <p:sp>
        <p:nvSpPr>
          <p:cNvPr id="335" name="Google Shape;335;p37"/>
          <p:cNvSpPr txBox="1"/>
          <p:nvPr/>
        </p:nvSpPr>
        <p:spPr>
          <a:xfrm>
            <a:off x="457200" y="5010912"/>
            <a:ext cx="292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♻️  Reuse</a:t>
            </a:r>
            <a:endParaRPr sz="2200"/>
          </a:p>
        </p:txBody>
      </p:sp>
      <p:sp>
        <p:nvSpPr>
          <p:cNvPr id="336" name="Google Shape;336;p37"/>
          <p:cNvSpPr txBox="1"/>
          <p:nvPr/>
        </p:nvSpPr>
        <p:spPr>
          <a:xfrm>
            <a:off x="3474720" y="5010912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Change a brick once → every form using it updates</a:t>
            </a:r>
            <a:endParaRPr sz="2200"/>
          </a:p>
        </p:txBody>
      </p:sp>
      <p:sp>
        <p:nvSpPr>
          <p:cNvPr id="337" name="Google Shape;337;p37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Takaways</a:t>
            </a:r>
            <a:endParaRPr/>
          </a:p>
        </p:txBody>
      </p:sp>
      <p:sp>
        <p:nvSpPr>
          <p:cNvPr id="338" name="Google Shape;338;p37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Getting Started</a:t>
            </a:r>
            <a:endParaRPr/>
          </a:p>
        </p:txBody>
      </p:sp>
      <p:sp>
        <p:nvSpPr>
          <p:cNvPr id="344" name="Google Shape;344;p38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38"/>
          <p:cNvSpPr/>
          <p:nvPr/>
        </p:nvSpPr>
        <p:spPr>
          <a:xfrm>
            <a:off x="436325" y="241396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100"/>
          </a:p>
        </p:txBody>
      </p:sp>
      <p:sp>
        <p:nvSpPr>
          <p:cNvPr id="346" name="Google Shape;346;p38"/>
          <p:cNvSpPr txBox="1"/>
          <p:nvPr/>
        </p:nvSpPr>
        <p:spPr>
          <a:xfrm>
            <a:off x="1122125" y="2459675"/>
            <a:ext cx="182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 b="1" sz="2100">
              <a:solidFill>
                <a:srgbClr val="3C78D8"/>
              </a:solidFill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648450" y="1137000"/>
            <a:ext cx="633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One Download, One Command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48" name="Google Shape;348;p38"/>
          <p:cNvSpPr txBox="1"/>
          <p:nvPr/>
        </p:nvSpPr>
        <p:spPr>
          <a:xfrm>
            <a:off x="3134825" y="2465275"/>
            <a:ext cx="865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docker pull heinzpreisig/dash-gui</a:t>
            </a:r>
            <a:r>
              <a:rPr lang="en-US" sz="2100">
                <a:solidFill>
                  <a:schemeClr val="dk1"/>
                </a:solidFill>
                <a:highlight>
                  <a:srgbClr val="F2F2F2"/>
                </a:highlight>
              </a:rPr>
              <a:t> or clone the GitHub repository</a:t>
            </a:r>
            <a:endParaRPr sz="2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8"/>
          <p:cNvSpPr/>
          <p:nvPr/>
        </p:nvSpPr>
        <p:spPr>
          <a:xfrm>
            <a:off x="436325" y="3259788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100"/>
          </a:p>
        </p:txBody>
      </p:sp>
      <p:sp>
        <p:nvSpPr>
          <p:cNvPr id="350" name="Google Shape;350;p38"/>
          <p:cNvSpPr txBox="1"/>
          <p:nvPr/>
        </p:nvSpPr>
        <p:spPr>
          <a:xfrm>
            <a:off x="1122125" y="3305500"/>
            <a:ext cx="182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1" sz="2100">
              <a:solidFill>
                <a:srgbClr val="3C78D8"/>
              </a:solidFill>
            </a:endParaRPr>
          </a:p>
        </p:txBody>
      </p:sp>
      <p:sp>
        <p:nvSpPr>
          <p:cNvPr id="351" name="Google Shape;351;p38"/>
          <p:cNvSpPr txBox="1"/>
          <p:nvPr/>
        </p:nvSpPr>
        <p:spPr>
          <a:xfrm>
            <a:off x="3134825" y="3311100"/>
            <a:ext cx="865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docker-compose up</a:t>
            </a:r>
            <a:r>
              <a:rPr lang="en-US" sz="2100">
                <a:solidFill>
                  <a:schemeClr val="dk1"/>
                </a:solidFill>
                <a:highlight>
                  <a:srgbClr val="F2F2F2"/>
                </a:highlight>
              </a:rPr>
              <a:t> (or </a:t>
            </a:r>
            <a:r>
              <a:rPr lang="en-US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uv run python run_brick_app_web.py</a:t>
            </a:r>
            <a:r>
              <a:rPr lang="en-US" sz="2100">
                <a:solidFill>
                  <a:schemeClr val="dk1"/>
                </a:solidFill>
                <a:highlight>
                  <a:srgbClr val="F2F2F2"/>
                </a:highlight>
              </a:rPr>
              <a:t>)</a:t>
            </a:r>
            <a:endParaRPr sz="2100"/>
          </a:p>
        </p:txBody>
      </p:sp>
      <p:sp>
        <p:nvSpPr>
          <p:cNvPr id="352" name="Google Shape;352;p38"/>
          <p:cNvSpPr/>
          <p:nvPr/>
        </p:nvSpPr>
        <p:spPr>
          <a:xfrm>
            <a:off x="398225" y="410561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100"/>
          </a:p>
        </p:txBody>
      </p:sp>
      <p:sp>
        <p:nvSpPr>
          <p:cNvPr id="353" name="Google Shape;353;p38"/>
          <p:cNvSpPr txBox="1"/>
          <p:nvPr/>
        </p:nvSpPr>
        <p:spPr>
          <a:xfrm>
            <a:off x="1084025" y="4151325"/>
            <a:ext cx="182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endParaRPr b="1" sz="2100">
              <a:solidFill>
                <a:srgbClr val="3C78D8"/>
              </a:solidFill>
            </a:endParaRPr>
          </a:p>
        </p:txBody>
      </p:sp>
      <p:sp>
        <p:nvSpPr>
          <p:cNvPr id="354" name="Google Shape;354;p38"/>
          <p:cNvSpPr txBox="1"/>
          <p:nvPr/>
        </p:nvSpPr>
        <p:spPr>
          <a:xfrm>
            <a:off x="3096725" y="4156925"/>
            <a:ext cx="865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2F2F2"/>
                </a:highlight>
              </a:rPr>
              <a:t> Browser → </a:t>
            </a:r>
            <a:r>
              <a:rPr lang="en-US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http://localhost:5001</a:t>
            </a:r>
            <a:r>
              <a:rPr lang="en-US" sz="2100">
                <a:solidFill>
                  <a:schemeClr val="dk1"/>
                </a:solidFill>
                <a:highlight>
                  <a:srgbClr val="F2F2F2"/>
                </a:highlight>
              </a:rPr>
              <a:t> for the Brick Editor</a:t>
            </a:r>
            <a:endParaRPr sz="2100"/>
          </a:p>
        </p:txBody>
      </p:sp>
      <p:sp>
        <p:nvSpPr>
          <p:cNvPr id="355" name="Google Shape;355;p38"/>
          <p:cNvSpPr/>
          <p:nvPr/>
        </p:nvSpPr>
        <p:spPr>
          <a:xfrm>
            <a:off x="398225" y="4951438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100"/>
          </a:p>
        </p:txBody>
      </p:sp>
      <p:sp>
        <p:nvSpPr>
          <p:cNvPr id="356" name="Google Shape;356;p38"/>
          <p:cNvSpPr txBox="1"/>
          <p:nvPr/>
        </p:nvSpPr>
        <p:spPr>
          <a:xfrm>
            <a:off x="1084025" y="4997150"/>
            <a:ext cx="182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Your data</a:t>
            </a:r>
            <a:endParaRPr b="1" sz="2100">
              <a:solidFill>
                <a:srgbClr val="3C78D8"/>
              </a:solidFill>
            </a:endParaRPr>
          </a:p>
        </p:txBody>
      </p:sp>
      <p:sp>
        <p:nvSpPr>
          <p:cNvPr id="357" name="Google Shape;357;p38"/>
          <p:cNvSpPr txBox="1"/>
          <p:nvPr/>
        </p:nvSpPr>
        <p:spPr>
          <a:xfrm>
            <a:off x="3096725" y="5002750"/>
            <a:ext cx="865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2F2F2"/>
                </a:highlight>
              </a:rPr>
              <a:t>Create bricks, assemble schemas, export SHACL forms</a:t>
            </a:r>
            <a:endParaRPr sz="2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25E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9"/>
          <p:cNvSpPr txBox="1"/>
          <p:nvPr/>
        </p:nvSpPr>
        <p:spPr>
          <a:xfrm>
            <a:off x="516565" y="2069100"/>
            <a:ext cx="1115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Q: Can non-programmers use this?</a:t>
            </a:r>
            <a:endParaRPr sz="2000"/>
          </a:p>
        </p:txBody>
      </p:sp>
      <p:sp>
        <p:nvSpPr>
          <p:cNvPr id="364" name="Google Shape;364;p39"/>
          <p:cNvSpPr txBox="1"/>
          <p:nvPr/>
        </p:nvSpPr>
        <p:spPr>
          <a:xfrm>
            <a:off x="516565" y="2453148"/>
            <a:ext cx="1115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A: Yes — brick_app and schema_app are point-and-click web tools.</a:t>
            </a:r>
            <a:endParaRPr sz="2000"/>
          </a:p>
        </p:txBody>
      </p:sp>
      <p:sp>
        <p:nvSpPr>
          <p:cNvPr id="365" name="Google Shape;365;p39"/>
          <p:cNvSpPr txBox="1"/>
          <p:nvPr/>
        </p:nvSpPr>
        <p:spPr>
          <a:xfrm>
            <a:off x="516565" y="3029220"/>
            <a:ext cx="1115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Q: What about our own vocabulary?</a:t>
            </a:r>
            <a:endParaRPr sz="2000"/>
          </a:p>
        </p:txBody>
      </p:sp>
      <p:sp>
        <p:nvSpPr>
          <p:cNvPr id="366" name="Google Shape;366;p39"/>
          <p:cNvSpPr txBox="1"/>
          <p:nvPr/>
        </p:nvSpPr>
        <p:spPr>
          <a:xfrm>
            <a:off x="516565" y="3413268"/>
            <a:ext cx="1115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A: Load any RDF/OWL ontology — enrichment works with it automatically.</a:t>
            </a:r>
            <a:endParaRPr sz="2000"/>
          </a:p>
        </p:txBody>
      </p:sp>
      <p:sp>
        <p:nvSpPr>
          <p:cNvPr id="367" name="Google Shape;367;p39"/>
          <p:cNvSpPr txBox="1"/>
          <p:nvPr/>
        </p:nvSpPr>
        <p:spPr>
          <a:xfrm>
            <a:off x="516565" y="3989340"/>
            <a:ext cx="1115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Q: Does it connect to our database?</a:t>
            </a:r>
            <a:endParaRPr sz="2000"/>
          </a:p>
        </p:txBody>
      </p:sp>
      <p:sp>
        <p:nvSpPr>
          <p:cNvPr id="368" name="Google Shape;368;p39"/>
          <p:cNvSpPr txBox="1"/>
          <p:nvPr/>
        </p:nvSpPr>
        <p:spPr>
          <a:xfrm>
            <a:off x="516565" y="4373388"/>
            <a:ext cx="1115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A: Exported SHACL validates data; can export to JSON/XML/RDF for any system.</a:t>
            </a:r>
            <a:endParaRPr sz="2000"/>
          </a:p>
        </p:txBody>
      </p:sp>
      <p:sp>
        <p:nvSpPr>
          <p:cNvPr id="369" name="Google Shape;369;p39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/>
          </a:p>
        </p:txBody>
      </p:sp>
      <p:sp>
        <p:nvSpPr>
          <p:cNvPr id="370" name="Google Shape;370;p39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A5A5A5"/>
      </a:accent1>
      <a:accent2>
        <a:srgbClr val="951B81"/>
      </a:accent2>
      <a:accent3>
        <a:srgbClr val="F39200"/>
      </a:accent3>
      <a:accent4>
        <a:srgbClr val="009FE3"/>
      </a:accent4>
      <a:accent5>
        <a:srgbClr val="70AC04"/>
      </a:accent5>
      <a:accent6>
        <a:srgbClr val="A3195B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giPass-Master-Mai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