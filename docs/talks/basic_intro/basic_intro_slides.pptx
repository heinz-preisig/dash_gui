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From Bricks to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8BDF8"/>
                </a:solidFill>
              </a:rPr>
              <a:t>Building Digital Product Passports with SHACL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D6E8"/>
                </a:solidFill>
              </a:rPr>
              <a:t>A visual approach to structured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</a:rPr>
              <a:t>No coding background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Digital Product Passports Are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303520" cy="4023360"/>
          </a:xfrm>
          <a:prstGeom prst="rect">
            <a:avLst/>
          </a:prstGeom>
          <a:solidFill>
            <a:srgbClr val="3B080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7171"/>
                </a:solidFill>
              </a:rPr>
              <a:t>❌  TODAY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• Company A says: 'weight: 5kg'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• Company B says: 'mass: 5000g'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• Company C says: '5'  (just a number!)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→ Computers can't understand this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→ Manual data entry &amp; errors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→ Compliance headaches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737360"/>
            <a:ext cx="5303520" cy="4023360"/>
          </a:xfrm>
          <a:prstGeom prst="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4ADE80"/>
                </a:solidFill>
              </a:rPr>
              <a:t>✓  WITH SHACL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• Product.weight = 5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• Must be a number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• Must have a unit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• Unit can only be: kg, g, lb, oz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→ Machines can validate it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→ Forms guide data entry</a:t>
            </a:r>
          </a:p>
          <a:p>
            <a:pPr algn="l"/>
            <a:r>
              <a:rPr sz="1700" b="0">
                <a:solidFill>
                  <a:srgbClr val="C8D6E8"/>
                </a:solidFill>
              </a:rPr>
              <a:t>→ Always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What If Data Had Grammar?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D6E8"/>
                </a:solidFill>
              </a:rPr>
              <a:t>Like grammar rules in language, data needs rules too.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60704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>
                <a:solidFill>
                  <a:srgbClr val="38BDF8"/>
                </a:solidFill>
                <a:latin typeface="Courier New"/>
              </a:rPr>
              <a:t>❌  "The product weighs about 5kg usually"   (ambiguous)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1060704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700">
                <a:solidFill>
                  <a:srgbClr val="38BDF8"/>
                </a:solidFill>
                <a:latin typeface="Courier New"/>
              </a:rPr>
              <a:t>✓   Product.weight  =  5</a:t>
            </a:r>
          </a:p>
          <a:p>
            <a:pPr algn="l"/>
            <a:r>
              <a:rPr sz="1700">
                <a:solidFill>
                  <a:srgbClr val="38BDF8"/>
                </a:solidFill>
                <a:latin typeface="Courier New"/>
              </a:rPr>
              <a:t>         type  →  number</a:t>
            </a:r>
          </a:p>
          <a:p>
            <a:pPr algn="l"/>
            <a:r>
              <a:rPr sz="1700">
                <a:solidFill>
                  <a:srgbClr val="38BDF8"/>
                </a:solidFill>
                <a:latin typeface="Courier New"/>
              </a:rPr>
              <a:t>         unit  →  kg  (or g, lb, oz)</a:t>
            </a:r>
          </a:p>
          <a:p>
            <a:pPr algn="l"/>
            <a:r>
              <a:rPr sz="1700">
                <a:solidFill>
                  <a:srgbClr val="38BDF8"/>
                </a:solidFill>
                <a:latin typeface="Courier New"/>
              </a:rPr>
              <a:t>     required  →  yes</a:t>
            </a:r>
          </a:p>
          <a:p>
            <a:pPr algn="l"/>
            <a:r>
              <a:rPr sz="1700">
                <a:solidFill>
                  <a:srgbClr val="38BDF8"/>
                </a:solidFill>
                <a:latin typeface="Courier New"/>
              </a:rPr>
              <a:t>      checked  → 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BBF24"/>
                </a:solidFill>
              </a:rPr>
              <a:t>SHACL is the W3C standard for writing these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The Brick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Lego Bricks for Data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00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8D6E8"/>
                </a:solidFill>
              </a:rPr>
              <a:t>Instead of writing rules from scratch every time → create reusable bricks once, snap them together.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468880"/>
            <a:ext cx="2743200" cy="3108960"/>
          </a:xfrm>
          <a:prstGeom prst="ellipse">
            <a:avLst/>
          </a:prstGeom>
          <a:solidFill>
            <a:srgbClr val="1A3A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8BDF8"/>
                </a:solidFill>
              </a:rPr>
              <a:t>🧱  Mass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0">
                <a:solidFill>
                  <a:srgbClr val="C8D6E8"/>
                </a:solidFill>
              </a:rPr>
              <a:t>number + unit
(kg, g, lb, oz, mg, t)</a:t>
            </a:r>
          </a:p>
        </p:txBody>
      </p:sp>
      <p:sp>
        <p:nvSpPr>
          <p:cNvPr id="6" name="Oval 5"/>
          <p:cNvSpPr/>
          <p:nvPr/>
        </p:nvSpPr>
        <p:spPr>
          <a:xfrm>
            <a:off x="3291840" y="2468880"/>
            <a:ext cx="2743200" cy="3108960"/>
          </a:xfrm>
          <a:prstGeom prst="ellipse">
            <a:avLst/>
          </a:prstGeom>
          <a:solidFill>
            <a:srgbClr val="1A3A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8BDF8"/>
                </a:solidFill>
              </a:rPr>
              <a:t>🌡  Temperature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0">
                <a:solidFill>
                  <a:srgbClr val="C8D6E8"/>
                </a:solidFill>
              </a:rPr>
              <a:t>number + degrees
(°C, °F, K)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2468880"/>
            <a:ext cx="2743200" cy="3108960"/>
          </a:xfrm>
          <a:prstGeom prst="ellipse">
            <a:avLst/>
          </a:prstGeom>
          <a:solidFill>
            <a:srgbClr val="1A3A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8BDF8"/>
                </a:solidFill>
              </a:rPr>
              <a:t>⚡  Battery Cap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0">
                <a:solidFill>
                  <a:srgbClr val="C8D6E8"/>
                </a:solidFill>
              </a:rPr>
              <a:t>number + unit
(Ah, mAh, Coulombs)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2468880"/>
            <a:ext cx="2743200" cy="3108960"/>
          </a:xfrm>
          <a:prstGeom prst="ellipse">
            <a:avLst/>
          </a:prstGeom>
          <a:solidFill>
            <a:srgbClr val="1A3A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8BDF8"/>
                </a:solidFill>
              </a:rPr>
              <a:t>🏭  Manufacturer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0">
                <a:solidFill>
                  <a:srgbClr val="C8D6E8"/>
                </a:solidFill>
              </a:rPr>
              <a:t>name + ID + country
(linked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BBF24"/>
                </a:solidFill>
              </a:rPr>
              <a:t>Define once → reuse across every product schema in your organisation.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Brick Editor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Creating a Reusable Brick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8D6E8"/>
                </a:solidFill>
              </a:rPr>
              <a:t>Point-and-click — no coding needed: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5669280" cy="50292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38BDF8"/>
                </a:solidFill>
                <a:latin typeface="Courier New"/>
              </a:rPr>
              <a:t>Name        </a:t>
            </a:r>
            <a:r>
              <a:rPr sz="1600">
                <a:solidFill>
                  <a:srgbClr val="FFFFFF"/>
                </a:solidFill>
                <a:latin typeface="Courier New"/>
              </a:rPr>
              <a:t>BatteryCapacity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61488"/>
            <a:ext cx="5669280" cy="50292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38BDF8"/>
                </a:solidFill>
                <a:latin typeface="Courier New"/>
              </a:rPr>
              <a:t>Path        </a:t>
            </a:r>
            <a:r>
              <a:rPr sz="1600">
                <a:solidFill>
                  <a:srgbClr val="FFFFFF"/>
                </a:solidFill>
                <a:latin typeface="Courier New"/>
              </a:rPr>
              <a:t>ex:batteryCapacity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28416"/>
            <a:ext cx="5669280" cy="50292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38BDF8"/>
                </a:solidFill>
                <a:latin typeface="Courier New"/>
              </a:rPr>
              <a:t>Datatype    </a:t>
            </a:r>
            <a:r>
              <a:rPr sz="1600">
                <a:solidFill>
                  <a:srgbClr val="FFFFFF"/>
                </a:solidFill>
                <a:latin typeface="Courier New"/>
              </a:rPr>
              <a:t>xsd:decimal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95344"/>
            <a:ext cx="5669280" cy="50292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38BDF8"/>
                </a:solidFill>
                <a:latin typeface="Courier New"/>
              </a:rPr>
              <a:t>Class       </a:t>
            </a:r>
            <a:r>
              <a:rPr sz="1600">
                <a:solidFill>
                  <a:srgbClr val="FFFFFF"/>
                </a:solidFill>
                <a:latin typeface="Courier New"/>
              </a:rPr>
              <a:t>qudt:ElectricCharge   ← triggers magic 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</a:rPr>
              <a:t>Result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468880"/>
            <a:ext cx="521208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Unit dropdown appears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automatically: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/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▼  Ampere-hour (Ah)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 Milliampere-hour (mAh)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 Coulomb (C)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 Kiloampere-hour (kAh)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</a:rPr>
              <a:t>The system looks up applicable units from the QUDT ontology — no manual list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Schema Editor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Assembling Bricks into a Product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1143000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EV Battery Schema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├── Battery Identification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│   ├── Model Number      (text)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│   ├── Serial Number     (text)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│   └── Manufacturer      (linked data)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├── Physical Properties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│   ├── Mass           ← [Mass brick]        → unit dropdown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│   └── Capacity       ← [BatteryCapacity]   → unit dropdown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└── Environmental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├── Carbon Footprint  ← [CO₂ brick]      → unit dropdown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└── Recyclability     ← [Percent brick]  → %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BBF24"/>
                </a:solidFill>
              </a:rPr>
              <a:t>Visual tree editor — drag bricks in, set connections, 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One Source → Many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Magic: One Brick, Three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8BDF8"/>
                </a:solidFill>
              </a:rPr>
              <a:t>Brick (JSON)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379476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{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name: 'Mass',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datatype: xsd:decimal,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class: qudt:Mass,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units: [kg,g,lb,...]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37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8BDF8"/>
                </a:solidFill>
              </a:rPr>
              <a:t>SHACL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286000"/>
            <a:ext cx="379476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sh:property [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sh:path ex:mass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sh:datatype xsd:decimal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sh:class qudt:Mass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sh:in (kg g lb oz)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]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37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8BDF8"/>
                </a:solidFill>
              </a:rPr>
              <a:t>User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286000"/>
            <a:ext cx="379476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Mass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┌─────────┬──────┐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│  5      │ ▼ kg │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└─────────┴──────┘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Change brick once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→ all forms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Enrichment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Smart Widgets from Context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You type:  qudt:Mass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</a:rPr>
              <a:t>↓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8892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D6E8"/>
                </a:solidFill>
              </a:rPr>
              <a:t>System queries QUDT ontology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</a:rPr>
              <a:t>↓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D6E8"/>
                </a:solidFill>
              </a:rPr>
              <a:t>Finds 6 applicable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BDF8"/>
                </a:solidFill>
              </a:rPr>
              <a:t>↓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7091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DE80"/>
                </a:solidFill>
              </a:rPr>
              <a:t>Creates unit dropdown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BBF24"/>
                </a:solidFill>
              </a:rPr>
              <a:t>Works for any physical quantity: temperature, pressure, energy, voltage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How It All Connects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9144000" cy="658368"/>
          </a:xfrm>
          <a:prstGeom prst="rect">
            <a:avLst/>
          </a:prstGeom>
          <a:solidFill>
            <a:srgbClr val="0F2236"/>
          </a:solidFill>
          <a:ln w="19050">
            <a:solidFill>
              <a:srgbClr val="C8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C8D6E8"/>
                </a:solidFill>
                <a:latin typeface="Courier New"/>
              </a:rPr>
              <a:t>Shared Ontologies     </a:t>
            </a:r>
            <a:r>
              <a:rPr sz="1500">
                <a:solidFill>
                  <a:srgbClr val="C8D6E8"/>
                </a:solidFill>
                <a:latin typeface="Courier New"/>
              </a:rPr>
              <a:t>QUDT · Schema.org · FOAF · SKOS  (17 vocabularies)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48840"/>
            <a:ext cx="9144000" cy="658368"/>
          </a:xfrm>
          <a:prstGeom prst="rect">
            <a:avLst/>
          </a:prstGeom>
          <a:solidFill>
            <a:srgbClr val="0F22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38BDF8"/>
                </a:solidFill>
                <a:latin typeface="Courier New"/>
              </a:rPr>
              <a:t>Brick Library 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Reusable building blocks (JSON)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9144000" cy="658368"/>
          </a:xfrm>
          <a:prstGeom prst="rect">
            <a:avLst/>
          </a:prstGeom>
          <a:solidFill>
            <a:srgbClr val="0F22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38BDF8"/>
                </a:solidFill>
                <a:latin typeface="Courier New"/>
              </a:rPr>
              <a:t>Schema Composer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Assemble bricks into product blueprints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86200"/>
            <a:ext cx="9144000" cy="658368"/>
          </a:xfrm>
          <a:prstGeom prst="rect">
            <a:avLst/>
          </a:prstGeom>
          <a:solidFill>
            <a:srgbClr val="0F2236"/>
          </a:solidFill>
          <a:ln w="19050">
            <a:solidFill>
              <a:srgbClr val="C8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C8D6E8"/>
                </a:solidFill>
                <a:latin typeface="Courier New"/>
              </a:rPr>
              <a:t>SHACL Exporter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Generates validation rules (Turtle)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754880"/>
            <a:ext cx="9144000" cy="658368"/>
          </a:xfrm>
          <a:prstGeom prst="rect">
            <a:avLst/>
          </a:prstGeom>
          <a:solidFill>
            <a:srgbClr val="0F223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4ADE80"/>
                </a:solidFill>
                <a:latin typeface="Courier New"/>
              </a:rPr>
              <a:t>Form Generator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HTML interface the data-entry clerk sees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623560"/>
            <a:ext cx="9144000" cy="658368"/>
          </a:xfrm>
          <a:prstGeom prst="rect">
            <a:avLst/>
          </a:prstGeom>
          <a:solidFill>
            <a:srgbClr val="0F22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BBF24"/>
                </a:solidFill>
                <a:latin typeface="Courier New"/>
              </a:rPr>
              <a:t>Validated Data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Ready for Digital Product Passports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01168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293B"/>
                </a:solidFill>
              </a:rP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D6E8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Schema definition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7171"/>
                </a:solidFill>
              </a:rPr>
              <a:t>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DE80"/>
                </a:solidFill>
              </a:rPr>
              <a:t>1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443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Unit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44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7171"/>
                </a:solidFill>
              </a:rPr>
              <a:t>manual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944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DE80"/>
                </a:solidFill>
              </a:rPr>
              <a:t>automatic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0273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Validation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027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7171"/>
                </a:solidFill>
              </a:rPr>
              <a:t>50+ (found late)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6027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DE80"/>
                </a:solidFill>
              </a:rPr>
              <a:t>2 (caught early)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6110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611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7171"/>
                </a:solidFill>
              </a:rPr>
              <a:t>varies per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2611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DE80"/>
                </a:solidFill>
              </a:rPr>
              <a:t>standardised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1947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Non-technical authors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9194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7171"/>
                </a:solidFill>
              </a:rPr>
              <a:t>impossible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9194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DE80"/>
                </a:solidFill>
              </a:rPr>
              <a:t>point-and-click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🧱  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645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6E8"/>
                </a:solidFill>
              </a:rPr>
              <a:t>Reusable, semantic data components — define once, use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8716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🔗  SHACL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487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6E8"/>
                </a:solidFill>
              </a:rPr>
              <a:t>Standardised validation rules — machines can check your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2841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✨  Enrichment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284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6E8"/>
                </a:solidFill>
              </a:rPr>
              <a:t>Ontology-driven smart widgets — unit dropdowns appear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966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🎨 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1696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6E8"/>
                </a:solidFill>
              </a:rPr>
              <a:t>Automatic user interfaces — no coding needed for data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1091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♻️ 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0109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6E8"/>
                </a:solidFill>
              </a:rPr>
              <a:t>Change a brick once → every form using it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Q: Can non-programmers use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844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A: Yes — brick_app and schema_app are point-and-click web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Q: What about our own vocabulary?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445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A: Load any RDF/OWL ontology — enrichment works with it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Q: Does it connect to our database?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04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A: Exported SHACL validates data; can export to JSON/XML/RDF for any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