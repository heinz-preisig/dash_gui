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4"/>
    <p:sldMasterId id="214748366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88950"/>
  <p:notesSz cx="6858000" cy="9144000"/>
  <p:embeddedFontLst>
    <p:embeddedFont>
      <p:font typeface="Play"/>
      <p:regular r:id="rId22"/>
      <p:bold r:id="rId23"/>
    </p:embeddedFont>
    <p:embeddedFont>
      <p:font typeface="Arial Black"/>
      <p:regular r:id="rId24"/>
    </p:embeddedFont>
    <p:embeddedFont>
      <p:font typeface="Open Sans Light"/>
      <p:regular r:id="rId25"/>
      <p:bold r:id="rId26"/>
      <p:italic r:id="rId27"/>
      <p:boldItalic r:id="rId28"/>
    </p:embeddedFont>
    <p:embeddedFont>
      <p:font typeface="Open Sans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Play-regular.fntdata"/><Relationship Id="rId21" Type="http://schemas.openxmlformats.org/officeDocument/2006/relationships/slide" Target="slides/slide15.xml"/><Relationship Id="rId24" Type="http://schemas.openxmlformats.org/officeDocument/2006/relationships/font" Target="fonts/ArialBlack-regular.fntdata"/><Relationship Id="rId23" Type="http://schemas.openxmlformats.org/officeDocument/2006/relationships/font" Target="fonts/Play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OpenSansLight-bold.fntdata"/><Relationship Id="rId25" Type="http://schemas.openxmlformats.org/officeDocument/2006/relationships/font" Target="fonts/OpenSansLight-regular.fntdata"/><Relationship Id="rId28" Type="http://schemas.openxmlformats.org/officeDocument/2006/relationships/font" Target="fonts/OpenSansLight-boldItalic.fntdata"/><Relationship Id="rId27" Type="http://schemas.openxmlformats.org/officeDocument/2006/relationships/font" Target="fonts/OpenSansLight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-italic.fntdata"/><Relationship Id="rId30" Type="http://schemas.openxmlformats.org/officeDocument/2006/relationships/font" Target="fonts/OpenSans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OpenSans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d852be8a7_0_2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ed852be8a7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ed852be8a7_0_2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ed852be8a7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ee0ac838dd_0_66:notes"/>
          <p:cNvSpPr txBox="1"/>
          <p:nvPr>
            <p:ph idx="1" type="body"/>
          </p:nvPr>
        </p:nvSpPr>
        <p:spPr>
          <a:xfrm>
            <a:off x="685512" y="4400259"/>
            <a:ext cx="54867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3ee0ac838dd_0_66:notes"/>
          <p:cNvSpPr/>
          <p:nvPr>
            <p:ph idx="2" type="sldImg"/>
          </p:nvPr>
        </p:nvSpPr>
        <p:spPr>
          <a:xfrm>
            <a:off x="520623" y="1143171"/>
            <a:ext cx="581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3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37.png"/></Relationships>
</file>

<file path=ppt/slideLayouts/_rels/slideLayout6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.jpg"/><Relationship Id="rId10" Type="http://schemas.openxmlformats.org/officeDocument/2006/relationships/image" Target="../media/image32.png"/><Relationship Id="rId13" Type="http://schemas.openxmlformats.org/officeDocument/2006/relationships/image" Target="../media/image14.png"/><Relationship Id="rId1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5" Type="http://schemas.openxmlformats.org/officeDocument/2006/relationships/image" Target="../media/image13.png"/><Relationship Id="rId14" Type="http://schemas.openxmlformats.org/officeDocument/2006/relationships/image" Target="../media/image33.png"/><Relationship Id="rId16" Type="http://schemas.openxmlformats.org/officeDocument/2006/relationships/image" Target="../media/image15.png"/><Relationship Id="rId5" Type="http://schemas.openxmlformats.org/officeDocument/2006/relationships/image" Target="../media/image16.jpg"/><Relationship Id="rId6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184" y="123991"/>
            <a:ext cx="12164573" cy="148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" y="6378241"/>
            <a:ext cx="12164573" cy="148728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11579114" y="6392534"/>
            <a:ext cx="731400" cy="52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ctr">
              <a:buNone/>
              <a:defRPr sz="1700">
                <a:solidFill>
                  <a:schemeClr val="dk1"/>
                </a:solidFill>
              </a:defRPr>
            </a:lvl1pPr>
            <a:lvl2pPr lvl="1" algn="ctr">
              <a:buNone/>
              <a:defRPr sz="1700">
                <a:solidFill>
                  <a:schemeClr val="dk1"/>
                </a:solidFill>
              </a:defRPr>
            </a:lvl2pPr>
            <a:lvl3pPr lvl="2" algn="ctr">
              <a:buNone/>
              <a:defRPr sz="1700">
                <a:solidFill>
                  <a:schemeClr val="dk1"/>
                </a:solidFill>
              </a:defRPr>
            </a:lvl3pPr>
            <a:lvl4pPr lvl="3" algn="ctr">
              <a:buNone/>
              <a:defRPr sz="1700">
                <a:solidFill>
                  <a:schemeClr val="dk1"/>
                </a:solidFill>
              </a:defRPr>
            </a:lvl4pPr>
            <a:lvl5pPr lvl="4" algn="ctr">
              <a:buNone/>
              <a:defRPr sz="1700">
                <a:solidFill>
                  <a:schemeClr val="dk1"/>
                </a:solidFill>
              </a:defRPr>
            </a:lvl5pPr>
            <a:lvl6pPr lvl="5" algn="ctr">
              <a:buNone/>
              <a:defRPr sz="1700">
                <a:solidFill>
                  <a:schemeClr val="dk1"/>
                </a:solidFill>
              </a:defRPr>
            </a:lvl6pPr>
            <a:lvl7pPr lvl="6" algn="ctr">
              <a:buNone/>
              <a:defRPr sz="1700">
                <a:solidFill>
                  <a:schemeClr val="dk1"/>
                </a:solidFill>
              </a:defRPr>
            </a:lvl7pPr>
            <a:lvl8pPr lvl="7" algn="ctr">
              <a:buNone/>
              <a:defRPr sz="1700">
                <a:solidFill>
                  <a:schemeClr val="dk1"/>
                </a:solidFill>
              </a:defRPr>
            </a:lvl8pPr>
            <a:lvl9pPr lvl="8" algn="ctr">
              <a:buNone/>
              <a:defRPr sz="1700"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7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7697" y="1091467"/>
            <a:ext cx="4454303" cy="422416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5452353" y="1807308"/>
            <a:ext cx="63924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00" lIns="94425" spcFirstLastPara="1" rIns="94425" wrap="square" tIns="472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57" u="none" cap="none" strike="noStrike">
                <a:solidFill>
                  <a:srgbClr val="4B8C33"/>
                </a:solidFill>
                <a:latin typeface="Arial Black"/>
                <a:ea typeface="Arial Black"/>
                <a:cs typeface="Arial Black"/>
                <a:sym typeface="Arial Black"/>
              </a:rPr>
              <a:t>Know Your Products!</a:t>
            </a:r>
            <a:br>
              <a:rPr b="0" i="0" lang="en-US" sz="335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35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2433573" y="6399175"/>
            <a:ext cx="88563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00" lIns="94425" spcFirstLastPara="1" rIns="94425" wrap="square" tIns="472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DigiPass</a:t>
            </a:r>
            <a:r>
              <a:rPr b="0" i="0" lang="en-US" sz="6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CSA project has been funded by the European Commission for the programme HORIZON-CL4-2023-RESILIENCE-01, Grant Agreement No </a:t>
            </a:r>
            <a:r>
              <a:rPr b="1" i="0" lang="en-US" sz="6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101138510</a:t>
            </a:r>
            <a:endParaRPr b="0" i="0" sz="6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WIKKI LIMITED, UK participant in Horizon Europe Project DigiPass, is supported by UKRI grant number 10100819: </a:t>
            </a:r>
            <a:r>
              <a:rPr b="1" i="0" lang="en-US" sz="6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DigiPass</a:t>
            </a:r>
            <a:endParaRPr b="0" i="0" sz="6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" name="Google Shape;2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0877" y="6226767"/>
            <a:ext cx="705498" cy="456307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/>
          <p:nvPr/>
        </p:nvSpPr>
        <p:spPr>
          <a:xfrm>
            <a:off x="6515517" y="6299865"/>
            <a:ext cx="47745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" u="none" cap="none" strike="noStrike">
                <a:solidFill>
                  <a:srgbClr val="A02B93"/>
                </a:solidFill>
                <a:latin typeface="Arial"/>
                <a:ea typeface="Arial"/>
                <a:cs typeface="Arial"/>
                <a:sym typeface="Arial"/>
              </a:rPr>
              <a:t>COORDINATION AND KNOWLEDGE SHARING ACROSS MATERIALS DEVELOPMENT COMMUNITIES (CSA):</a:t>
            </a:r>
            <a:endParaRPr b="0" i="0" sz="6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300075" y="6514000"/>
            <a:ext cx="4454400" cy="24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7200" lIns="94425" spcFirstLastPara="1" rIns="94425" wrap="square" tIns="472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39" u="none" cap="none" strike="noStrike">
                <a:solidFill>
                  <a:srgbClr val="4B8C33"/>
                </a:solidFill>
                <a:latin typeface="Open Sans"/>
                <a:ea typeface="Open Sans"/>
                <a:cs typeface="Open Sans"/>
                <a:sym typeface="Open Sans"/>
              </a:rPr>
              <a:t>Know Your Products!</a:t>
            </a:r>
            <a:endParaRPr b="0" i="0" sz="153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452353" y="885834"/>
            <a:ext cx="6392400" cy="10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00" lIns="94425" spcFirstLastPara="1" rIns="94425" wrap="square" tIns="472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295" u="none" cap="none" strike="noStrike">
                <a:solidFill>
                  <a:srgbClr val="4B8C33"/>
                </a:solidFill>
                <a:latin typeface="Arial Black"/>
                <a:ea typeface="Arial Black"/>
                <a:cs typeface="Arial Black"/>
                <a:sym typeface="Arial Black"/>
              </a:rPr>
              <a:t>DigiPass</a:t>
            </a:r>
            <a:endParaRPr b="0" i="0" sz="62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"/>
          <p:cNvSpPr txBox="1"/>
          <p:nvPr>
            <p:ph type="title"/>
          </p:nvPr>
        </p:nvSpPr>
        <p:spPr>
          <a:xfrm>
            <a:off x="371075" y="2978100"/>
            <a:ext cx="11371800" cy="90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97132"/>
              </a:buClr>
              <a:buSzPts val="4000"/>
              <a:buNone/>
              <a:defRPr b="1" sz="4000">
                <a:solidFill>
                  <a:srgbClr val="E9713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97132"/>
              </a:buClr>
              <a:buSzPts val="1900"/>
              <a:buNone/>
              <a:defRPr>
                <a:solidFill>
                  <a:srgbClr val="E9713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97132"/>
              </a:buClr>
              <a:buSzPts val="1900"/>
              <a:buNone/>
              <a:defRPr>
                <a:solidFill>
                  <a:srgbClr val="E9713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97132"/>
              </a:buClr>
              <a:buSzPts val="1900"/>
              <a:buNone/>
              <a:defRPr>
                <a:solidFill>
                  <a:srgbClr val="E9713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97132"/>
              </a:buClr>
              <a:buSzPts val="1900"/>
              <a:buNone/>
              <a:defRPr>
                <a:solidFill>
                  <a:srgbClr val="E9713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97132"/>
              </a:buClr>
              <a:buSzPts val="1900"/>
              <a:buNone/>
              <a:defRPr>
                <a:solidFill>
                  <a:srgbClr val="E9713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97132"/>
              </a:buClr>
              <a:buSzPts val="1900"/>
              <a:buNone/>
              <a:defRPr>
                <a:solidFill>
                  <a:srgbClr val="E9713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97132"/>
              </a:buClr>
              <a:buSzPts val="1900"/>
              <a:buNone/>
              <a:defRPr>
                <a:solidFill>
                  <a:srgbClr val="E9713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97132"/>
              </a:buClr>
              <a:buSzPts val="1900"/>
              <a:buNone/>
              <a:defRPr>
                <a:solidFill>
                  <a:srgbClr val="E97132"/>
                </a:solidFill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11406191" y="6333134"/>
            <a:ext cx="731400" cy="5250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</a:defRPr>
            </a:lvl1pPr>
            <a:lvl2pPr lvl="1" algn="r">
              <a:buNone/>
              <a:defRPr sz="1300">
                <a:solidFill>
                  <a:schemeClr val="dk1"/>
                </a:solidFill>
              </a:defRPr>
            </a:lvl2pPr>
            <a:lvl3pPr lvl="2" algn="r">
              <a:buNone/>
              <a:defRPr sz="1300">
                <a:solidFill>
                  <a:schemeClr val="dk1"/>
                </a:solidFill>
              </a:defRPr>
            </a:lvl3pPr>
            <a:lvl4pPr lvl="3" algn="r">
              <a:buNone/>
              <a:defRPr sz="1300">
                <a:solidFill>
                  <a:schemeClr val="dk1"/>
                </a:solidFill>
              </a:defRPr>
            </a:lvl4pPr>
            <a:lvl5pPr lvl="4" algn="r">
              <a:buNone/>
              <a:defRPr sz="1300">
                <a:solidFill>
                  <a:schemeClr val="dk1"/>
                </a:solidFill>
              </a:defRPr>
            </a:lvl5pPr>
            <a:lvl6pPr lvl="5" algn="r">
              <a:buNone/>
              <a:defRPr sz="1300">
                <a:solidFill>
                  <a:schemeClr val="dk1"/>
                </a:solidFill>
              </a:defRPr>
            </a:lvl6pPr>
            <a:lvl7pPr lvl="6" algn="r">
              <a:buNone/>
              <a:defRPr sz="1300">
                <a:solidFill>
                  <a:schemeClr val="dk1"/>
                </a:solidFill>
              </a:defRPr>
            </a:lvl7pPr>
            <a:lvl8pPr lvl="7" algn="r">
              <a:buNone/>
              <a:defRPr sz="1300">
                <a:solidFill>
                  <a:schemeClr val="dk1"/>
                </a:solidFill>
              </a:defRPr>
            </a:lvl8pPr>
            <a:lvl9pPr lvl="8" algn="r">
              <a:buNone/>
              <a:defRPr sz="13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1">
  <p:cSld name="CUSTOM_1_1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184" y="123991"/>
            <a:ext cx="12164573" cy="148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" y="6378241"/>
            <a:ext cx="12164573" cy="14872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11579114" y="6392534"/>
            <a:ext cx="731400" cy="52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ctr">
              <a:buNone/>
              <a:defRPr sz="1700">
                <a:solidFill>
                  <a:schemeClr val="dk1"/>
                </a:solidFill>
              </a:defRPr>
            </a:lvl1pPr>
            <a:lvl2pPr lvl="1" algn="ctr">
              <a:buNone/>
              <a:defRPr sz="1700">
                <a:solidFill>
                  <a:schemeClr val="dk1"/>
                </a:solidFill>
              </a:defRPr>
            </a:lvl2pPr>
            <a:lvl3pPr lvl="2" algn="ctr">
              <a:buNone/>
              <a:defRPr sz="1700">
                <a:solidFill>
                  <a:schemeClr val="dk1"/>
                </a:solidFill>
              </a:defRPr>
            </a:lvl3pPr>
            <a:lvl4pPr lvl="3" algn="ctr">
              <a:buNone/>
              <a:defRPr sz="1700">
                <a:solidFill>
                  <a:schemeClr val="dk1"/>
                </a:solidFill>
              </a:defRPr>
            </a:lvl4pPr>
            <a:lvl5pPr lvl="4" algn="ctr">
              <a:buNone/>
              <a:defRPr sz="1700">
                <a:solidFill>
                  <a:schemeClr val="dk1"/>
                </a:solidFill>
              </a:defRPr>
            </a:lvl5pPr>
            <a:lvl6pPr lvl="5" algn="ctr">
              <a:buNone/>
              <a:defRPr sz="1700">
                <a:solidFill>
                  <a:schemeClr val="dk1"/>
                </a:solidFill>
              </a:defRPr>
            </a:lvl6pPr>
            <a:lvl7pPr lvl="6" algn="ctr">
              <a:buNone/>
              <a:defRPr sz="1700">
                <a:solidFill>
                  <a:schemeClr val="dk1"/>
                </a:solidFill>
              </a:defRPr>
            </a:lvl7pPr>
            <a:lvl8pPr lvl="7" algn="ctr">
              <a:buNone/>
              <a:defRPr sz="1700">
                <a:solidFill>
                  <a:schemeClr val="dk1"/>
                </a:solidFill>
              </a:defRPr>
            </a:lvl8pPr>
            <a:lvl9pPr lvl="8" algn="ctr">
              <a:buNone/>
              <a:defRPr sz="1700"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6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" y="894625"/>
            <a:ext cx="12164573" cy="148728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5"/>
          <p:cNvSpPr txBox="1"/>
          <p:nvPr>
            <p:ph type="title"/>
          </p:nvPr>
        </p:nvSpPr>
        <p:spPr>
          <a:xfrm>
            <a:off x="415496" y="288700"/>
            <a:ext cx="8818200" cy="59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6300"/>
              <a:buNone/>
              <a:defRPr sz="3600">
                <a:solidFill>
                  <a:srgbClr val="38BDF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 sz="3200">
                <a:solidFill>
                  <a:srgbClr val="00477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 sz="3200">
                <a:solidFill>
                  <a:srgbClr val="00477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 sz="3200">
                <a:solidFill>
                  <a:srgbClr val="00477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 sz="3200">
                <a:solidFill>
                  <a:srgbClr val="00477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 sz="3200">
                <a:solidFill>
                  <a:srgbClr val="00477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 sz="3200">
                <a:solidFill>
                  <a:srgbClr val="00477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 sz="3200">
                <a:solidFill>
                  <a:srgbClr val="00477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 sz="3200">
                <a:solidFill>
                  <a:srgbClr val="00477B"/>
                </a:solidFill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415496" y="1197300"/>
            <a:ext cx="11358000" cy="489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81000" lvl="0" marL="457200">
              <a:spcBef>
                <a:spcPts val="1300"/>
              </a:spcBef>
              <a:spcAft>
                <a:spcPts val="0"/>
              </a:spcAft>
              <a:buSzPts val="2400"/>
              <a:buChar char="•"/>
              <a:defRPr/>
            </a:lvl1pPr>
            <a:lvl2pPr indent="-349250" lvl="1" marL="914400">
              <a:spcBef>
                <a:spcPts val="700"/>
              </a:spcBef>
              <a:spcAft>
                <a:spcPts val="0"/>
              </a:spcAft>
              <a:buSzPts val="1900"/>
              <a:buChar char="•"/>
              <a:defRPr/>
            </a:lvl2pPr>
            <a:lvl3pPr indent="-311150" lvl="2" marL="1371600">
              <a:spcBef>
                <a:spcPts val="700"/>
              </a:spcBef>
              <a:spcAft>
                <a:spcPts val="0"/>
              </a:spcAft>
              <a:buSzPts val="1300"/>
              <a:buChar char="•"/>
              <a:defRPr/>
            </a:lvl3pPr>
            <a:lvl4pPr indent="-298450" lvl="3" marL="1828800">
              <a:spcBef>
                <a:spcPts val="7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>
              <a:spcBef>
                <a:spcPts val="700"/>
              </a:spcBef>
              <a:spcAft>
                <a:spcPts val="0"/>
              </a:spcAft>
              <a:buSzPts val="1100"/>
              <a:buChar char="•"/>
              <a:defRPr/>
            </a:lvl5pPr>
            <a:lvl6pPr indent="-298450" lvl="5" marL="2743200">
              <a:spcBef>
                <a:spcPts val="700"/>
              </a:spcBef>
              <a:spcAft>
                <a:spcPts val="0"/>
              </a:spcAft>
              <a:buSzPts val="1100"/>
              <a:buChar char="•"/>
              <a:defRPr/>
            </a:lvl6pPr>
            <a:lvl7pPr indent="-298450" lvl="6" marL="3200400">
              <a:spcBef>
                <a:spcPts val="700"/>
              </a:spcBef>
              <a:spcAft>
                <a:spcPts val="0"/>
              </a:spcAft>
              <a:buSzPts val="1100"/>
              <a:buChar char="•"/>
              <a:defRPr/>
            </a:lvl7pPr>
            <a:lvl8pPr indent="-298450" lvl="7" marL="3657600">
              <a:spcBef>
                <a:spcPts val="700"/>
              </a:spcBef>
              <a:spcAft>
                <a:spcPts val="0"/>
              </a:spcAft>
              <a:buSzPts val="1100"/>
              <a:buChar char="•"/>
              <a:defRPr/>
            </a:lvl8pPr>
            <a:lvl9pPr indent="-298450" lvl="8" marL="4114800">
              <a:spcBef>
                <a:spcPts val="700"/>
              </a:spcBef>
              <a:spcAft>
                <a:spcPts val="0"/>
              </a:spcAft>
              <a:buSzPts val="1100"/>
              <a:buChar char="•"/>
              <a:defRPr/>
            </a:lvl9pPr>
          </a:lstStyle>
          <a:p/>
        </p:txBody>
      </p:sp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" y="6378241"/>
            <a:ext cx="12164573" cy="148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184" y="123991"/>
            <a:ext cx="12164573" cy="148728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11579114" y="6399877"/>
            <a:ext cx="731400" cy="52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ctr">
              <a:buNone/>
              <a:defRPr sz="1700">
                <a:solidFill>
                  <a:schemeClr val="dk1"/>
                </a:solidFill>
              </a:defRPr>
            </a:lvl1pPr>
            <a:lvl2pPr lvl="1" algn="ctr">
              <a:buNone/>
              <a:defRPr sz="1700">
                <a:solidFill>
                  <a:schemeClr val="dk1"/>
                </a:solidFill>
              </a:defRPr>
            </a:lvl2pPr>
            <a:lvl3pPr lvl="2" algn="ctr">
              <a:buNone/>
              <a:defRPr sz="1700">
                <a:solidFill>
                  <a:schemeClr val="dk1"/>
                </a:solidFill>
              </a:defRPr>
            </a:lvl3pPr>
            <a:lvl4pPr lvl="3" algn="ctr">
              <a:buNone/>
              <a:defRPr sz="1700">
                <a:solidFill>
                  <a:schemeClr val="dk1"/>
                </a:solidFill>
              </a:defRPr>
            </a:lvl4pPr>
            <a:lvl5pPr lvl="4" algn="ctr">
              <a:buNone/>
              <a:defRPr sz="1700">
                <a:solidFill>
                  <a:schemeClr val="dk1"/>
                </a:solidFill>
              </a:defRPr>
            </a:lvl5pPr>
            <a:lvl6pPr lvl="5" algn="ctr">
              <a:buNone/>
              <a:defRPr sz="1700">
                <a:solidFill>
                  <a:schemeClr val="dk1"/>
                </a:solidFill>
              </a:defRPr>
            </a:lvl6pPr>
            <a:lvl7pPr lvl="6" algn="ctr">
              <a:buNone/>
              <a:defRPr sz="1700">
                <a:solidFill>
                  <a:schemeClr val="dk1"/>
                </a:solidFill>
              </a:defRPr>
            </a:lvl7pPr>
            <a:lvl8pPr lvl="7" algn="ctr">
              <a:buNone/>
              <a:defRPr sz="1700">
                <a:solidFill>
                  <a:schemeClr val="dk1"/>
                </a:solidFill>
              </a:defRPr>
            </a:lvl8pPr>
            <a:lvl9pPr lvl="8" algn="ctr">
              <a:buNone/>
              <a:defRPr sz="1700"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7" name="Google Shape;3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1226322" y="223087"/>
            <a:ext cx="731419" cy="7095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 1">
  <p:cSld name="CUSTOM_6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" y="894625"/>
            <a:ext cx="12164573" cy="14872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6"/>
          <p:cNvSpPr txBox="1"/>
          <p:nvPr>
            <p:ph type="title"/>
          </p:nvPr>
        </p:nvSpPr>
        <p:spPr>
          <a:xfrm>
            <a:off x="415496" y="288700"/>
            <a:ext cx="8818200" cy="59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6300"/>
              <a:buNone/>
              <a:defRPr sz="3600">
                <a:solidFill>
                  <a:srgbClr val="38BDF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 sz="3200">
                <a:solidFill>
                  <a:srgbClr val="00477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 sz="3200">
                <a:solidFill>
                  <a:srgbClr val="00477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 sz="3200">
                <a:solidFill>
                  <a:srgbClr val="00477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 sz="3200">
                <a:solidFill>
                  <a:srgbClr val="00477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 sz="3200">
                <a:solidFill>
                  <a:srgbClr val="00477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 sz="3200">
                <a:solidFill>
                  <a:srgbClr val="00477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 sz="3200">
                <a:solidFill>
                  <a:srgbClr val="00477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 sz="3200">
                <a:solidFill>
                  <a:srgbClr val="00477B"/>
                </a:solidFill>
              </a:defRPr>
            </a:lvl9pPr>
          </a:lstStyle>
          <a:p/>
        </p:txBody>
      </p:sp>
      <p:pic>
        <p:nvPicPr>
          <p:cNvPr id="41" name="Google Shape;41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" y="6378241"/>
            <a:ext cx="12164573" cy="148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184" y="123991"/>
            <a:ext cx="12164573" cy="148728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11579114" y="6399877"/>
            <a:ext cx="731400" cy="52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ctr">
              <a:buNone/>
              <a:defRPr sz="1700">
                <a:solidFill>
                  <a:schemeClr val="dk1"/>
                </a:solidFill>
              </a:defRPr>
            </a:lvl1pPr>
            <a:lvl2pPr lvl="1" algn="ctr">
              <a:buNone/>
              <a:defRPr sz="1700">
                <a:solidFill>
                  <a:schemeClr val="dk1"/>
                </a:solidFill>
              </a:defRPr>
            </a:lvl2pPr>
            <a:lvl3pPr lvl="2" algn="ctr">
              <a:buNone/>
              <a:defRPr sz="1700">
                <a:solidFill>
                  <a:schemeClr val="dk1"/>
                </a:solidFill>
              </a:defRPr>
            </a:lvl3pPr>
            <a:lvl4pPr lvl="3" algn="ctr">
              <a:buNone/>
              <a:defRPr sz="1700">
                <a:solidFill>
                  <a:schemeClr val="dk1"/>
                </a:solidFill>
              </a:defRPr>
            </a:lvl4pPr>
            <a:lvl5pPr lvl="4" algn="ctr">
              <a:buNone/>
              <a:defRPr sz="1700">
                <a:solidFill>
                  <a:schemeClr val="dk1"/>
                </a:solidFill>
              </a:defRPr>
            </a:lvl5pPr>
            <a:lvl6pPr lvl="5" algn="ctr">
              <a:buNone/>
              <a:defRPr sz="1700">
                <a:solidFill>
                  <a:schemeClr val="dk1"/>
                </a:solidFill>
              </a:defRPr>
            </a:lvl6pPr>
            <a:lvl7pPr lvl="6" algn="ctr">
              <a:buNone/>
              <a:defRPr sz="1700">
                <a:solidFill>
                  <a:schemeClr val="dk1"/>
                </a:solidFill>
              </a:defRPr>
            </a:lvl7pPr>
            <a:lvl8pPr lvl="7" algn="ctr">
              <a:buNone/>
              <a:defRPr sz="1700">
                <a:solidFill>
                  <a:schemeClr val="dk1"/>
                </a:solidFill>
              </a:defRPr>
            </a:lvl8pPr>
            <a:lvl9pPr lvl="8" algn="ctr">
              <a:buNone/>
              <a:defRPr sz="1700"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4" name="Google Shape;4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1226322" y="223087"/>
            <a:ext cx="731419" cy="7095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hlussfolie_Welt">
  <p:cSld name="Schlussfolie_Wel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/>
          <p:nvPr/>
        </p:nvSpPr>
        <p:spPr>
          <a:xfrm>
            <a:off x="579828" y="5635488"/>
            <a:ext cx="3415800" cy="7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60925" spcFirstLastPara="1" rIns="60925" wrap="square" tIns="6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FOR PEOPLE AND THEIR</a:t>
            </a:r>
            <a:br>
              <a:rPr b="0" i="0" lang="en-US" sz="21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1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FUTURE ENVIRONMENT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" name="Google Shape;4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847660" y="5748704"/>
            <a:ext cx="952772" cy="635181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7"/>
          <p:cNvSpPr/>
          <p:nvPr/>
        </p:nvSpPr>
        <p:spPr>
          <a:xfrm>
            <a:off x="5803948" y="5349604"/>
            <a:ext cx="6101400" cy="114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DigiPass</a:t>
            </a:r>
            <a:r>
              <a:rPr lang="en-US" sz="1300">
                <a:solidFill>
                  <a:schemeClr val="dk1"/>
                </a:solidFill>
              </a:rPr>
              <a:t> project has been funded by the European Commission for the programme HORIZON-CL4-2023-RESILIENCE-01, </a:t>
            </a:r>
            <a:br>
              <a:rPr lang="en-US" sz="1300">
                <a:solidFill>
                  <a:schemeClr val="dk1"/>
                </a:solidFill>
              </a:rPr>
            </a:br>
            <a:r>
              <a:rPr lang="en-US" sz="1300">
                <a:solidFill>
                  <a:schemeClr val="dk1"/>
                </a:solidFill>
              </a:rPr>
              <a:t>Grant Agreement No </a:t>
            </a:r>
            <a:r>
              <a:rPr b="1" lang="en-US" sz="1300">
                <a:solidFill>
                  <a:schemeClr val="dk1"/>
                </a:solidFill>
              </a:rPr>
              <a:t>101138510</a:t>
            </a:r>
            <a:br>
              <a:rPr b="1" lang="en-US" sz="1300">
                <a:solidFill>
                  <a:schemeClr val="dk1"/>
                </a:solidFill>
              </a:rPr>
            </a:br>
            <a:r>
              <a:rPr lang="en-US" sz="1300">
                <a:solidFill>
                  <a:schemeClr val="dk1"/>
                </a:solidFill>
              </a:rPr>
              <a:t>WIKKI LIMITED, UK participant in Horizon Europe Project DigiPass, is supported by UKRI grant number </a:t>
            </a:r>
            <a:r>
              <a:rPr b="1" lang="en-US" sz="1300">
                <a:solidFill>
                  <a:schemeClr val="dk1"/>
                </a:solidFill>
              </a:rPr>
              <a:t>10100819: DigiPass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49" name="Google Shape;4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55508" y="122449"/>
            <a:ext cx="2105884" cy="994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7"/>
          <p:cNvPicPr preferRelativeResize="0"/>
          <p:nvPr/>
        </p:nvPicPr>
        <p:blipFill rotWithShape="1">
          <a:blip r:embed="rId4">
            <a:alphaModFix/>
          </a:blip>
          <a:srcRect b="34934" l="0" r="0" t="0"/>
          <a:stretch/>
        </p:blipFill>
        <p:spPr>
          <a:xfrm>
            <a:off x="680966" y="4566468"/>
            <a:ext cx="2221588" cy="12748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" name="Google Shape;51;p7"/>
          <p:cNvGrpSpPr/>
          <p:nvPr/>
        </p:nvGrpSpPr>
        <p:grpSpPr>
          <a:xfrm>
            <a:off x="892209" y="1180075"/>
            <a:ext cx="10761651" cy="3023271"/>
            <a:chOff x="702492" y="1067753"/>
            <a:chExt cx="8073257" cy="2268020"/>
          </a:xfrm>
        </p:grpSpPr>
        <p:pic>
          <p:nvPicPr>
            <p:cNvPr id="52" name="Google Shape;52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02492" y="1067753"/>
              <a:ext cx="1096901" cy="86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" name="Google Shape;53;p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075416" y="1285907"/>
              <a:ext cx="1700333" cy="4243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" name="Google Shape;54;p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611960" y="2313089"/>
              <a:ext cx="1104430" cy="2120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" name="Google Shape;55;p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064566" y="1332746"/>
              <a:ext cx="1883410" cy="5956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" name="Google Shape;56;p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5803135" y="1928361"/>
              <a:ext cx="1008714" cy="2468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blue and orange logo&#10;&#10;Description automatically generated" id="57" name="Google Shape;57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103637" y="2495140"/>
              <a:ext cx="653136" cy="5186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logo with letters and numbers&#10;&#10;Description automatically generated" id="58" name="Google Shape;58;p7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367661" y="2240831"/>
              <a:ext cx="1115847" cy="3565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" name="Google Shape;59;p7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6337283" y="2844478"/>
              <a:ext cx="983829" cy="4150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blue and yellow logo&#10;&#10;Description automatically generated" id="60" name="Google Shape;60;p7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4638508" y="1304371"/>
              <a:ext cx="763664" cy="387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logo of a company&#10;&#10;Description automatically generated" id="61" name="Google Shape;61;p7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4703801" y="2313096"/>
              <a:ext cx="1152525" cy="3286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black background with a black square&#10;&#10;Description automatically generated with medium confidence" id="62" name="Google Shape;62;p7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3280778" y="2909885"/>
              <a:ext cx="1307727" cy="4258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" name="Google Shape;63;p7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2210622" y="2815523"/>
              <a:ext cx="501650" cy="501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" name="Google Shape;64;p7"/>
          <p:cNvSpPr txBox="1"/>
          <p:nvPr>
            <p:ph idx="12" type="sldNum"/>
          </p:nvPr>
        </p:nvSpPr>
        <p:spPr>
          <a:xfrm>
            <a:off x="11579114" y="6392534"/>
            <a:ext cx="731400" cy="52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ctr">
              <a:buNone/>
              <a:defRPr sz="1700">
                <a:solidFill>
                  <a:schemeClr val="dk1"/>
                </a:solidFill>
              </a:defRPr>
            </a:lvl1pPr>
            <a:lvl2pPr lvl="1" algn="ctr">
              <a:buNone/>
              <a:defRPr sz="1700">
                <a:solidFill>
                  <a:schemeClr val="dk1"/>
                </a:solidFill>
              </a:defRPr>
            </a:lvl2pPr>
            <a:lvl3pPr lvl="2" algn="ctr">
              <a:buNone/>
              <a:defRPr sz="1700">
                <a:solidFill>
                  <a:schemeClr val="dk1"/>
                </a:solidFill>
              </a:defRPr>
            </a:lvl3pPr>
            <a:lvl4pPr lvl="3" algn="ctr">
              <a:buNone/>
              <a:defRPr sz="1700">
                <a:solidFill>
                  <a:schemeClr val="dk1"/>
                </a:solidFill>
              </a:defRPr>
            </a:lvl4pPr>
            <a:lvl5pPr lvl="4" algn="ctr">
              <a:buNone/>
              <a:defRPr sz="1700">
                <a:solidFill>
                  <a:schemeClr val="dk1"/>
                </a:solidFill>
              </a:defRPr>
            </a:lvl5pPr>
            <a:lvl6pPr lvl="5" algn="ctr">
              <a:buNone/>
              <a:defRPr sz="1700">
                <a:solidFill>
                  <a:schemeClr val="dk1"/>
                </a:solidFill>
              </a:defRPr>
            </a:lvl6pPr>
            <a:lvl7pPr lvl="6" algn="ctr">
              <a:buNone/>
              <a:defRPr sz="1700">
                <a:solidFill>
                  <a:schemeClr val="dk1"/>
                </a:solidFill>
              </a:defRPr>
            </a:lvl7pPr>
            <a:lvl8pPr lvl="7" algn="ctr">
              <a:buNone/>
              <a:defRPr sz="1700">
                <a:solidFill>
                  <a:schemeClr val="dk1"/>
                </a:solidFill>
              </a:defRPr>
            </a:lvl8pPr>
            <a:lvl9pPr lvl="8" algn="ctr">
              <a:buNone/>
              <a:defRPr sz="1700"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 txBox="1"/>
          <p:nvPr>
            <p:ph type="title"/>
          </p:nvPr>
        </p:nvSpPr>
        <p:spPr>
          <a:xfrm>
            <a:off x="1884488" y="546720"/>
            <a:ext cx="8419200" cy="13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>
            <p:ph idx="1" type="subTitle"/>
          </p:nvPr>
        </p:nvSpPr>
        <p:spPr>
          <a:xfrm>
            <a:off x="747653" y="4447200"/>
            <a:ext cx="2387700" cy="12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/>
        </p:txBody>
      </p:sp>
      <p:sp>
        <p:nvSpPr>
          <p:cNvPr id="68" name="Google Shape;68;p8"/>
          <p:cNvSpPr txBox="1"/>
          <p:nvPr>
            <p:ph idx="12" type="sldNum"/>
          </p:nvPr>
        </p:nvSpPr>
        <p:spPr>
          <a:xfrm>
            <a:off x="11579114" y="6392534"/>
            <a:ext cx="731400" cy="52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ctr">
              <a:buNone/>
              <a:defRPr sz="1700">
                <a:solidFill>
                  <a:schemeClr val="dk1"/>
                </a:solidFill>
              </a:defRPr>
            </a:lvl1pPr>
            <a:lvl2pPr lvl="1" algn="ctr">
              <a:buNone/>
              <a:defRPr sz="1700">
                <a:solidFill>
                  <a:schemeClr val="dk1"/>
                </a:solidFill>
              </a:defRPr>
            </a:lvl2pPr>
            <a:lvl3pPr lvl="2" algn="ctr">
              <a:buNone/>
              <a:defRPr sz="1700">
                <a:solidFill>
                  <a:schemeClr val="dk1"/>
                </a:solidFill>
              </a:defRPr>
            </a:lvl3pPr>
            <a:lvl4pPr lvl="3" algn="ctr">
              <a:buNone/>
              <a:defRPr sz="1700">
                <a:solidFill>
                  <a:schemeClr val="dk1"/>
                </a:solidFill>
              </a:defRPr>
            </a:lvl4pPr>
            <a:lvl5pPr lvl="4" algn="ctr">
              <a:buNone/>
              <a:defRPr sz="1700">
                <a:solidFill>
                  <a:schemeClr val="dk1"/>
                </a:solidFill>
              </a:defRPr>
            </a:lvl5pPr>
            <a:lvl6pPr lvl="5" algn="ctr">
              <a:buNone/>
              <a:defRPr sz="1700">
                <a:solidFill>
                  <a:schemeClr val="dk1"/>
                </a:solidFill>
              </a:defRPr>
            </a:lvl6pPr>
            <a:lvl7pPr lvl="6" algn="ctr">
              <a:buNone/>
              <a:defRPr sz="1700">
                <a:solidFill>
                  <a:schemeClr val="dk1"/>
                </a:solidFill>
              </a:defRPr>
            </a:lvl7pPr>
            <a:lvl8pPr lvl="7" algn="ctr">
              <a:buNone/>
              <a:defRPr sz="1700">
                <a:solidFill>
                  <a:schemeClr val="dk1"/>
                </a:solidFill>
              </a:defRPr>
            </a:lvl8pPr>
            <a:lvl9pPr lvl="8" algn="ctr">
              <a:buNone/>
              <a:defRPr sz="1700"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 txBox="1"/>
          <p:nvPr>
            <p:ph idx="12" type="sldNum"/>
          </p:nvPr>
        </p:nvSpPr>
        <p:spPr>
          <a:xfrm>
            <a:off x="11579114" y="6392534"/>
            <a:ext cx="731400" cy="52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ctr">
              <a:buNone/>
              <a:defRPr sz="1700">
                <a:solidFill>
                  <a:schemeClr val="dk1"/>
                </a:solidFill>
              </a:defRPr>
            </a:lvl1pPr>
            <a:lvl2pPr lvl="1" algn="ctr">
              <a:buNone/>
              <a:defRPr sz="1700">
                <a:solidFill>
                  <a:schemeClr val="dk1"/>
                </a:solidFill>
              </a:defRPr>
            </a:lvl2pPr>
            <a:lvl3pPr lvl="2" algn="ctr">
              <a:buNone/>
              <a:defRPr sz="1700">
                <a:solidFill>
                  <a:schemeClr val="dk1"/>
                </a:solidFill>
              </a:defRPr>
            </a:lvl3pPr>
            <a:lvl4pPr lvl="3" algn="ctr">
              <a:buNone/>
              <a:defRPr sz="1700">
                <a:solidFill>
                  <a:schemeClr val="dk1"/>
                </a:solidFill>
              </a:defRPr>
            </a:lvl4pPr>
            <a:lvl5pPr lvl="4" algn="ctr">
              <a:buNone/>
              <a:defRPr sz="1700">
                <a:solidFill>
                  <a:schemeClr val="dk1"/>
                </a:solidFill>
              </a:defRPr>
            </a:lvl5pPr>
            <a:lvl6pPr lvl="5" algn="ctr">
              <a:buNone/>
              <a:defRPr sz="1700">
                <a:solidFill>
                  <a:schemeClr val="dk1"/>
                </a:solidFill>
              </a:defRPr>
            </a:lvl6pPr>
            <a:lvl7pPr lvl="6" algn="ctr">
              <a:buNone/>
              <a:defRPr sz="1700">
                <a:solidFill>
                  <a:schemeClr val="dk1"/>
                </a:solidFill>
              </a:defRPr>
            </a:lvl7pPr>
            <a:lvl8pPr lvl="7" algn="ctr">
              <a:buNone/>
              <a:defRPr sz="1700">
                <a:solidFill>
                  <a:schemeClr val="dk1"/>
                </a:solidFill>
              </a:defRPr>
            </a:lvl8pPr>
            <a:lvl9pPr lvl="8" algn="ctr">
              <a:buNone/>
              <a:defRPr sz="1700"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" name="Google Shape;71;p9"/>
          <p:cNvSpPr txBox="1"/>
          <p:nvPr>
            <p:ph type="title"/>
          </p:nvPr>
        </p:nvSpPr>
        <p:spPr>
          <a:xfrm>
            <a:off x="1575606" y="2175400"/>
            <a:ext cx="9037800" cy="2507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E8C07"/>
              </a:buClr>
              <a:buSzPts val="8000"/>
              <a:buNone/>
              <a:defRPr sz="8000">
                <a:solidFill>
                  <a:srgbClr val="2E8C07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 txBox="1"/>
          <p:nvPr>
            <p:ph type="title"/>
          </p:nvPr>
        </p:nvSpPr>
        <p:spPr>
          <a:xfrm>
            <a:off x="1884488" y="546720"/>
            <a:ext cx="8419200" cy="13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2" type="sldNum"/>
          </p:nvPr>
        </p:nvSpPr>
        <p:spPr>
          <a:xfrm>
            <a:off x="11579114" y="6392534"/>
            <a:ext cx="731400" cy="52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ctr">
              <a:buNone/>
              <a:defRPr sz="1700">
                <a:solidFill>
                  <a:schemeClr val="dk1"/>
                </a:solidFill>
              </a:defRPr>
            </a:lvl1pPr>
            <a:lvl2pPr lvl="1" algn="ctr">
              <a:buNone/>
              <a:defRPr sz="1700">
                <a:solidFill>
                  <a:schemeClr val="dk1"/>
                </a:solidFill>
              </a:defRPr>
            </a:lvl2pPr>
            <a:lvl3pPr lvl="2" algn="ctr">
              <a:buNone/>
              <a:defRPr sz="1700">
                <a:solidFill>
                  <a:schemeClr val="dk1"/>
                </a:solidFill>
              </a:defRPr>
            </a:lvl3pPr>
            <a:lvl4pPr lvl="3" algn="ctr">
              <a:buNone/>
              <a:defRPr sz="1700">
                <a:solidFill>
                  <a:schemeClr val="dk1"/>
                </a:solidFill>
              </a:defRPr>
            </a:lvl4pPr>
            <a:lvl5pPr lvl="4" algn="ctr">
              <a:buNone/>
              <a:defRPr sz="1700">
                <a:solidFill>
                  <a:schemeClr val="dk1"/>
                </a:solidFill>
              </a:defRPr>
            </a:lvl5pPr>
            <a:lvl6pPr lvl="5" algn="ctr">
              <a:buNone/>
              <a:defRPr sz="1700">
                <a:solidFill>
                  <a:schemeClr val="dk1"/>
                </a:solidFill>
              </a:defRPr>
            </a:lvl6pPr>
            <a:lvl7pPr lvl="6" algn="ctr">
              <a:buNone/>
              <a:defRPr sz="1700">
                <a:solidFill>
                  <a:schemeClr val="dk1"/>
                </a:solidFill>
              </a:defRPr>
            </a:lvl7pPr>
            <a:lvl8pPr lvl="7" algn="ctr">
              <a:buNone/>
              <a:defRPr sz="1700">
                <a:solidFill>
                  <a:schemeClr val="dk1"/>
                </a:solidFill>
              </a:defRPr>
            </a:lvl8pPr>
            <a:lvl9pPr lvl="8" algn="ctr">
              <a:buNone/>
              <a:defRPr sz="1700"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ndard-Layout-1">
  <p:cSld name="Standard-Layout-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type="title"/>
          </p:nvPr>
        </p:nvSpPr>
        <p:spPr>
          <a:xfrm>
            <a:off x="426022" y="145954"/>
            <a:ext cx="113547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426022" y="1028015"/>
            <a:ext cx="11354700" cy="5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11579114" y="6392534"/>
            <a:ext cx="731400" cy="52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ctr">
              <a:buNone/>
              <a:defRPr sz="1700">
                <a:solidFill>
                  <a:schemeClr val="dk1"/>
                </a:solidFill>
              </a:defRPr>
            </a:lvl1pPr>
            <a:lvl2pPr lvl="1" algn="ctr">
              <a:buNone/>
              <a:defRPr sz="1700">
                <a:solidFill>
                  <a:schemeClr val="dk1"/>
                </a:solidFill>
              </a:defRPr>
            </a:lvl2pPr>
            <a:lvl3pPr lvl="2" algn="ctr">
              <a:buNone/>
              <a:defRPr sz="1700">
                <a:solidFill>
                  <a:schemeClr val="dk1"/>
                </a:solidFill>
              </a:defRPr>
            </a:lvl3pPr>
            <a:lvl4pPr lvl="3" algn="ctr">
              <a:buNone/>
              <a:defRPr sz="1700">
                <a:solidFill>
                  <a:schemeClr val="dk1"/>
                </a:solidFill>
              </a:defRPr>
            </a:lvl4pPr>
            <a:lvl5pPr lvl="4" algn="ctr">
              <a:buNone/>
              <a:defRPr sz="1700">
                <a:solidFill>
                  <a:schemeClr val="dk1"/>
                </a:solidFill>
              </a:defRPr>
            </a:lvl5pPr>
            <a:lvl6pPr lvl="5" algn="ctr">
              <a:buNone/>
              <a:defRPr sz="1700">
                <a:solidFill>
                  <a:schemeClr val="dk1"/>
                </a:solidFill>
              </a:defRPr>
            </a:lvl6pPr>
            <a:lvl7pPr lvl="6" algn="ctr">
              <a:buNone/>
              <a:defRPr sz="1700">
                <a:solidFill>
                  <a:schemeClr val="dk1"/>
                </a:solidFill>
              </a:defRPr>
            </a:lvl7pPr>
            <a:lvl8pPr lvl="7" algn="ctr">
              <a:buNone/>
              <a:defRPr sz="1700">
                <a:solidFill>
                  <a:schemeClr val="dk1"/>
                </a:solidFill>
              </a:defRPr>
            </a:lvl8pPr>
            <a:lvl9pPr lvl="8" algn="ctr">
              <a:buNone/>
              <a:defRPr sz="1700"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Zeitachse">
  <p:cSld name="1_Zeitachse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/>
          <p:nvPr/>
        </p:nvSpPr>
        <p:spPr>
          <a:xfrm>
            <a:off x="1101238" y="0"/>
            <a:ext cx="11085928" cy="6858000"/>
          </a:xfrm>
          <a:custGeom>
            <a:rect b="b" l="l" r="r" t="t"/>
            <a:pathLst>
              <a:path extrusionOk="0" h="6858000" w="10078116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pic>
        <p:nvPicPr>
          <p:cNvPr id="81" name="Google Shape;8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8158" y="5827777"/>
            <a:ext cx="1520444" cy="57633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2"/>
          <p:cNvSpPr txBox="1"/>
          <p:nvPr>
            <p:ph idx="12" type="sldNum"/>
          </p:nvPr>
        </p:nvSpPr>
        <p:spPr>
          <a:xfrm>
            <a:off x="11579114" y="6392534"/>
            <a:ext cx="731400" cy="52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ctr">
              <a:buNone/>
              <a:defRPr sz="1700">
                <a:solidFill>
                  <a:schemeClr val="dk1"/>
                </a:solidFill>
              </a:defRPr>
            </a:lvl1pPr>
            <a:lvl2pPr lvl="1" algn="ctr">
              <a:buNone/>
              <a:defRPr sz="1700">
                <a:solidFill>
                  <a:schemeClr val="dk1"/>
                </a:solidFill>
              </a:defRPr>
            </a:lvl2pPr>
            <a:lvl3pPr lvl="2" algn="ctr">
              <a:buNone/>
              <a:defRPr sz="1700">
                <a:solidFill>
                  <a:schemeClr val="dk1"/>
                </a:solidFill>
              </a:defRPr>
            </a:lvl3pPr>
            <a:lvl4pPr lvl="3" algn="ctr">
              <a:buNone/>
              <a:defRPr sz="1700">
                <a:solidFill>
                  <a:schemeClr val="dk1"/>
                </a:solidFill>
              </a:defRPr>
            </a:lvl4pPr>
            <a:lvl5pPr lvl="4" algn="ctr">
              <a:buNone/>
              <a:defRPr sz="1700">
                <a:solidFill>
                  <a:schemeClr val="dk1"/>
                </a:solidFill>
              </a:defRPr>
            </a:lvl5pPr>
            <a:lvl6pPr lvl="5" algn="ctr">
              <a:buNone/>
              <a:defRPr sz="1700">
                <a:solidFill>
                  <a:schemeClr val="dk1"/>
                </a:solidFill>
              </a:defRPr>
            </a:lvl6pPr>
            <a:lvl7pPr lvl="6" algn="ctr">
              <a:buNone/>
              <a:defRPr sz="1700">
                <a:solidFill>
                  <a:schemeClr val="dk1"/>
                </a:solidFill>
              </a:defRPr>
            </a:lvl7pPr>
            <a:lvl8pPr lvl="7" algn="ctr">
              <a:buNone/>
              <a:defRPr sz="1700">
                <a:solidFill>
                  <a:schemeClr val="dk1"/>
                </a:solidFill>
              </a:defRPr>
            </a:lvl8pPr>
            <a:lvl9pPr lvl="8" algn="ctr">
              <a:buNone/>
              <a:defRPr sz="1700"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609328" y="273600"/>
            <a:ext cx="109698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" type="body"/>
          </p:nvPr>
        </p:nvSpPr>
        <p:spPr>
          <a:xfrm>
            <a:off x="609328" y="1604520"/>
            <a:ext cx="10969800" cy="39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2" type="sldNum"/>
          </p:nvPr>
        </p:nvSpPr>
        <p:spPr>
          <a:xfrm>
            <a:off x="9205263" y="6356367"/>
            <a:ext cx="2145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www.batcat.info</a:t>
            </a:r>
            <a:endParaRPr sz="1700">
              <a:solidFill>
                <a:srgbClr val="E691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3"/>
          <p:cNvSpPr txBox="1"/>
          <p:nvPr>
            <p:ph idx="2" type="sldNum"/>
          </p:nvPr>
        </p:nvSpPr>
        <p:spPr>
          <a:xfrm>
            <a:off x="11579114" y="6392534"/>
            <a:ext cx="731400" cy="52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ctr">
              <a:buNone/>
              <a:defRPr sz="1700">
                <a:solidFill>
                  <a:schemeClr val="dk1"/>
                </a:solidFill>
              </a:defRPr>
            </a:lvl1pPr>
            <a:lvl2pPr lvl="1" algn="ctr">
              <a:buNone/>
              <a:defRPr sz="1700">
                <a:solidFill>
                  <a:schemeClr val="dk1"/>
                </a:solidFill>
              </a:defRPr>
            </a:lvl2pPr>
            <a:lvl3pPr lvl="2" algn="ctr">
              <a:buNone/>
              <a:defRPr sz="1700">
                <a:solidFill>
                  <a:schemeClr val="dk1"/>
                </a:solidFill>
              </a:defRPr>
            </a:lvl3pPr>
            <a:lvl4pPr lvl="3" algn="ctr">
              <a:buNone/>
              <a:defRPr sz="1700">
                <a:solidFill>
                  <a:schemeClr val="dk1"/>
                </a:solidFill>
              </a:defRPr>
            </a:lvl4pPr>
            <a:lvl5pPr lvl="4" algn="ctr">
              <a:buNone/>
              <a:defRPr sz="1700">
                <a:solidFill>
                  <a:schemeClr val="dk1"/>
                </a:solidFill>
              </a:defRPr>
            </a:lvl5pPr>
            <a:lvl6pPr lvl="5" algn="ctr">
              <a:buNone/>
              <a:defRPr sz="1700">
                <a:solidFill>
                  <a:schemeClr val="dk1"/>
                </a:solidFill>
              </a:defRPr>
            </a:lvl6pPr>
            <a:lvl7pPr lvl="6" algn="ctr">
              <a:buNone/>
              <a:defRPr sz="1700">
                <a:solidFill>
                  <a:schemeClr val="dk1"/>
                </a:solidFill>
              </a:defRPr>
            </a:lvl7pPr>
            <a:lvl8pPr lvl="7" algn="ctr">
              <a:buNone/>
              <a:defRPr sz="1700">
                <a:solidFill>
                  <a:schemeClr val="dk1"/>
                </a:solidFill>
              </a:defRPr>
            </a:lvl8pPr>
            <a:lvl9pPr lvl="8" algn="ctr">
              <a:buNone/>
              <a:defRPr sz="1700"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rtArt">
  <p:cSld name="SmartArt"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/>
          <p:nvPr>
            <p:ph type="title"/>
          </p:nvPr>
        </p:nvSpPr>
        <p:spPr>
          <a:xfrm>
            <a:off x="609328" y="273600"/>
            <a:ext cx="109698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90" name="Google Shape;90;p14"/>
          <p:cNvSpPr/>
          <p:nvPr>
            <p:ph idx="2" type="dgm"/>
          </p:nvPr>
        </p:nvSpPr>
        <p:spPr>
          <a:xfrm>
            <a:off x="837990" y="2139084"/>
            <a:ext cx="10512900" cy="36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1" name="Google Shape;91;p14"/>
          <p:cNvSpPr txBox="1"/>
          <p:nvPr>
            <p:ph idx="11" type="ftr"/>
          </p:nvPr>
        </p:nvSpPr>
        <p:spPr>
          <a:xfrm>
            <a:off x="0" y="0"/>
            <a:ext cx="29991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sz="9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2" name="Google Shape;92;p14"/>
          <p:cNvSpPr txBox="1"/>
          <p:nvPr>
            <p:ph idx="12" type="sldNum"/>
          </p:nvPr>
        </p:nvSpPr>
        <p:spPr>
          <a:xfrm>
            <a:off x="0" y="0"/>
            <a:ext cx="29991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sz="9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algn="l">
              <a:spcBef>
                <a:spcPts val="0"/>
              </a:spcBef>
              <a:buNone/>
              <a:defRPr sz="9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algn="l">
              <a:spcBef>
                <a:spcPts val="0"/>
              </a:spcBef>
              <a:buNone/>
              <a:defRPr sz="9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algn="l">
              <a:spcBef>
                <a:spcPts val="0"/>
              </a:spcBef>
              <a:buNone/>
              <a:defRPr sz="9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algn="l">
              <a:spcBef>
                <a:spcPts val="0"/>
              </a:spcBef>
              <a:buNone/>
              <a:defRPr sz="9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algn="l">
              <a:spcBef>
                <a:spcPts val="0"/>
              </a:spcBef>
              <a:buNone/>
              <a:defRPr sz="9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algn="l">
              <a:spcBef>
                <a:spcPts val="0"/>
              </a:spcBef>
              <a:buNone/>
              <a:defRPr sz="9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algn="l">
              <a:spcBef>
                <a:spcPts val="0"/>
              </a:spcBef>
              <a:buNone/>
              <a:defRPr sz="9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algn="l">
              <a:spcBef>
                <a:spcPts val="0"/>
              </a:spcBef>
              <a:buNone/>
              <a:defRPr sz="9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3" name="Google Shape;9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8966" y="6056557"/>
            <a:ext cx="1520444" cy="57633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>
            <p:ph idx="3" type="sldNum"/>
          </p:nvPr>
        </p:nvSpPr>
        <p:spPr>
          <a:xfrm>
            <a:off x="11579114" y="6392534"/>
            <a:ext cx="731400" cy="52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ctr">
              <a:buNone/>
              <a:defRPr sz="1700">
                <a:solidFill>
                  <a:schemeClr val="dk1"/>
                </a:solidFill>
              </a:defRPr>
            </a:lvl1pPr>
            <a:lvl2pPr lvl="1" algn="ctr">
              <a:buNone/>
              <a:defRPr sz="1700">
                <a:solidFill>
                  <a:schemeClr val="dk1"/>
                </a:solidFill>
              </a:defRPr>
            </a:lvl2pPr>
            <a:lvl3pPr lvl="2" algn="ctr">
              <a:buNone/>
              <a:defRPr sz="1700">
                <a:solidFill>
                  <a:schemeClr val="dk1"/>
                </a:solidFill>
              </a:defRPr>
            </a:lvl3pPr>
            <a:lvl4pPr lvl="3" algn="ctr">
              <a:buNone/>
              <a:defRPr sz="1700">
                <a:solidFill>
                  <a:schemeClr val="dk1"/>
                </a:solidFill>
              </a:defRPr>
            </a:lvl4pPr>
            <a:lvl5pPr lvl="4" algn="ctr">
              <a:buNone/>
              <a:defRPr sz="1700">
                <a:solidFill>
                  <a:schemeClr val="dk1"/>
                </a:solidFill>
              </a:defRPr>
            </a:lvl5pPr>
            <a:lvl6pPr lvl="5" algn="ctr">
              <a:buNone/>
              <a:defRPr sz="1700">
                <a:solidFill>
                  <a:schemeClr val="dk1"/>
                </a:solidFill>
              </a:defRPr>
            </a:lvl6pPr>
            <a:lvl7pPr lvl="6" algn="ctr">
              <a:buNone/>
              <a:defRPr sz="1700">
                <a:solidFill>
                  <a:schemeClr val="dk1"/>
                </a:solidFill>
              </a:defRPr>
            </a:lvl7pPr>
            <a:lvl8pPr lvl="7" algn="ctr">
              <a:buNone/>
              <a:defRPr sz="1700">
                <a:solidFill>
                  <a:schemeClr val="dk1"/>
                </a:solidFill>
              </a:defRPr>
            </a:lvl8pPr>
            <a:lvl9pPr lvl="8" algn="ctr">
              <a:buNone/>
              <a:defRPr sz="1700"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folie-white 1">
  <p:cSld name="BLANK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idx="12" type="sldNum"/>
          </p:nvPr>
        </p:nvSpPr>
        <p:spPr>
          <a:xfrm>
            <a:off x="11406191" y="6333134"/>
            <a:ext cx="731400" cy="5250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</a:defRPr>
            </a:lvl1pPr>
            <a:lvl2pPr lvl="1" algn="r">
              <a:buNone/>
              <a:defRPr sz="1300">
                <a:solidFill>
                  <a:schemeClr val="dk1"/>
                </a:solidFill>
              </a:defRPr>
            </a:lvl2pPr>
            <a:lvl3pPr lvl="2" algn="r">
              <a:buNone/>
              <a:defRPr sz="1300">
                <a:solidFill>
                  <a:schemeClr val="dk1"/>
                </a:solidFill>
              </a:defRPr>
            </a:lvl3pPr>
            <a:lvl4pPr lvl="3" algn="r">
              <a:buNone/>
              <a:defRPr sz="1300">
                <a:solidFill>
                  <a:schemeClr val="dk1"/>
                </a:solidFill>
              </a:defRPr>
            </a:lvl4pPr>
            <a:lvl5pPr lvl="4" algn="r">
              <a:buNone/>
              <a:defRPr sz="1300">
                <a:solidFill>
                  <a:schemeClr val="dk1"/>
                </a:solidFill>
              </a:defRPr>
            </a:lvl5pPr>
            <a:lvl6pPr lvl="5" algn="r">
              <a:buNone/>
              <a:defRPr sz="1300">
                <a:solidFill>
                  <a:schemeClr val="dk1"/>
                </a:solidFill>
              </a:defRPr>
            </a:lvl6pPr>
            <a:lvl7pPr lvl="6" algn="r">
              <a:buNone/>
              <a:defRPr sz="1300">
                <a:solidFill>
                  <a:schemeClr val="dk1"/>
                </a:solidFill>
              </a:defRPr>
            </a:lvl7pPr>
            <a:lvl8pPr lvl="7" algn="r">
              <a:buNone/>
              <a:defRPr sz="1300">
                <a:solidFill>
                  <a:schemeClr val="dk1"/>
                </a:solidFill>
              </a:defRPr>
            </a:lvl8pPr>
            <a:lvl9pPr lvl="8" algn="r">
              <a:buNone/>
              <a:defRPr sz="13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">
  <p:cSld name="BLANK_2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/>
          <p:nvPr>
            <p:ph idx="12" type="sldNum"/>
          </p:nvPr>
        </p:nvSpPr>
        <p:spPr>
          <a:xfrm>
            <a:off x="11406191" y="6333134"/>
            <a:ext cx="731400" cy="52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" type="blank">
  <p:cSld name="BLANK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/>
          <p:nvPr>
            <p:ph idx="12" type="sldNum"/>
          </p:nvPr>
        </p:nvSpPr>
        <p:spPr>
          <a:xfrm>
            <a:off x="11406191" y="6333134"/>
            <a:ext cx="731400" cy="52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3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image" Target="../media/image33.png"/><Relationship Id="rId10" Type="http://schemas.openxmlformats.org/officeDocument/2006/relationships/image" Target="../media/image14.png"/><Relationship Id="rId13" Type="http://schemas.openxmlformats.org/officeDocument/2006/relationships/image" Target="../media/image15.png"/><Relationship Id="rId12" Type="http://schemas.openxmlformats.org/officeDocument/2006/relationships/image" Target="../media/image13.png"/><Relationship Id="rId1" Type="http://schemas.openxmlformats.org/officeDocument/2006/relationships/image" Target="../media/image18.png"/><Relationship Id="rId2" Type="http://schemas.openxmlformats.org/officeDocument/2006/relationships/image" Target="../media/image16.jp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9" Type="http://schemas.openxmlformats.org/officeDocument/2006/relationships/image" Target="../media/image9.png"/><Relationship Id="rId15" Type="http://schemas.openxmlformats.org/officeDocument/2006/relationships/image" Target="../media/image1.jpg"/><Relationship Id="rId14" Type="http://schemas.openxmlformats.org/officeDocument/2006/relationships/image" Target="../media/image35.png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image" Target="../media/image7.png"/><Relationship Id="rId6" Type="http://schemas.openxmlformats.org/officeDocument/2006/relationships/image" Target="../media/image10.png"/><Relationship Id="rId7" Type="http://schemas.openxmlformats.org/officeDocument/2006/relationships/image" Target="../media/image32.png"/><Relationship Id="rId8" Type="http://schemas.openxmlformats.org/officeDocument/2006/relationships/image" Target="../media/image22.jpg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1101324" y="0"/>
            <a:ext cx="11085928" cy="6858000"/>
          </a:xfrm>
          <a:custGeom>
            <a:rect b="b" l="l" r="r" t="t"/>
            <a:pathLst>
              <a:path extrusionOk="0" h="6858000" w="10078116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sp>
        <p:nvSpPr>
          <p:cNvPr id="7" name="Google Shape;7;p1"/>
          <p:cNvSpPr/>
          <p:nvPr/>
        </p:nvSpPr>
        <p:spPr>
          <a:xfrm>
            <a:off x="11756658" y="6471733"/>
            <a:ext cx="376200" cy="366300"/>
          </a:xfrm>
          <a:prstGeom prst="ellipse">
            <a:avLst/>
          </a:prstGeom>
          <a:noFill/>
          <a:ln cap="flat" cmpd="sng" w="12700">
            <a:solidFill>
              <a:srgbClr val="F1C23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8" name="Google Shape;8;p1"/>
          <p:cNvSpPr/>
          <p:nvPr/>
        </p:nvSpPr>
        <p:spPr>
          <a:xfrm>
            <a:off x="467243" y="6493120"/>
            <a:ext cx="78909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60000" lIns="119975" spcFirstLastPara="1" rIns="119975" wrap="square" tIns="6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A5A5A5"/>
                </a:solidFill>
              </a:rPr>
              <a:t>AI3D -- Thessaloniki, Greece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p1"/>
          <p:cNvSpPr txBox="1"/>
          <p:nvPr>
            <p:ph type="title"/>
          </p:nvPr>
        </p:nvSpPr>
        <p:spPr>
          <a:xfrm>
            <a:off x="609447" y="273600"/>
            <a:ext cx="109698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Arial"/>
              <a:buNone/>
              <a:defRPr b="0" i="0" sz="5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 sz="2400"/>
            </a:lvl9pPr>
          </a:lstStyle>
          <a:p/>
        </p:txBody>
      </p:sp>
      <p:sp>
        <p:nvSpPr>
          <p:cNvPr id="10" name="Google Shape;10;p1"/>
          <p:cNvSpPr txBox="1"/>
          <p:nvPr>
            <p:ph idx="1" type="body"/>
          </p:nvPr>
        </p:nvSpPr>
        <p:spPr>
          <a:xfrm>
            <a:off x="609447" y="1604640"/>
            <a:ext cx="10969800" cy="39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81000" lvl="0" marL="457200" marR="0" algn="l">
              <a:lnSpc>
                <a:spcPct val="9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1150" lvl="2" marL="13716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11579114" y="6392534"/>
            <a:ext cx="7314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ctr">
              <a:buNone/>
              <a:defRPr sz="1700">
                <a:solidFill>
                  <a:srgbClr val="E69138"/>
                </a:solidFill>
              </a:defRPr>
            </a:lvl1pPr>
            <a:lvl2pPr lvl="1" algn="ctr">
              <a:buNone/>
              <a:defRPr sz="1700">
                <a:solidFill>
                  <a:srgbClr val="E69138"/>
                </a:solidFill>
              </a:defRPr>
            </a:lvl2pPr>
            <a:lvl3pPr lvl="2" algn="ctr">
              <a:buNone/>
              <a:defRPr sz="1700">
                <a:solidFill>
                  <a:srgbClr val="E69138"/>
                </a:solidFill>
              </a:defRPr>
            </a:lvl3pPr>
            <a:lvl4pPr lvl="3" algn="ctr">
              <a:buNone/>
              <a:defRPr sz="1700">
                <a:solidFill>
                  <a:srgbClr val="E69138"/>
                </a:solidFill>
              </a:defRPr>
            </a:lvl4pPr>
            <a:lvl5pPr lvl="4" algn="ctr">
              <a:buNone/>
              <a:defRPr sz="1700">
                <a:solidFill>
                  <a:srgbClr val="E69138"/>
                </a:solidFill>
              </a:defRPr>
            </a:lvl5pPr>
            <a:lvl6pPr lvl="5" algn="ctr">
              <a:buNone/>
              <a:defRPr sz="1700">
                <a:solidFill>
                  <a:srgbClr val="E69138"/>
                </a:solidFill>
              </a:defRPr>
            </a:lvl6pPr>
            <a:lvl7pPr lvl="6" algn="ctr">
              <a:buNone/>
              <a:defRPr sz="1700">
                <a:solidFill>
                  <a:srgbClr val="E69138"/>
                </a:solidFill>
              </a:defRPr>
            </a:lvl7pPr>
            <a:lvl8pPr lvl="7" algn="ctr">
              <a:buNone/>
              <a:defRPr sz="1700">
                <a:solidFill>
                  <a:srgbClr val="E69138"/>
                </a:solidFill>
              </a:defRPr>
            </a:lvl8pPr>
            <a:lvl9pPr lvl="8" algn="ctr">
              <a:buNone/>
              <a:defRPr sz="1700">
                <a:solidFill>
                  <a:srgbClr val="E69138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37846" y="6289200"/>
            <a:ext cx="1139117" cy="431172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/>
          <p:nvPr/>
        </p:nvSpPr>
        <p:spPr>
          <a:xfrm>
            <a:off x="519350" y="6566040"/>
            <a:ext cx="18072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89975" spcFirstLastPara="1" rIns="89975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strike="noStrike">
                <a:solidFill>
                  <a:srgbClr val="4B8C33"/>
                </a:solidFill>
                <a:latin typeface="Open Sans"/>
                <a:ea typeface="Open Sans"/>
                <a:cs typeface="Open Sans"/>
                <a:sym typeface="Open Sans"/>
              </a:rPr>
              <a:t>Know Your Products!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2" name="Google Shape;102;p17"/>
          <p:cNvGrpSpPr/>
          <p:nvPr/>
        </p:nvGrpSpPr>
        <p:grpSpPr>
          <a:xfrm>
            <a:off x="5616834" y="1384131"/>
            <a:ext cx="6285514" cy="4323383"/>
            <a:chOff x="5618520" y="1384200"/>
            <a:chExt cx="6287400" cy="4324680"/>
          </a:xfrm>
        </p:grpSpPr>
        <p:pic>
          <p:nvPicPr>
            <p:cNvPr id="103" name="Google Shape;103;p1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618520" y="1384200"/>
              <a:ext cx="1590840" cy="1247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" name="Google Shape;104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439560" y="1624680"/>
              <a:ext cx="2466360" cy="614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" name="Google Shape;105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994000" y="4417920"/>
              <a:ext cx="1601640" cy="3067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" name="Google Shape;106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207560" y="2522160"/>
              <a:ext cx="2732040" cy="8632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" name="Google Shape;107;p1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162800" y="2595960"/>
              <a:ext cx="1462680" cy="3571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blue and orange logo&#10;&#10;Description automatically generated" id="108" name="Google Shape;108;p1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056640" y="3067920"/>
              <a:ext cx="946800" cy="7516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logo with letters and numbers&#10;&#10;Description automatically generated" id="109" name="Google Shape;109;p1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0148400" y="3456720"/>
              <a:ext cx="1618200" cy="5162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" name="Google Shape;110;p1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863120" y="3619080"/>
              <a:ext cx="1426680" cy="601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blue and yellow logo&#10;&#10;Description automatically generated" id="111" name="Google Shape;111;p1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863120" y="1727640"/>
              <a:ext cx="1107000" cy="5612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logo of a company&#10;&#10;Description automatically generated" id="112" name="Google Shape;112;p17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8053920" y="4825440"/>
              <a:ext cx="1671480" cy="4759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black background with a black square&#10;&#10;Description automatically generated with medium confidence" id="113" name="Google Shape;113;p17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9946080" y="4241880"/>
              <a:ext cx="1896480" cy="6170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" name="Google Shape;114;p17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6542280" y="4982040"/>
              <a:ext cx="726840" cy="7268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5" name="Google Shape;115;p17"/>
          <p:cNvGrpSpPr/>
          <p:nvPr/>
        </p:nvGrpSpPr>
        <p:grpSpPr>
          <a:xfrm>
            <a:off x="1007697" y="1134720"/>
            <a:ext cx="3966371" cy="4290420"/>
            <a:chOff x="1007999" y="1134720"/>
            <a:chExt cx="3967561" cy="4290420"/>
          </a:xfrm>
        </p:grpSpPr>
        <p:pic>
          <p:nvPicPr>
            <p:cNvPr id="116" name="Google Shape;116;p17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 rot="10800000">
              <a:off x="1007999" y="1134720"/>
              <a:ext cx="3967561" cy="38491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" name="Google Shape;117;p17"/>
            <p:cNvSpPr/>
            <p:nvPr/>
          </p:nvSpPr>
          <p:spPr>
            <a:xfrm>
              <a:off x="1589040" y="5061240"/>
              <a:ext cx="2782200" cy="36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89975" spcFirstLastPara="1" rIns="89975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00" strike="noStrike">
                  <a:solidFill>
                    <a:schemeClr val="accent5"/>
                  </a:solidFill>
                  <a:latin typeface="Open Sans"/>
                  <a:ea typeface="Open Sans"/>
                  <a:cs typeface="Open Sans"/>
                  <a:sym typeface="Open Sans"/>
                </a:rPr>
                <a:t>Know Your Products!</a:t>
              </a:r>
              <a:endParaRPr b="0" sz="19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8" name="Google Shape;118;p17"/>
          <p:cNvSpPr/>
          <p:nvPr/>
        </p:nvSpPr>
        <p:spPr>
          <a:xfrm>
            <a:off x="2789662" y="6383880"/>
            <a:ext cx="84399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89975" spcFirstLastPara="1" rIns="89975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DigiPass</a:t>
            </a:r>
            <a:r>
              <a:rPr b="0" lang="en-US" sz="7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CSA project has been funded by the European Commission for the programme HORIZON-CL4-2023-RESILIENCE-01, Grant Agreement No </a:t>
            </a:r>
            <a:r>
              <a:rPr b="1" lang="en-US" sz="7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101138510</a:t>
            </a:r>
            <a:endParaRPr b="0" sz="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WIKKI LIMITED, UK participant in Horizon Europe Project DigiPass, is supported by UKRI grant number 10100819: </a:t>
            </a:r>
            <a:r>
              <a:rPr b="1" lang="en-US" sz="7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DigiPass</a:t>
            </a:r>
            <a:endParaRPr b="0" sz="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1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1230270" y="6215760"/>
            <a:ext cx="672312" cy="444848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7"/>
          <p:cNvSpPr/>
          <p:nvPr/>
        </p:nvSpPr>
        <p:spPr>
          <a:xfrm>
            <a:off x="6679569" y="6287040"/>
            <a:ext cx="45501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COORDINATION AND KNOWLEDGE SHARING ACROSS MATERIALS DEVELOPMENT COMMUNITIES (CSA):</a:t>
            </a:r>
            <a:endParaRPr b="0" sz="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7"/>
          <p:cNvSpPr txBox="1"/>
          <p:nvPr>
            <p:ph type="title"/>
          </p:nvPr>
        </p:nvSpPr>
        <p:spPr>
          <a:xfrm>
            <a:off x="609328" y="273600"/>
            <a:ext cx="109698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122" name="Google Shape;122;p17"/>
          <p:cNvSpPr txBox="1"/>
          <p:nvPr>
            <p:ph idx="1" type="body"/>
          </p:nvPr>
        </p:nvSpPr>
        <p:spPr>
          <a:xfrm>
            <a:off x="609328" y="1604520"/>
            <a:ext cx="10969800" cy="39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92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92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925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925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925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3" name="Google Shape;123;p17"/>
          <p:cNvSpPr txBox="1"/>
          <p:nvPr>
            <p:ph idx="12" type="sldNum"/>
          </p:nvPr>
        </p:nvSpPr>
        <p:spPr>
          <a:xfrm>
            <a:off x="11406191" y="6333134"/>
            <a:ext cx="7314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Autofit/>
          </a:bodyPr>
          <a:lstStyle>
            <a:lvl1pPr lvl="0" algn="r">
              <a:buNone/>
              <a:defRPr sz="1700">
                <a:solidFill>
                  <a:schemeClr val="dk1"/>
                </a:solidFill>
              </a:defRPr>
            </a:lvl1pPr>
            <a:lvl2pPr lvl="1" algn="r">
              <a:buNone/>
              <a:defRPr sz="1700">
                <a:solidFill>
                  <a:schemeClr val="dk1"/>
                </a:solidFill>
              </a:defRPr>
            </a:lvl2pPr>
            <a:lvl3pPr lvl="2" algn="r">
              <a:buNone/>
              <a:defRPr sz="1700">
                <a:solidFill>
                  <a:schemeClr val="dk1"/>
                </a:solidFill>
              </a:defRPr>
            </a:lvl3pPr>
            <a:lvl4pPr lvl="3" algn="r">
              <a:buNone/>
              <a:defRPr sz="1700">
                <a:solidFill>
                  <a:schemeClr val="dk1"/>
                </a:solidFill>
              </a:defRPr>
            </a:lvl4pPr>
            <a:lvl5pPr lvl="4" algn="r">
              <a:buNone/>
              <a:defRPr sz="1700">
                <a:solidFill>
                  <a:schemeClr val="dk1"/>
                </a:solidFill>
              </a:defRPr>
            </a:lvl5pPr>
            <a:lvl6pPr lvl="5" algn="r">
              <a:buNone/>
              <a:defRPr sz="1700">
                <a:solidFill>
                  <a:schemeClr val="dk1"/>
                </a:solidFill>
              </a:defRPr>
            </a:lvl6pPr>
            <a:lvl7pPr lvl="6" algn="r">
              <a:buNone/>
              <a:defRPr sz="1700">
                <a:solidFill>
                  <a:schemeClr val="dk1"/>
                </a:solidFill>
              </a:defRPr>
            </a:lvl7pPr>
            <a:lvl8pPr lvl="7" algn="r">
              <a:buNone/>
              <a:defRPr sz="1700">
                <a:solidFill>
                  <a:schemeClr val="dk1"/>
                </a:solidFill>
              </a:defRPr>
            </a:lvl8pPr>
            <a:lvl9pPr lvl="8" algn="r">
              <a:buNone/>
              <a:defRPr sz="17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1.png"/><Relationship Id="rId4" Type="http://schemas.openxmlformats.org/officeDocument/2006/relationships/image" Target="../media/image2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6DB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5601579" y="3942225"/>
            <a:ext cx="6423300" cy="49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026DB0"/>
                </a:solidFill>
                <a:latin typeface="Calibri"/>
                <a:ea typeface="Calibri"/>
                <a:cs typeface="Calibri"/>
                <a:sym typeface="Calibri"/>
              </a:rPr>
              <a:t>Building Digital Product Passports with SHACL</a:t>
            </a:r>
            <a:endParaRPr/>
          </a:p>
        </p:txBody>
      </p:sp>
      <p:sp>
        <p:nvSpPr>
          <p:cNvPr id="132" name="Google Shape;132;p19"/>
          <p:cNvSpPr txBox="1"/>
          <p:nvPr/>
        </p:nvSpPr>
        <p:spPr>
          <a:xfrm>
            <a:off x="5601580" y="4573050"/>
            <a:ext cx="4338300" cy="40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A visual approach to structured data</a:t>
            </a:r>
            <a:endParaRPr/>
          </a:p>
        </p:txBody>
      </p:sp>
      <p:sp>
        <p:nvSpPr>
          <p:cNvPr id="133" name="Google Shape;133;p19"/>
          <p:cNvSpPr txBox="1"/>
          <p:nvPr/>
        </p:nvSpPr>
        <p:spPr>
          <a:xfrm>
            <a:off x="5601581" y="5161275"/>
            <a:ext cx="3120900" cy="33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25E00"/>
                </a:solidFill>
                <a:latin typeface="Calibri"/>
                <a:ea typeface="Calibri"/>
                <a:cs typeface="Calibri"/>
                <a:sym typeface="Calibri"/>
              </a:rPr>
              <a:t>No coding background required</a:t>
            </a:r>
            <a:endParaRPr/>
          </a:p>
        </p:txBody>
      </p:sp>
      <p:sp>
        <p:nvSpPr>
          <p:cNvPr id="134" name="Google Shape;134;p19"/>
          <p:cNvSpPr txBox="1"/>
          <p:nvPr>
            <p:ph type="title"/>
          </p:nvPr>
        </p:nvSpPr>
        <p:spPr>
          <a:xfrm>
            <a:off x="233650" y="2746875"/>
            <a:ext cx="11371800" cy="9018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From Bricks to Forms</a:t>
            </a:r>
            <a:endParaRPr/>
          </a:p>
        </p:txBody>
      </p:sp>
      <p:sp>
        <p:nvSpPr>
          <p:cNvPr id="135" name="Google Shape;135;p19"/>
          <p:cNvSpPr txBox="1"/>
          <p:nvPr>
            <p:ph idx="12" type="sldNum"/>
          </p:nvPr>
        </p:nvSpPr>
        <p:spPr>
          <a:xfrm>
            <a:off x="11406191" y="6333134"/>
            <a:ext cx="731400" cy="5250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/>
          <p:nvPr>
            <p:ph type="title"/>
          </p:nvPr>
        </p:nvSpPr>
        <p:spPr>
          <a:xfrm>
            <a:off x="1308906" y="1078125"/>
            <a:ext cx="9037800" cy="2507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Heinz A. Preisig</a:t>
            </a:r>
            <a:endParaRPr sz="4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Process Systems Engineering</a:t>
            </a:r>
            <a:endParaRPr sz="4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NTNU, Trondheim</a:t>
            </a:r>
            <a:endParaRPr sz="4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Norway</a:t>
            </a:r>
            <a:endParaRPr sz="4000"/>
          </a:p>
        </p:txBody>
      </p:sp>
      <p:pic>
        <p:nvPicPr>
          <p:cNvPr id="141" name="Google Shape;141;p20" title="NTNU hovedlogo - farger - bredd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1074" y="5927525"/>
            <a:ext cx="2320502" cy="42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0"/>
          <p:cNvSpPr txBox="1"/>
          <p:nvPr>
            <p:ph idx="12" type="sldNum"/>
          </p:nvPr>
        </p:nvSpPr>
        <p:spPr>
          <a:xfrm>
            <a:off x="11579114" y="6392534"/>
            <a:ext cx="731400" cy="52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3" name="Google Shape;143;p20" title="qr-co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5638" y="3854825"/>
            <a:ext cx="1870701" cy="1870701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0"/>
          <p:cNvSpPr txBox="1"/>
          <p:nvPr/>
        </p:nvSpPr>
        <p:spPr>
          <a:xfrm>
            <a:off x="4762113" y="5801725"/>
            <a:ext cx="1904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e-mail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1"/>
          <p:cNvSpPr txBox="1"/>
          <p:nvPr/>
        </p:nvSpPr>
        <p:spPr>
          <a:xfrm>
            <a:off x="608085" y="1211575"/>
            <a:ext cx="10972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Digital Product Passports Are Hard</a:t>
            </a:r>
            <a:endParaRPr/>
          </a:p>
        </p:txBody>
      </p:sp>
      <p:sp>
        <p:nvSpPr>
          <p:cNvPr id="150" name="Google Shape;150;p21"/>
          <p:cNvSpPr/>
          <p:nvPr/>
        </p:nvSpPr>
        <p:spPr>
          <a:xfrm>
            <a:off x="645547" y="2063435"/>
            <a:ext cx="5303400" cy="4023300"/>
          </a:xfrm>
          <a:prstGeom prst="rect">
            <a:avLst/>
          </a:prstGeom>
          <a:solidFill>
            <a:srgbClr val="FFEDED"/>
          </a:solidFill>
          <a:ln cap="flat" cmpd="sng" w="19050">
            <a:solidFill>
              <a:srgbClr val="BF1B1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F1B1B"/>
                </a:solidFill>
                <a:latin typeface="Calibri"/>
                <a:ea typeface="Calibri"/>
                <a:cs typeface="Calibri"/>
                <a:sym typeface="Calibri"/>
              </a:rPr>
              <a:t>❌  TODAY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• Company A says: 'weight: 5kg'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• Company B says: 'mass: 5000g'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• Company C says: '5'  (just a number!)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33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→ Computers can't understand this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→ Manual data entry &amp; errors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→ Compliance headaches</a:t>
            </a:r>
            <a:endParaRPr/>
          </a:p>
        </p:txBody>
      </p:sp>
      <p:sp>
        <p:nvSpPr>
          <p:cNvPr id="151" name="Google Shape;151;p21"/>
          <p:cNvSpPr/>
          <p:nvPr/>
        </p:nvSpPr>
        <p:spPr>
          <a:xfrm>
            <a:off x="6240008" y="2063435"/>
            <a:ext cx="5303400" cy="4023300"/>
          </a:xfrm>
          <a:prstGeom prst="rect">
            <a:avLst/>
          </a:prstGeom>
          <a:solidFill>
            <a:srgbClr val="EDFFF3"/>
          </a:solidFill>
          <a:ln cap="flat" cmpd="sng" w="19050">
            <a:solidFill>
              <a:srgbClr val="167A4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67A40"/>
                </a:solidFill>
                <a:latin typeface="Calibri"/>
                <a:ea typeface="Calibri"/>
                <a:cs typeface="Calibri"/>
                <a:sym typeface="Calibri"/>
              </a:rPr>
              <a:t>✓  WITH SHACL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• Product.weight = 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• Must be a number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• Must have a unit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• Unit can only be: kg, g, lb, oz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33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→ Machines can validate it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→ Forms guide data entry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→ Always consistent</a:t>
            </a:r>
            <a:endParaRPr/>
          </a:p>
        </p:txBody>
      </p:sp>
      <p:sp>
        <p:nvSpPr>
          <p:cNvPr id="152" name="Google Shape;152;p21"/>
          <p:cNvSpPr txBox="1"/>
          <p:nvPr>
            <p:ph type="title"/>
          </p:nvPr>
        </p:nvSpPr>
        <p:spPr>
          <a:xfrm>
            <a:off x="415496" y="288700"/>
            <a:ext cx="8818200" cy="59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Problem</a:t>
            </a:r>
            <a:endParaRPr/>
          </a:p>
        </p:txBody>
      </p:sp>
      <p:sp>
        <p:nvSpPr>
          <p:cNvPr id="153" name="Google Shape;153;p21"/>
          <p:cNvSpPr txBox="1"/>
          <p:nvPr>
            <p:ph idx="12" type="sldNum"/>
          </p:nvPr>
        </p:nvSpPr>
        <p:spPr>
          <a:xfrm>
            <a:off x="11579114" y="6399877"/>
            <a:ext cx="731400" cy="52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2"/>
          <p:cNvSpPr txBox="1"/>
          <p:nvPr/>
        </p:nvSpPr>
        <p:spPr>
          <a:xfrm>
            <a:off x="608085" y="1131325"/>
            <a:ext cx="10972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What If Data Had Grammar?</a:t>
            </a:r>
            <a:endParaRPr/>
          </a:p>
        </p:txBody>
      </p:sp>
      <p:sp>
        <p:nvSpPr>
          <p:cNvPr id="159" name="Google Shape;159;p22"/>
          <p:cNvSpPr txBox="1"/>
          <p:nvPr/>
        </p:nvSpPr>
        <p:spPr>
          <a:xfrm>
            <a:off x="608085" y="2091445"/>
            <a:ext cx="1097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Like grammar rules in language, data needs rules too.</a:t>
            </a:r>
            <a:endParaRPr/>
          </a:p>
        </p:txBody>
      </p:sp>
      <p:sp>
        <p:nvSpPr>
          <p:cNvPr id="160" name="Google Shape;160;p22"/>
          <p:cNvSpPr/>
          <p:nvPr/>
        </p:nvSpPr>
        <p:spPr>
          <a:xfrm>
            <a:off x="882405" y="2822965"/>
            <a:ext cx="10607100" cy="6858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026DB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❌  "The product weighs about 5kg usually"   (ambiguous)</a:t>
            </a:r>
            <a:endParaRPr/>
          </a:p>
        </p:txBody>
      </p:sp>
      <p:sp>
        <p:nvSpPr>
          <p:cNvPr id="161" name="Google Shape;161;p22"/>
          <p:cNvSpPr/>
          <p:nvPr/>
        </p:nvSpPr>
        <p:spPr>
          <a:xfrm>
            <a:off x="882405" y="3737365"/>
            <a:ext cx="10607100" cy="19203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026DB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✓   Product.weight  =  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         type  →  number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         unit  →  kg  (or g, lb, oz)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     required  →  yes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      checked  →  automatically</a:t>
            </a:r>
            <a:endParaRPr/>
          </a:p>
        </p:txBody>
      </p:sp>
      <p:sp>
        <p:nvSpPr>
          <p:cNvPr id="162" name="Google Shape;162;p22"/>
          <p:cNvSpPr txBox="1"/>
          <p:nvPr/>
        </p:nvSpPr>
        <p:spPr>
          <a:xfrm>
            <a:off x="608085" y="5931925"/>
            <a:ext cx="1097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25E00"/>
                </a:solidFill>
                <a:latin typeface="Calibri"/>
                <a:ea typeface="Calibri"/>
                <a:cs typeface="Calibri"/>
                <a:sym typeface="Calibri"/>
              </a:rPr>
              <a:t>SHACL is the W3C standard for writing these rules.</a:t>
            </a:r>
            <a:endParaRPr/>
          </a:p>
        </p:txBody>
      </p:sp>
      <p:sp>
        <p:nvSpPr>
          <p:cNvPr id="163" name="Google Shape;163;p22"/>
          <p:cNvSpPr txBox="1"/>
          <p:nvPr>
            <p:ph type="title"/>
          </p:nvPr>
        </p:nvSpPr>
        <p:spPr>
          <a:xfrm>
            <a:off x="415496" y="288700"/>
            <a:ext cx="8818200" cy="59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Vision</a:t>
            </a:r>
            <a:endParaRPr/>
          </a:p>
        </p:txBody>
      </p:sp>
      <p:sp>
        <p:nvSpPr>
          <p:cNvPr id="164" name="Google Shape;164;p22"/>
          <p:cNvSpPr txBox="1"/>
          <p:nvPr>
            <p:ph idx="12" type="sldNum"/>
          </p:nvPr>
        </p:nvSpPr>
        <p:spPr>
          <a:xfrm>
            <a:off x="11579114" y="6399877"/>
            <a:ext cx="731400" cy="52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"/>
          <p:cNvSpPr txBox="1"/>
          <p:nvPr/>
        </p:nvSpPr>
        <p:spPr>
          <a:xfrm>
            <a:off x="365760" y="1240425"/>
            <a:ext cx="10972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Lego Bricks for Data Schemas</a:t>
            </a:r>
            <a:endParaRPr/>
          </a:p>
        </p:txBody>
      </p:sp>
      <p:sp>
        <p:nvSpPr>
          <p:cNvPr id="170" name="Google Shape;170;p23"/>
          <p:cNvSpPr txBox="1"/>
          <p:nvPr/>
        </p:nvSpPr>
        <p:spPr>
          <a:xfrm>
            <a:off x="365760" y="2154825"/>
            <a:ext cx="1143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Instead of writing rules from scratch every time → create reusable bricks once, snap them together.</a:t>
            </a:r>
            <a:endParaRPr/>
          </a:p>
        </p:txBody>
      </p:sp>
      <p:sp>
        <p:nvSpPr>
          <p:cNvPr id="171" name="Google Shape;171;p23"/>
          <p:cNvSpPr/>
          <p:nvPr/>
        </p:nvSpPr>
        <p:spPr>
          <a:xfrm>
            <a:off x="320025" y="2837200"/>
            <a:ext cx="2743200" cy="2676300"/>
          </a:xfrm>
          <a:prstGeom prst="ellipse">
            <a:avLst/>
          </a:prstGeom>
          <a:solidFill>
            <a:srgbClr val="E8F4FF"/>
          </a:solidFill>
          <a:ln cap="flat" cmpd="sng" w="19050">
            <a:solidFill>
              <a:srgbClr val="026DB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26DB0"/>
                </a:solidFill>
                <a:latin typeface="Calibri"/>
                <a:ea typeface="Calibri"/>
                <a:cs typeface="Calibri"/>
                <a:sym typeface="Calibri"/>
              </a:rPr>
              <a:t>🧱  Mass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rgbClr val="026DB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number + unit</a:t>
            </a:r>
            <a:br>
              <a:rPr b="0" i="0" lang="en-US" sz="16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(kg, g, lb, oz, mg, t)</a:t>
            </a:r>
            <a:endParaRPr/>
          </a:p>
        </p:txBody>
      </p:sp>
      <p:sp>
        <p:nvSpPr>
          <p:cNvPr id="172" name="Google Shape;172;p23"/>
          <p:cNvSpPr/>
          <p:nvPr/>
        </p:nvSpPr>
        <p:spPr>
          <a:xfrm>
            <a:off x="3246108" y="2837200"/>
            <a:ext cx="2743200" cy="2676300"/>
          </a:xfrm>
          <a:prstGeom prst="ellipse">
            <a:avLst/>
          </a:prstGeom>
          <a:solidFill>
            <a:srgbClr val="E8F4FF"/>
          </a:solidFill>
          <a:ln cap="flat" cmpd="sng" w="19050">
            <a:solidFill>
              <a:srgbClr val="026DB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26DB0"/>
                </a:solidFill>
                <a:latin typeface="Calibri"/>
                <a:ea typeface="Calibri"/>
                <a:cs typeface="Calibri"/>
                <a:sym typeface="Calibri"/>
              </a:rPr>
              <a:t>🌡  Temperature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rgbClr val="026DB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number + degrees</a:t>
            </a:r>
            <a:br>
              <a:rPr b="0" i="0" lang="en-US" sz="16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(°C, °F, K)</a:t>
            </a:r>
            <a:endParaRPr/>
          </a:p>
        </p:txBody>
      </p:sp>
      <p:sp>
        <p:nvSpPr>
          <p:cNvPr id="173" name="Google Shape;173;p23"/>
          <p:cNvSpPr/>
          <p:nvPr/>
        </p:nvSpPr>
        <p:spPr>
          <a:xfrm>
            <a:off x="6172191" y="2837200"/>
            <a:ext cx="2743200" cy="2676300"/>
          </a:xfrm>
          <a:prstGeom prst="ellipse">
            <a:avLst/>
          </a:prstGeom>
          <a:solidFill>
            <a:srgbClr val="E8F4FF"/>
          </a:solidFill>
          <a:ln cap="flat" cmpd="sng" w="19050">
            <a:solidFill>
              <a:srgbClr val="026DB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26DB0"/>
                </a:solidFill>
                <a:latin typeface="Calibri"/>
                <a:ea typeface="Calibri"/>
                <a:cs typeface="Calibri"/>
                <a:sym typeface="Calibri"/>
              </a:rPr>
              <a:t>⚡  Battery Cap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rgbClr val="026DB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number + unit</a:t>
            </a:r>
            <a:br>
              <a:rPr b="0" i="0" lang="en-US" sz="16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(Ah, mAh, Coulombs)</a:t>
            </a:r>
            <a:endParaRPr/>
          </a:p>
        </p:txBody>
      </p:sp>
      <p:sp>
        <p:nvSpPr>
          <p:cNvPr id="174" name="Google Shape;174;p23"/>
          <p:cNvSpPr/>
          <p:nvPr/>
        </p:nvSpPr>
        <p:spPr>
          <a:xfrm>
            <a:off x="9098274" y="2837200"/>
            <a:ext cx="2743200" cy="2676300"/>
          </a:xfrm>
          <a:prstGeom prst="ellipse">
            <a:avLst/>
          </a:prstGeom>
          <a:solidFill>
            <a:srgbClr val="E8F4FF"/>
          </a:solidFill>
          <a:ln cap="flat" cmpd="sng" w="19050">
            <a:solidFill>
              <a:srgbClr val="026DB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26DB0"/>
                </a:solidFill>
                <a:latin typeface="Calibri"/>
                <a:ea typeface="Calibri"/>
                <a:cs typeface="Calibri"/>
                <a:sym typeface="Calibri"/>
              </a:rPr>
              <a:t>🏭  Manufacturer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rgbClr val="026DB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name + ID + country</a:t>
            </a:r>
            <a:br>
              <a:rPr b="0" i="0" lang="en-US" sz="16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(linked data)</a:t>
            </a:r>
            <a:endParaRPr/>
          </a:p>
        </p:txBody>
      </p:sp>
      <p:sp>
        <p:nvSpPr>
          <p:cNvPr id="175" name="Google Shape;175;p23"/>
          <p:cNvSpPr txBox="1"/>
          <p:nvPr/>
        </p:nvSpPr>
        <p:spPr>
          <a:xfrm>
            <a:off x="365760" y="5810975"/>
            <a:ext cx="1143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925E00"/>
                </a:solidFill>
                <a:latin typeface="Calibri"/>
                <a:ea typeface="Calibri"/>
                <a:cs typeface="Calibri"/>
                <a:sym typeface="Calibri"/>
              </a:rPr>
              <a:t>Define once → reuse across every product schema in your organisation.</a:t>
            </a:r>
            <a:endParaRPr/>
          </a:p>
        </p:txBody>
      </p:sp>
      <p:sp>
        <p:nvSpPr>
          <p:cNvPr id="176" name="Google Shape;176;p23"/>
          <p:cNvSpPr txBox="1"/>
          <p:nvPr>
            <p:ph type="title"/>
          </p:nvPr>
        </p:nvSpPr>
        <p:spPr>
          <a:xfrm>
            <a:off x="415496" y="288700"/>
            <a:ext cx="8818200" cy="59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Brick Idea</a:t>
            </a:r>
            <a:endParaRPr/>
          </a:p>
        </p:txBody>
      </p:sp>
      <p:sp>
        <p:nvSpPr>
          <p:cNvPr id="177" name="Google Shape;177;p23"/>
          <p:cNvSpPr txBox="1"/>
          <p:nvPr>
            <p:ph idx="12" type="sldNum"/>
          </p:nvPr>
        </p:nvSpPr>
        <p:spPr>
          <a:xfrm>
            <a:off x="11579114" y="6399877"/>
            <a:ext cx="731400" cy="52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4"/>
          <p:cNvSpPr txBox="1"/>
          <p:nvPr/>
        </p:nvSpPr>
        <p:spPr>
          <a:xfrm>
            <a:off x="326335" y="1165863"/>
            <a:ext cx="10972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Creating a Reusable Brick</a:t>
            </a:r>
            <a:endParaRPr/>
          </a:p>
        </p:txBody>
      </p:sp>
      <p:sp>
        <p:nvSpPr>
          <p:cNvPr id="183" name="Google Shape;183;p24"/>
          <p:cNvSpPr txBox="1"/>
          <p:nvPr/>
        </p:nvSpPr>
        <p:spPr>
          <a:xfrm>
            <a:off x="326335" y="2080263"/>
            <a:ext cx="5486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Point-and-click — no coding needed:</a:t>
            </a:r>
            <a:endParaRPr/>
          </a:p>
        </p:txBody>
      </p:sp>
      <p:sp>
        <p:nvSpPr>
          <p:cNvPr id="184" name="Google Shape;184;p24"/>
          <p:cNvSpPr/>
          <p:nvPr/>
        </p:nvSpPr>
        <p:spPr>
          <a:xfrm>
            <a:off x="326325" y="2730475"/>
            <a:ext cx="6535800" cy="502800"/>
          </a:xfrm>
          <a:prstGeom prst="rect">
            <a:avLst/>
          </a:prstGeom>
          <a:solidFill>
            <a:srgbClr val="ECF4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26DB0"/>
                </a:solidFill>
                <a:latin typeface="Courier New"/>
                <a:ea typeface="Courier New"/>
                <a:cs typeface="Courier New"/>
                <a:sym typeface="Courier New"/>
              </a:rPr>
              <a:t>Name        </a:t>
            </a:r>
            <a:r>
              <a:rPr b="0" i="0" lang="en-US" sz="1600" u="none" cap="none" strike="noStrike">
                <a:solidFill>
                  <a:srgbClr val="334455"/>
                </a:solidFill>
                <a:latin typeface="Courier New"/>
                <a:ea typeface="Courier New"/>
                <a:cs typeface="Courier New"/>
                <a:sym typeface="Courier New"/>
              </a:rPr>
              <a:t>BatteryCapacity</a:t>
            </a:r>
            <a:endParaRPr/>
          </a:p>
        </p:txBody>
      </p:sp>
      <p:sp>
        <p:nvSpPr>
          <p:cNvPr id="185" name="Google Shape;185;p24"/>
          <p:cNvSpPr/>
          <p:nvPr/>
        </p:nvSpPr>
        <p:spPr>
          <a:xfrm>
            <a:off x="326325" y="3297400"/>
            <a:ext cx="6535800" cy="502800"/>
          </a:xfrm>
          <a:prstGeom prst="rect">
            <a:avLst/>
          </a:prstGeom>
          <a:solidFill>
            <a:srgbClr val="ECF4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26DB0"/>
                </a:solidFill>
                <a:latin typeface="Courier New"/>
                <a:ea typeface="Courier New"/>
                <a:cs typeface="Courier New"/>
                <a:sym typeface="Courier New"/>
              </a:rPr>
              <a:t>Path        </a:t>
            </a:r>
            <a:r>
              <a:rPr b="0" i="0" lang="en-US" sz="1600" u="none" cap="none" strike="noStrike">
                <a:solidFill>
                  <a:srgbClr val="334455"/>
                </a:solidFill>
                <a:latin typeface="Courier New"/>
                <a:ea typeface="Courier New"/>
                <a:cs typeface="Courier New"/>
                <a:sym typeface="Courier New"/>
              </a:rPr>
              <a:t>ex:batteryCapacity</a:t>
            </a:r>
            <a:endParaRPr/>
          </a:p>
        </p:txBody>
      </p:sp>
      <p:sp>
        <p:nvSpPr>
          <p:cNvPr id="186" name="Google Shape;186;p24"/>
          <p:cNvSpPr/>
          <p:nvPr/>
        </p:nvSpPr>
        <p:spPr>
          <a:xfrm>
            <a:off x="326325" y="3864325"/>
            <a:ext cx="6535800" cy="502800"/>
          </a:xfrm>
          <a:prstGeom prst="rect">
            <a:avLst/>
          </a:prstGeom>
          <a:solidFill>
            <a:srgbClr val="ECF4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26DB0"/>
                </a:solidFill>
                <a:latin typeface="Courier New"/>
                <a:ea typeface="Courier New"/>
                <a:cs typeface="Courier New"/>
                <a:sym typeface="Courier New"/>
              </a:rPr>
              <a:t>Datatype    </a:t>
            </a:r>
            <a:r>
              <a:rPr b="0" i="0" lang="en-US" sz="1600" u="none" cap="none" strike="noStrike">
                <a:solidFill>
                  <a:srgbClr val="334455"/>
                </a:solidFill>
                <a:latin typeface="Courier New"/>
                <a:ea typeface="Courier New"/>
                <a:cs typeface="Courier New"/>
                <a:sym typeface="Courier New"/>
              </a:rPr>
              <a:t>xsd:decimal</a:t>
            </a:r>
            <a:endParaRPr/>
          </a:p>
        </p:txBody>
      </p:sp>
      <p:sp>
        <p:nvSpPr>
          <p:cNvPr id="187" name="Google Shape;187;p24"/>
          <p:cNvSpPr/>
          <p:nvPr/>
        </p:nvSpPr>
        <p:spPr>
          <a:xfrm>
            <a:off x="326325" y="4431250"/>
            <a:ext cx="6535800" cy="502800"/>
          </a:xfrm>
          <a:prstGeom prst="rect">
            <a:avLst/>
          </a:prstGeom>
          <a:solidFill>
            <a:srgbClr val="ECF4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26DB0"/>
                </a:solidFill>
                <a:latin typeface="Courier New"/>
                <a:ea typeface="Courier New"/>
                <a:cs typeface="Courier New"/>
                <a:sym typeface="Courier New"/>
              </a:rPr>
              <a:t>Class       </a:t>
            </a:r>
            <a:r>
              <a:rPr b="0" i="0" lang="en-US" sz="1600" u="none" cap="none" strike="noStrike">
                <a:solidFill>
                  <a:srgbClr val="334455"/>
                </a:solidFill>
                <a:latin typeface="Courier New"/>
                <a:ea typeface="Courier New"/>
                <a:cs typeface="Courier New"/>
                <a:sym typeface="Courier New"/>
              </a:rPr>
              <a:t>qudt:ElectricCharge   ← triggers magic ✨</a:t>
            </a:r>
            <a:endParaRPr/>
          </a:p>
        </p:txBody>
      </p:sp>
      <p:sp>
        <p:nvSpPr>
          <p:cNvPr id="188" name="Google Shape;188;p24"/>
          <p:cNvSpPr txBox="1"/>
          <p:nvPr/>
        </p:nvSpPr>
        <p:spPr>
          <a:xfrm>
            <a:off x="7721155" y="2361178"/>
            <a:ext cx="182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925E00"/>
                </a:solidFill>
                <a:latin typeface="Calibri"/>
                <a:ea typeface="Calibri"/>
                <a:cs typeface="Calibri"/>
                <a:sym typeface="Calibri"/>
              </a:rPr>
              <a:t>Result →</a:t>
            </a:r>
            <a:endParaRPr/>
          </a:p>
        </p:txBody>
      </p:sp>
      <p:sp>
        <p:nvSpPr>
          <p:cNvPr id="189" name="Google Shape;189;p24"/>
          <p:cNvSpPr/>
          <p:nvPr/>
        </p:nvSpPr>
        <p:spPr>
          <a:xfrm>
            <a:off x="7721150" y="2948950"/>
            <a:ext cx="4035300" cy="27432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026DB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Unit dropdown appears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automatically: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24A7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  ▼  Ampere-hour (Ah)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     Milliampere-hour (mAh)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     Coulomb (C)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     Kiloampere-hour (kAh)</a:t>
            </a:r>
            <a:endParaRPr/>
          </a:p>
        </p:txBody>
      </p:sp>
      <p:sp>
        <p:nvSpPr>
          <p:cNvPr id="190" name="Google Shape;190;p24"/>
          <p:cNvSpPr txBox="1"/>
          <p:nvPr/>
        </p:nvSpPr>
        <p:spPr>
          <a:xfrm>
            <a:off x="365760" y="585216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25E00"/>
                </a:solidFill>
                <a:latin typeface="Calibri"/>
                <a:ea typeface="Calibri"/>
                <a:cs typeface="Calibri"/>
                <a:sym typeface="Calibri"/>
              </a:rPr>
              <a:t>The system looks up applicable units from the QUDT ontology — no manual list needed.</a:t>
            </a:r>
            <a:endParaRPr/>
          </a:p>
        </p:txBody>
      </p:sp>
      <p:sp>
        <p:nvSpPr>
          <p:cNvPr id="191" name="Google Shape;191;p24"/>
          <p:cNvSpPr txBox="1"/>
          <p:nvPr>
            <p:ph type="title"/>
          </p:nvPr>
        </p:nvSpPr>
        <p:spPr>
          <a:xfrm>
            <a:off x="415496" y="288700"/>
            <a:ext cx="8818200" cy="59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Brick Editor</a:t>
            </a:r>
            <a:endParaRPr/>
          </a:p>
        </p:txBody>
      </p:sp>
      <p:sp>
        <p:nvSpPr>
          <p:cNvPr id="192" name="Google Shape;192;p24"/>
          <p:cNvSpPr txBox="1"/>
          <p:nvPr>
            <p:ph idx="12" type="sldNum"/>
          </p:nvPr>
        </p:nvSpPr>
        <p:spPr>
          <a:xfrm>
            <a:off x="11579114" y="6399877"/>
            <a:ext cx="731400" cy="52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5"/>
          <p:cNvSpPr txBox="1"/>
          <p:nvPr/>
        </p:nvSpPr>
        <p:spPr>
          <a:xfrm>
            <a:off x="365760" y="1141275"/>
            <a:ext cx="10972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Assembling Bricks into a Product Schema</a:t>
            </a:r>
            <a:endParaRPr/>
          </a:p>
        </p:txBody>
      </p:sp>
      <p:sp>
        <p:nvSpPr>
          <p:cNvPr id="198" name="Google Shape;198;p25"/>
          <p:cNvSpPr/>
          <p:nvPr/>
        </p:nvSpPr>
        <p:spPr>
          <a:xfrm>
            <a:off x="365750" y="2029251"/>
            <a:ext cx="11430000" cy="38229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026DB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EV Battery Schema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├── Battery Identification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Model Number      (text)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Serial Number     (text)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│   └── Manufacturer      (linked data)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├── Physical Properties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Mass           ← [Mass brick]        → unit dropdown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│   └── Capacity       ← [BatteryCapacity]   → unit dropdown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└── Environmental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    ├── Carbon Footprint  ← [CO₂ brick]      → unit dropdown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    └── Recyclability     ← [Percent brick]  → % field</a:t>
            </a:r>
            <a:endParaRPr/>
          </a:p>
        </p:txBody>
      </p:sp>
      <p:sp>
        <p:nvSpPr>
          <p:cNvPr id="199" name="Google Shape;199;p25"/>
          <p:cNvSpPr txBox="1"/>
          <p:nvPr/>
        </p:nvSpPr>
        <p:spPr>
          <a:xfrm>
            <a:off x="365760" y="603504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925E00"/>
                </a:solidFill>
                <a:latin typeface="Calibri"/>
                <a:ea typeface="Calibri"/>
                <a:cs typeface="Calibri"/>
                <a:sym typeface="Calibri"/>
              </a:rPr>
              <a:t>Visual tree editor — drag bricks in, set connections, done.</a:t>
            </a:r>
            <a:endParaRPr/>
          </a:p>
        </p:txBody>
      </p:sp>
      <p:sp>
        <p:nvSpPr>
          <p:cNvPr id="200" name="Google Shape;200;p25"/>
          <p:cNvSpPr txBox="1"/>
          <p:nvPr>
            <p:ph type="title"/>
          </p:nvPr>
        </p:nvSpPr>
        <p:spPr>
          <a:xfrm>
            <a:off x="415496" y="288700"/>
            <a:ext cx="8818200" cy="59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Schema Editor</a:t>
            </a:r>
            <a:endParaRPr/>
          </a:p>
        </p:txBody>
      </p:sp>
      <p:sp>
        <p:nvSpPr>
          <p:cNvPr id="201" name="Google Shape;201;p25"/>
          <p:cNvSpPr txBox="1"/>
          <p:nvPr>
            <p:ph idx="12" type="sldNum"/>
          </p:nvPr>
        </p:nvSpPr>
        <p:spPr>
          <a:xfrm>
            <a:off x="11579114" y="6399877"/>
            <a:ext cx="731400" cy="52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6"/>
          <p:cNvSpPr txBox="1"/>
          <p:nvPr/>
        </p:nvSpPr>
        <p:spPr>
          <a:xfrm>
            <a:off x="402360" y="1218925"/>
            <a:ext cx="10972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 Magic: One Brick, Three Things</a:t>
            </a:r>
            <a:endParaRPr/>
          </a:p>
        </p:txBody>
      </p:sp>
      <p:sp>
        <p:nvSpPr>
          <p:cNvPr id="207" name="Google Shape;207;p26"/>
          <p:cNvSpPr txBox="1"/>
          <p:nvPr/>
        </p:nvSpPr>
        <p:spPr>
          <a:xfrm>
            <a:off x="3877080" y="4007845"/>
            <a:ext cx="457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26DB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208" name="Google Shape;208;p26"/>
          <p:cNvSpPr txBox="1"/>
          <p:nvPr/>
        </p:nvSpPr>
        <p:spPr>
          <a:xfrm>
            <a:off x="7763279" y="4007845"/>
            <a:ext cx="457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26DB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209" name="Google Shape;209;p26"/>
          <p:cNvSpPr txBox="1"/>
          <p:nvPr/>
        </p:nvSpPr>
        <p:spPr>
          <a:xfrm>
            <a:off x="310920" y="2270485"/>
            <a:ext cx="3749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26DB0"/>
                </a:solidFill>
                <a:latin typeface="Calibri"/>
                <a:ea typeface="Calibri"/>
                <a:cs typeface="Calibri"/>
                <a:sym typeface="Calibri"/>
              </a:rPr>
              <a:t>Brick (JSON)</a:t>
            </a:r>
            <a:endParaRPr/>
          </a:p>
        </p:txBody>
      </p:sp>
      <p:sp>
        <p:nvSpPr>
          <p:cNvPr id="210" name="Google Shape;210;p26"/>
          <p:cNvSpPr/>
          <p:nvPr/>
        </p:nvSpPr>
        <p:spPr>
          <a:xfrm>
            <a:off x="310920" y="2819125"/>
            <a:ext cx="3794700" cy="32004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026DB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  name: 'Mass',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  datatype: xsd:decimal,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  class: qudt:Mass,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  units: [kg,g,lb,...]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211" name="Google Shape;211;p26"/>
          <p:cNvSpPr txBox="1"/>
          <p:nvPr/>
        </p:nvSpPr>
        <p:spPr>
          <a:xfrm>
            <a:off x="4197120" y="2270485"/>
            <a:ext cx="3749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26DB0"/>
                </a:solidFill>
                <a:latin typeface="Calibri"/>
                <a:ea typeface="Calibri"/>
                <a:cs typeface="Calibri"/>
                <a:sym typeface="Calibri"/>
              </a:rPr>
              <a:t>SHACL Rules</a:t>
            </a:r>
            <a:endParaRPr/>
          </a:p>
        </p:txBody>
      </p:sp>
      <p:sp>
        <p:nvSpPr>
          <p:cNvPr id="212" name="Google Shape;212;p26"/>
          <p:cNvSpPr/>
          <p:nvPr/>
        </p:nvSpPr>
        <p:spPr>
          <a:xfrm>
            <a:off x="4197120" y="2819125"/>
            <a:ext cx="3794700" cy="32004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026DB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sh:property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  sh:path ex:mass 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  sh:datatype xsd:decimal 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  sh:class qudt:Mass 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  sh:in (kg g lb oz) 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] .</a:t>
            </a:r>
            <a:endParaRPr/>
          </a:p>
        </p:txBody>
      </p:sp>
      <p:sp>
        <p:nvSpPr>
          <p:cNvPr id="213" name="Google Shape;213;p26"/>
          <p:cNvSpPr txBox="1"/>
          <p:nvPr/>
        </p:nvSpPr>
        <p:spPr>
          <a:xfrm>
            <a:off x="8083320" y="2270485"/>
            <a:ext cx="3749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26DB0"/>
                </a:solidFill>
                <a:latin typeface="Calibri"/>
                <a:ea typeface="Calibri"/>
                <a:cs typeface="Calibri"/>
                <a:sym typeface="Calibri"/>
              </a:rPr>
              <a:t>User Form</a:t>
            </a:r>
            <a:endParaRPr/>
          </a:p>
        </p:txBody>
      </p:sp>
      <p:sp>
        <p:nvSpPr>
          <p:cNvPr id="214" name="Google Shape;214;p26"/>
          <p:cNvSpPr/>
          <p:nvPr/>
        </p:nvSpPr>
        <p:spPr>
          <a:xfrm>
            <a:off x="8083320" y="2819125"/>
            <a:ext cx="3794700" cy="32004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026DB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  Mass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  ┌─────────┬──────┐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  │  5      │ ▼ kg 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  └─────────┴──────┘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24A7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  Change brick once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24A7A"/>
                </a:solidFill>
                <a:latin typeface="Courier New"/>
                <a:ea typeface="Courier New"/>
                <a:cs typeface="Courier New"/>
                <a:sym typeface="Courier New"/>
              </a:rPr>
              <a:t>  → all forms update</a:t>
            </a:r>
            <a:endParaRPr/>
          </a:p>
        </p:txBody>
      </p:sp>
      <p:sp>
        <p:nvSpPr>
          <p:cNvPr id="215" name="Google Shape;215;p26"/>
          <p:cNvSpPr txBox="1"/>
          <p:nvPr>
            <p:ph type="title"/>
          </p:nvPr>
        </p:nvSpPr>
        <p:spPr>
          <a:xfrm>
            <a:off x="415496" y="288700"/>
            <a:ext cx="8818200" cy="59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One Source → Many Outputs</a:t>
            </a:r>
            <a:endParaRPr/>
          </a:p>
        </p:txBody>
      </p:sp>
      <p:sp>
        <p:nvSpPr>
          <p:cNvPr id="216" name="Google Shape;216;p26"/>
          <p:cNvSpPr txBox="1"/>
          <p:nvPr>
            <p:ph idx="12" type="sldNum"/>
          </p:nvPr>
        </p:nvSpPr>
        <p:spPr>
          <a:xfrm>
            <a:off x="11579114" y="6399877"/>
            <a:ext cx="731400" cy="52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7"/>
          <p:cNvSpPr txBox="1"/>
          <p:nvPr/>
        </p:nvSpPr>
        <p:spPr>
          <a:xfrm>
            <a:off x="594360" y="1217613"/>
            <a:ext cx="10972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Smart Widgets from Context</a:t>
            </a:r>
            <a:endParaRPr/>
          </a:p>
        </p:txBody>
      </p:sp>
      <p:sp>
        <p:nvSpPr>
          <p:cNvPr id="222" name="Google Shape;222;p27"/>
          <p:cNvSpPr/>
          <p:nvPr/>
        </p:nvSpPr>
        <p:spPr>
          <a:xfrm>
            <a:off x="685800" y="2360613"/>
            <a:ext cx="502800" cy="502800"/>
          </a:xfrm>
          <a:prstGeom prst="ellipse">
            <a:avLst/>
          </a:prstGeom>
          <a:solidFill>
            <a:srgbClr val="026DB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23" name="Google Shape;223;p27"/>
          <p:cNvSpPr txBox="1"/>
          <p:nvPr/>
        </p:nvSpPr>
        <p:spPr>
          <a:xfrm>
            <a:off x="1371600" y="2406333"/>
            <a:ext cx="1005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You type:  qudt:Mass</a:t>
            </a:r>
            <a:endParaRPr/>
          </a:p>
        </p:txBody>
      </p:sp>
      <p:sp>
        <p:nvSpPr>
          <p:cNvPr id="224" name="Google Shape;224;p27"/>
          <p:cNvSpPr txBox="1"/>
          <p:nvPr/>
        </p:nvSpPr>
        <p:spPr>
          <a:xfrm>
            <a:off x="795528" y="2863533"/>
            <a:ext cx="36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26DB0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/>
          </a:p>
        </p:txBody>
      </p:sp>
      <p:sp>
        <p:nvSpPr>
          <p:cNvPr id="225" name="Google Shape;225;p27"/>
          <p:cNvSpPr/>
          <p:nvPr/>
        </p:nvSpPr>
        <p:spPr>
          <a:xfrm>
            <a:off x="685800" y="3320732"/>
            <a:ext cx="502800" cy="502800"/>
          </a:xfrm>
          <a:prstGeom prst="ellipse">
            <a:avLst/>
          </a:prstGeom>
          <a:solidFill>
            <a:srgbClr val="026DB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26" name="Google Shape;226;p27"/>
          <p:cNvSpPr txBox="1"/>
          <p:nvPr/>
        </p:nvSpPr>
        <p:spPr>
          <a:xfrm>
            <a:off x="1371600" y="3366453"/>
            <a:ext cx="1005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System queries QUDT ontology</a:t>
            </a:r>
            <a:endParaRPr/>
          </a:p>
        </p:txBody>
      </p:sp>
      <p:sp>
        <p:nvSpPr>
          <p:cNvPr id="227" name="Google Shape;227;p27"/>
          <p:cNvSpPr txBox="1"/>
          <p:nvPr/>
        </p:nvSpPr>
        <p:spPr>
          <a:xfrm>
            <a:off x="795528" y="3823653"/>
            <a:ext cx="36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26DB0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/>
          </a:p>
        </p:txBody>
      </p:sp>
      <p:sp>
        <p:nvSpPr>
          <p:cNvPr id="228" name="Google Shape;228;p27"/>
          <p:cNvSpPr/>
          <p:nvPr/>
        </p:nvSpPr>
        <p:spPr>
          <a:xfrm>
            <a:off x="685800" y="4280853"/>
            <a:ext cx="502800" cy="502800"/>
          </a:xfrm>
          <a:prstGeom prst="ellipse">
            <a:avLst/>
          </a:prstGeom>
          <a:solidFill>
            <a:srgbClr val="026DB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29" name="Google Shape;229;p27"/>
          <p:cNvSpPr txBox="1"/>
          <p:nvPr/>
        </p:nvSpPr>
        <p:spPr>
          <a:xfrm>
            <a:off x="1371600" y="4326573"/>
            <a:ext cx="1005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Finds 6 applicable units</a:t>
            </a:r>
            <a:endParaRPr/>
          </a:p>
        </p:txBody>
      </p:sp>
      <p:sp>
        <p:nvSpPr>
          <p:cNvPr id="230" name="Google Shape;230;p27"/>
          <p:cNvSpPr txBox="1"/>
          <p:nvPr/>
        </p:nvSpPr>
        <p:spPr>
          <a:xfrm>
            <a:off x="795528" y="4783773"/>
            <a:ext cx="36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26DB0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/>
          </a:p>
        </p:txBody>
      </p:sp>
      <p:sp>
        <p:nvSpPr>
          <p:cNvPr id="231" name="Google Shape;231;p27"/>
          <p:cNvSpPr/>
          <p:nvPr/>
        </p:nvSpPr>
        <p:spPr>
          <a:xfrm>
            <a:off x="685800" y="5240973"/>
            <a:ext cx="502800" cy="502800"/>
          </a:xfrm>
          <a:prstGeom prst="ellipse">
            <a:avLst/>
          </a:prstGeom>
          <a:solidFill>
            <a:srgbClr val="026DB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32" name="Google Shape;232;p27"/>
          <p:cNvSpPr txBox="1"/>
          <p:nvPr/>
        </p:nvSpPr>
        <p:spPr>
          <a:xfrm>
            <a:off x="1371600" y="5286693"/>
            <a:ext cx="1005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67A40"/>
                </a:solidFill>
                <a:latin typeface="Calibri"/>
                <a:ea typeface="Calibri"/>
                <a:cs typeface="Calibri"/>
                <a:sym typeface="Calibri"/>
              </a:rPr>
              <a:t>Creates unit dropdown automatically</a:t>
            </a:r>
            <a:endParaRPr/>
          </a:p>
        </p:txBody>
      </p:sp>
      <p:sp>
        <p:nvSpPr>
          <p:cNvPr id="233" name="Google Shape;233;p27"/>
          <p:cNvSpPr txBox="1"/>
          <p:nvPr/>
        </p:nvSpPr>
        <p:spPr>
          <a:xfrm>
            <a:off x="365760" y="585216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925E00"/>
                </a:solidFill>
                <a:latin typeface="Calibri"/>
                <a:ea typeface="Calibri"/>
                <a:cs typeface="Calibri"/>
                <a:sym typeface="Calibri"/>
              </a:rPr>
              <a:t>Works for any physical quantity: temperature, pressure, energy, voltage …</a:t>
            </a:r>
            <a:endParaRPr/>
          </a:p>
        </p:txBody>
      </p:sp>
      <p:sp>
        <p:nvSpPr>
          <p:cNvPr id="234" name="Google Shape;234;p27"/>
          <p:cNvSpPr txBox="1"/>
          <p:nvPr>
            <p:ph type="title"/>
          </p:nvPr>
        </p:nvSpPr>
        <p:spPr>
          <a:xfrm>
            <a:off x="415496" y="288700"/>
            <a:ext cx="8818200" cy="59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Enrichment</a:t>
            </a:r>
            <a:r>
              <a:rPr lang="en-US"/>
              <a:t> Engine</a:t>
            </a:r>
            <a:endParaRPr/>
          </a:p>
        </p:txBody>
      </p:sp>
      <p:sp>
        <p:nvSpPr>
          <p:cNvPr id="235" name="Google Shape;235;p27"/>
          <p:cNvSpPr txBox="1"/>
          <p:nvPr>
            <p:ph idx="12" type="sldNum"/>
          </p:nvPr>
        </p:nvSpPr>
        <p:spPr>
          <a:xfrm>
            <a:off x="11579114" y="6399877"/>
            <a:ext cx="731400" cy="52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8"/>
          <p:cNvSpPr txBox="1"/>
          <p:nvPr/>
        </p:nvSpPr>
        <p:spPr>
          <a:xfrm>
            <a:off x="608085" y="1045850"/>
            <a:ext cx="10972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How It All Connects</a:t>
            </a:r>
            <a:endParaRPr/>
          </a:p>
        </p:txBody>
      </p:sp>
      <p:sp>
        <p:nvSpPr>
          <p:cNvPr id="241" name="Google Shape;241;p28"/>
          <p:cNvSpPr/>
          <p:nvPr/>
        </p:nvSpPr>
        <p:spPr>
          <a:xfrm>
            <a:off x="1634625" y="1868800"/>
            <a:ext cx="9144000" cy="575400"/>
          </a:xfrm>
          <a:prstGeom prst="rect">
            <a:avLst/>
          </a:prstGeom>
          <a:solidFill>
            <a:srgbClr val="F5F8FF"/>
          </a:solidFill>
          <a:ln cap="flat" cmpd="sng" w="19050">
            <a:solidFill>
              <a:srgbClr val="3344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334455"/>
                </a:solidFill>
                <a:latin typeface="Courier New"/>
                <a:ea typeface="Courier New"/>
                <a:cs typeface="Courier New"/>
                <a:sym typeface="Courier New"/>
              </a:rPr>
              <a:t>Shared Ontologies     </a:t>
            </a:r>
            <a:r>
              <a:rPr b="0" i="0" lang="en-US" sz="1500" u="none" cap="none" strike="noStrike">
                <a:solidFill>
                  <a:srgbClr val="334455"/>
                </a:solidFill>
                <a:latin typeface="Courier New"/>
                <a:ea typeface="Courier New"/>
                <a:cs typeface="Courier New"/>
                <a:sym typeface="Courier New"/>
              </a:rPr>
              <a:t>QUDT · Schema.org · FOAF · SKOS  (17 vocabularies)</a:t>
            </a:r>
            <a:endParaRPr/>
          </a:p>
        </p:txBody>
      </p:sp>
      <p:sp>
        <p:nvSpPr>
          <p:cNvPr id="242" name="Google Shape;242;p28"/>
          <p:cNvSpPr/>
          <p:nvPr/>
        </p:nvSpPr>
        <p:spPr>
          <a:xfrm>
            <a:off x="1634625" y="2628058"/>
            <a:ext cx="9144000" cy="575400"/>
          </a:xfrm>
          <a:prstGeom prst="rect">
            <a:avLst/>
          </a:prstGeom>
          <a:solidFill>
            <a:srgbClr val="F5F8FF"/>
          </a:solidFill>
          <a:ln cap="flat" cmpd="sng" w="19050">
            <a:solidFill>
              <a:srgbClr val="026DB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26DB0"/>
                </a:solidFill>
                <a:latin typeface="Courier New"/>
                <a:ea typeface="Courier New"/>
                <a:cs typeface="Courier New"/>
                <a:sym typeface="Courier New"/>
              </a:rPr>
              <a:t>Brick Library         </a:t>
            </a:r>
            <a:r>
              <a:rPr b="0" i="0" lang="en-US" sz="1500" u="none" cap="none" strike="noStrike">
                <a:solidFill>
                  <a:srgbClr val="334455"/>
                </a:solidFill>
                <a:latin typeface="Courier New"/>
                <a:ea typeface="Courier New"/>
                <a:cs typeface="Courier New"/>
                <a:sym typeface="Courier New"/>
              </a:rPr>
              <a:t>Reusable building blocks (JSON)</a:t>
            </a:r>
            <a:endParaRPr/>
          </a:p>
        </p:txBody>
      </p:sp>
      <p:sp>
        <p:nvSpPr>
          <p:cNvPr id="243" name="Google Shape;243;p28"/>
          <p:cNvSpPr/>
          <p:nvPr/>
        </p:nvSpPr>
        <p:spPr>
          <a:xfrm>
            <a:off x="1634625" y="3387315"/>
            <a:ext cx="9144000" cy="575400"/>
          </a:xfrm>
          <a:prstGeom prst="rect">
            <a:avLst/>
          </a:prstGeom>
          <a:solidFill>
            <a:srgbClr val="F5F8FF"/>
          </a:solidFill>
          <a:ln cap="flat" cmpd="sng" w="19050">
            <a:solidFill>
              <a:srgbClr val="026DB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26DB0"/>
                </a:solidFill>
                <a:latin typeface="Courier New"/>
                <a:ea typeface="Courier New"/>
                <a:cs typeface="Courier New"/>
                <a:sym typeface="Courier New"/>
              </a:rPr>
              <a:t>Schema Composer       </a:t>
            </a:r>
            <a:r>
              <a:rPr b="0" i="0" lang="en-US" sz="1500" u="none" cap="none" strike="noStrike">
                <a:solidFill>
                  <a:srgbClr val="334455"/>
                </a:solidFill>
                <a:latin typeface="Courier New"/>
                <a:ea typeface="Courier New"/>
                <a:cs typeface="Courier New"/>
                <a:sym typeface="Courier New"/>
              </a:rPr>
              <a:t>Assemble bricks into product blueprints</a:t>
            </a:r>
            <a:endParaRPr/>
          </a:p>
        </p:txBody>
      </p:sp>
      <p:sp>
        <p:nvSpPr>
          <p:cNvPr id="244" name="Google Shape;244;p28"/>
          <p:cNvSpPr/>
          <p:nvPr/>
        </p:nvSpPr>
        <p:spPr>
          <a:xfrm>
            <a:off x="1634625" y="4146573"/>
            <a:ext cx="9144000" cy="575400"/>
          </a:xfrm>
          <a:prstGeom prst="rect">
            <a:avLst/>
          </a:prstGeom>
          <a:solidFill>
            <a:srgbClr val="F5F8FF"/>
          </a:solidFill>
          <a:ln cap="flat" cmpd="sng" w="19050">
            <a:solidFill>
              <a:srgbClr val="3344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334455"/>
                </a:solidFill>
                <a:latin typeface="Courier New"/>
                <a:ea typeface="Courier New"/>
                <a:cs typeface="Courier New"/>
                <a:sym typeface="Courier New"/>
              </a:rPr>
              <a:t>SHACL Exporter        </a:t>
            </a:r>
            <a:r>
              <a:rPr b="0" i="0" lang="en-US" sz="1500" u="none" cap="none" strike="noStrike">
                <a:solidFill>
                  <a:srgbClr val="334455"/>
                </a:solidFill>
                <a:latin typeface="Courier New"/>
                <a:ea typeface="Courier New"/>
                <a:cs typeface="Courier New"/>
                <a:sym typeface="Courier New"/>
              </a:rPr>
              <a:t>Generates validation rules (Turtle)</a:t>
            </a:r>
            <a:endParaRPr/>
          </a:p>
        </p:txBody>
      </p:sp>
      <p:sp>
        <p:nvSpPr>
          <p:cNvPr id="245" name="Google Shape;245;p28"/>
          <p:cNvSpPr/>
          <p:nvPr/>
        </p:nvSpPr>
        <p:spPr>
          <a:xfrm>
            <a:off x="1634625" y="4905831"/>
            <a:ext cx="9144000" cy="575400"/>
          </a:xfrm>
          <a:prstGeom prst="rect">
            <a:avLst/>
          </a:prstGeom>
          <a:solidFill>
            <a:srgbClr val="F5F8FF"/>
          </a:solidFill>
          <a:ln cap="flat" cmpd="sng" w="19050">
            <a:solidFill>
              <a:srgbClr val="167A4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67A40"/>
                </a:solidFill>
                <a:latin typeface="Courier New"/>
                <a:ea typeface="Courier New"/>
                <a:cs typeface="Courier New"/>
                <a:sym typeface="Courier New"/>
              </a:rPr>
              <a:t>Form Generator        </a:t>
            </a:r>
            <a:r>
              <a:rPr b="0" i="0" lang="en-US" sz="1500" u="none" cap="none" strike="noStrike">
                <a:solidFill>
                  <a:srgbClr val="334455"/>
                </a:solidFill>
                <a:latin typeface="Courier New"/>
                <a:ea typeface="Courier New"/>
                <a:cs typeface="Courier New"/>
                <a:sym typeface="Courier New"/>
              </a:rPr>
              <a:t>HTML interface the data-entry clerk sees</a:t>
            </a:r>
            <a:endParaRPr/>
          </a:p>
        </p:txBody>
      </p:sp>
      <p:sp>
        <p:nvSpPr>
          <p:cNvPr id="246" name="Google Shape;246;p28"/>
          <p:cNvSpPr/>
          <p:nvPr/>
        </p:nvSpPr>
        <p:spPr>
          <a:xfrm>
            <a:off x="1634625" y="5665088"/>
            <a:ext cx="9144000" cy="575400"/>
          </a:xfrm>
          <a:prstGeom prst="rect">
            <a:avLst/>
          </a:prstGeom>
          <a:solidFill>
            <a:srgbClr val="F5F8FF"/>
          </a:solidFill>
          <a:ln cap="flat" cmpd="sng" w="19050">
            <a:solidFill>
              <a:srgbClr val="925E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925E00"/>
                </a:solidFill>
                <a:latin typeface="Courier New"/>
                <a:ea typeface="Courier New"/>
                <a:cs typeface="Courier New"/>
                <a:sym typeface="Courier New"/>
              </a:rPr>
              <a:t>Validated Data        </a:t>
            </a:r>
            <a:r>
              <a:rPr b="0" i="0" lang="en-US" sz="1500" u="none" cap="none" strike="noStrike">
                <a:solidFill>
                  <a:srgbClr val="334455"/>
                </a:solidFill>
                <a:latin typeface="Courier New"/>
                <a:ea typeface="Courier New"/>
                <a:cs typeface="Courier New"/>
                <a:sym typeface="Courier New"/>
              </a:rPr>
              <a:t>Ready for Digital Product Passports</a:t>
            </a:r>
            <a:endParaRPr/>
          </a:p>
        </p:txBody>
      </p:sp>
      <p:sp>
        <p:nvSpPr>
          <p:cNvPr id="247" name="Google Shape;247;p28"/>
          <p:cNvSpPr txBox="1"/>
          <p:nvPr>
            <p:ph type="title"/>
          </p:nvPr>
        </p:nvSpPr>
        <p:spPr>
          <a:xfrm>
            <a:off x="415496" y="288700"/>
            <a:ext cx="8818200" cy="59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Architecture</a:t>
            </a:r>
            <a:endParaRPr/>
          </a:p>
        </p:txBody>
      </p:sp>
      <p:sp>
        <p:nvSpPr>
          <p:cNvPr id="248" name="Google Shape;248;p28"/>
          <p:cNvSpPr txBox="1"/>
          <p:nvPr>
            <p:ph idx="12" type="sldNum"/>
          </p:nvPr>
        </p:nvSpPr>
        <p:spPr>
          <a:xfrm>
            <a:off x="11579114" y="6399877"/>
            <a:ext cx="731400" cy="52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9"/>
          <p:cNvSpPr txBox="1"/>
          <p:nvPr/>
        </p:nvSpPr>
        <p:spPr>
          <a:xfrm>
            <a:off x="391635" y="1079175"/>
            <a:ext cx="10972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Why This Matters</a:t>
            </a:r>
            <a:endParaRPr/>
          </a:p>
        </p:txBody>
      </p:sp>
      <p:sp>
        <p:nvSpPr>
          <p:cNvPr id="254" name="Google Shape;254;p29"/>
          <p:cNvSpPr txBox="1"/>
          <p:nvPr/>
        </p:nvSpPr>
        <p:spPr>
          <a:xfrm>
            <a:off x="391635" y="2222175"/>
            <a:ext cx="4114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9"/>
          <p:cNvSpPr txBox="1"/>
          <p:nvPr/>
        </p:nvSpPr>
        <p:spPr>
          <a:xfrm>
            <a:off x="4780755" y="2222175"/>
            <a:ext cx="4114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26DB0"/>
                </a:solidFill>
                <a:latin typeface="Calibri"/>
                <a:ea typeface="Calibri"/>
                <a:cs typeface="Calibri"/>
                <a:sym typeface="Calibri"/>
              </a:rPr>
              <a:t>Before</a:t>
            </a:r>
            <a:endParaRPr sz="2400"/>
          </a:p>
        </p:txBody>
      </p:sp>
      <p:sp>
        <p:nvSpPr>
          <p:cNvPr id="256" name="Google Shape;256;p29"/>
          <p:cNvSpPr txBox="1"/>
          <p:nvPr/>
        </p:nvSpPr>
        <p:spPr>
          <a:xfrm>
            <a:off x="8529795" y="2222175"/>
            <a:ext cx="4114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26DB0"/>
                </a:solidFill>
                <a:latin typeface="Calibri"/>
                <a:ea typeface="Calibri"/>
                <a:cs typeface="Calibri"/>
                <a:sym typeface="Calibri"/>
              </a:rPr>
              <a:t>After</a:t>
            </a:r>
            <a:endParaRPr sz="2400"/>
          </a:p>
        </p:txBody>
      </p:sp>
      <p:sp>
        <p:nvSpPr>
          <p:cNvPr id="257" name="Google Shape;257;p29"/>
          <p:cNvSpPr txBox="1"/>
          <p:nvPr/>
        </p:nvSpPr>
        <p:spPr>
          <a:xfrm>
            <a:off x="391635" y="2679375"/>
            <a:ext cx="4206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Schema definition time</a:t>
            </a:r>
            <a:endParaRPr sz="2400"/>
          </a:p>
        </p:txBody>
      </p:sp>
      <p:sp>
        <p:nvSpPr>
          <p:cNvPr id="258" name="Google Shape;258;p29"/>
          <p:cNvSpPr txBox="1"/>
          <p:nvPr/>
        </p:nvSpPr>
        <p:spPr>
          <a:xfrm>
            <a:off x="4780755" y="2679375"/>
            <a:ext cx="3474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BF1B1B"/>
                </a:solidFill>
                <a:latin typeface="Calibri"/>
                <a:ea typeface="Calibri"/>
                <a:cs typeface="Calibri"/>
                <a:sym typeface="Calibri"/>
              </a:rPr>
              <a:t>3 months</a:t>
            </a:r>
            <a:endParaRPr sz="2400"/>
          </a:p>
        </p:txBody>
      </p:sp>
      <p:sp>
        <p:nvSpPr>
          <p:cNvPr id="259" name="Google Shape;259;p29"/>
          <p:cNvSpPr txBox="1"/>
          <p:nvPr/>
        </p:nvSpPr>
        <p:spPr>
          <a:xfrm>
            <a:off x="8529795" y="2679375"/>
            <a:ext cx="3474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167A40"/>
                </a:solidFill>
                <a:latin typeface="Calibri"/>
                <a:ea typeface="Calibri"/>
                <a:cs typeface="Calibri"/>
                <a:sym typeface="Calibri"/>
              </a:rPr>
              <a:t>1 week</a:t>
            </a:r>
            <a:endParaRPr sz="2400"/>
          </a:p>
        </p:txBody>
      </p:sp>
      <p:sp>
        <p:nvSpPr>
          <p:cNvPr id="260" name="Google Shape;260;p29"/>
          <p:cNvSpPr txBox="1"/>
          <p:nvPr/>
        </p:nvSpPr>
        <p:spPr>
          <a:xfrm>
            <a:off x="391635" y="3337743"/>
            <a:ext cx="4206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Unit configuration</a:t>
            </a:r>
            <a:endParaRPr sz="2400"/>
          </a:p>
        </p:txBody>
      </p:sp>
      <p:sp>
        <p:nvSpPr>
          <p:cNvPr id="261" name="Google Shape;261;p29"/>
          <p:cNvSpPr txBox="1"/>
          <p:nvPr/>
        </p:nvSpPr>
        <p:spPr>
          <a:xfrm>
            <a:off x="4780755" y="3337743"/>
            <a:ext cx="3474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BF1B1B"/>
                </a:solidFill>
                <a:latin typeface="Calibri"/>
                <a:ea typeface="Calibri"/>
                <a:cs typeface="Calibri"/>
                <a:sym typeface="Calibri"/>
              </a:rPr>
              <a:t>manual lookup</a:t>
            </a:r>
            <a:endParaRPr sz="2400"/>
          </a:p>
        </p:txBody>
      </p:sp>
      <p:sp>
        <p:nvSpPr>
          <p:cNvPr id="262" name="Google Shape;262;p29"/>
          <p:cNvSpPr txBox="1"/>
          <p:nvPr/>
        </p:nvSpPr>
        <p:spPr>
          <a:xfrm>
            <a:off x="8529795" y="3337743"/>
            <a:ext cx="3474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167A40"/>
                </a:solidFill>
                <a:latin typeface="Calibri"/>
                <a:ea typeface="Calibri"/>
                <a:cs typeface="Calibri"/>
                <a:sym typeface="Calibri"/>
              </a:rPr>
              <a:t>automatic</a:t>
            </a:r>
            <a:endParaRPr sz="2400"/>
          </a:p>
        </p:txBody>
      </p:sp>
      <p:sp>
        <p:nvSpPr>
          <p:cNvPr id="263" name="Google Shape;263;p29"/>
          <p:cNvSpPr txBox="1"/>
          <p:nvPr/>
        </p:nvSpPr>
        <p:spPr>
          <a:xfrm>
            <a:off x="391635" y="3996111"/>
            <a:ext cx="4206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Validation errors</a:t>
            </a:r>
            <a:endParaRPr sz="2400"/>
          </a:p>
        </p:txBody>
      </p:sp>
      <p:sp>
        <p:nvSpPr>
          <p:cNvPr id="264" name="Google Shape;264;p29"/>
          <p:cNvSpPr txBox="1"/>
          <p:nvPr/>
        </p:nvSpPr>
        <p:spPr>
          <a:xfrm>
            <a:off x="4780755" y="3996111"/>
            <a:ext cx="3474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BF1B1B"/>
                </a:solidFill>
                <a:latin typeface="Calibri"/>
                <a:ea typeface="Calibri"/>
                <a:cs typeface="Calibri"/>
                <a:sym typeface="Calibri"/>
              </a:rPr>
              <a:t>50+ (found late)</a:t>
            </a:r>
            <a:endParaRPr sz="2400"/>
          </a:p>
        </p:txBody>
      </p:sp>
      <p:sp>
        <p:nvSpPr>
          <p:cNvPr id="265" name="Google Shape;265;p29"/>
          <p:cNvSpPr txBox="1"/>
          <p:nvPr/>
        </p:nvSpPr>
        <p:spPr>
          <a:xfrm>
            <a:off x="8529795" y="3996111"/>
            <a:ext cx="3474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167A40"/>
                </a:solidFill>
                <a:latin typeface="Calibri"/>
                <a:ea typeface="Calibri"/>
                <a:cs typeface="Calibri"/>
                <a:sym typeface="Calibri"/>
              </a:rPr>
              <a:t>2 (caught early)</a:t>
            </a:r>
            <a:endParaRPr sz="2400"/>
          </a:p>
        </p:txBody>
      </p:sp>
      <p:sp>
        <p:nvSpPr>
          <p:cNvPr id="266" name="Google Shape;266;p29"/>
          <p:cNvSpPr txBox="1"/>
          <p:nvPr/>
        </p:nvSpPr>
        <p:spPr>
          <a:xfrm>
            <a:off x="391635" y="4654479"/>
            <a:ext cx="4206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Consistency</a:t>
            </a:r>
            <a:endParaRPr sz="2400"/>
          </a:p>
        </p:txBody>
      </p:sp>
      <p:sp>
        <p:nvSpPr>
          <p:cNvPr id="267" name="Google Shape;267;p29"/>
          <p:cNvSpPr txBox="1"/>
          <p:nvPr/>
        </p:nvSpPr>
        <p:spPr>
          <a:xfrm>
            <a:off x="4780755" y="4654479"/>
            <a:ext cx="3474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BF1B1B"/>
                </a:solidFill>
                <a:latin typeface="Calibri"/>
                <a:ea typeface="Calibri"/>
                <a:cs typeface="Calibri"/>
                <a:sym typeface="Calibri"/>
              </a:rPr>
              <a:t>varies per team</a:t>
            </a:r>
            <a:endParaRPr sz="2400"/>
          </a:p>
        </p:txBody>
      </p:sp>
      <p:sp>
        <p:nvSpPr>
          <p:cNvPr id="268" name="Google Shape;268;p29"/>
          <p:cNvSpPr txBox="1"/>
          <p:nvPr/>
        </p:nvSpPr>
        <p:spPr>
          <a:xfrm>
            <a:off x="8529795" y="4654479"/>
            <a:ext cx="3474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167A40"/>
                </a:solidFill>
                <a:latin typeface="Calibri"/>
                <a:ea typeface="Calibri"/>
                <a:cs typeface="Calibri"/>
                <a:sym typeface="Calibri"/>
              </a:rPr>
              <a:t>standardised</a:t>
            </a:r>
            <a:endParaRPr sz="2400"/>
          </a:p>
        </p:txBody>
      </p:sp>
      <p:sp>
        <p:nvSpPr>
          <p:cNvPr id="269" name="Google Shape;269;p29"/>
          <p:cNvSpPr txBox="1"/>
          <p:nvPr/>
        </p:nvSpPr>
        <p:spPr>
          <a:xfrm>
            <a:off x="391635" y="5312847"/>
            <a:ext cx="4206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Non-technical authors</a:t>
            </a:r>
            <a:endParaRPr sz="2400"/>
          </a:p>
        </p:txBody>
      </p:sp>
      <p:sp>
        <p:nvSpPr>
          <p:cNvPr id="270" name="Google Shape;270;p29"/>
          <p:cNvSpPr txBox="1"/>
          <p:nvPr/>
        </p:nvSpPr>
        <p:spPr>
          <a:xfrm>
            <a:off x="4780755" y="5312847"/>
            <a:ext cx="3474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BF1B1B"/>
                </a:solidFill>
                <a:latin typeface="Calibri"/>
                <a:ea typeface="Calibri"/>
                <a:cs typeface="Calibri"/>
                <a:sym typeface="Calibri"/>
              </a:rPr>
              <a:t>impossible</a:t>
            </a:r>
            <a:endParaRPr sz="2400"/>
          </a:p>
        </p:txBody>
      </p:sp>
      <p:sp>
        <p:nvSpPr>
          <p:cNvPr id="271" name="Google Shape;271;p29"/>
          <p:cNvSpPr txBox="1"/>
          <p:nvPr/>
        </p:nvSpPr>
        <p:spPr>
          <a:xfrm>
            <a:off x="8529795" y="5312847"/>
            <a:ext cx="3474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167A40"/>
                </a:solidFill>
                <a:latin typeface="Calibri"/>
                <a:ea typeface="Calibri"/>
                <a:cs typeface="Calibri"/>
                <a:sym typeface="Calibri"/>
              </a:rPr>
              <a:t>point-and-click</a:t>
            </a:r>
            <a:endParaRPr sz="2400"/>
          </a:p>
        </p:txBody>
      </p:sp>
      <p:sp>
        <p:nvSpPr>
          <p:cNvPr id="272" name="Google Shape;272;p29"/>
          <p:cNvSpPr txBox="1"/>
          <p:nvPr>
            <p:ph type="title"/>
          </p:nvPr>
        </p:nvSpPr>
        <p:spPr>
          <a:xfrm>
            <a:off x="415496" y="288700"/>
            <a:ext cx="8818200" cy="59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Real-World Impact</a:t>
            </a:r>
            <a:endParaRPr/>
          </a:p>
        </p:txBody>
      </p:sp>
      <p:sp>
        <p:nvSpPr>
          <p:cNvPr id="273" name="Google Shape;273;p29"/>
          <p:cNvSpPr txBox="1"/>
          <p:nvPr>
            <p:ph idx="12" type="sldNum"/>
          </p:nvPr>
        </p:nvSpPr>
        <p:spPr>
          <a:xfrm>
            <a:off x="11579114" y="6399877"/>
            <a:ext cx="731400" cy="52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6DB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30"/>
          <p:cNvSpPr txBox="1"/>
          <p:nvPr/>
        </p:nvSpPr>
        <p:spPr>
          <a:xfrm>
            <a:off x="457200" y="1645920"/>
            <a:ext cx="292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26DB0"/>
                </a:solidFill>
                <a:latin typeface="Calibri"/>
                <a:ea typeface="Calibri"/>
                <a:cs typeface="Calibri"/>
                <a:sym typeface="Calibri"/>
              </a:rPr>
              <a:t>🧱  Bricks</a:t>
            </a:r>
            <a:endParaRPr sz="1800"/>
          </a:p>
        </p:txBody>
      </p:sp>
      <p:sp>
        <p:nvSpPr>
          <p:cNvPr id="280" name="Google Shape;280;p30"/>
          <p:cNvSpPr txBox="1"/>
          <p:nvPr/>
        </p:nvSpPr>
        <p:spPr>
          <a:xfrm>
            <a:off x="3474720" y="1645920"/>
            <a:ext cx="82296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Reusable, semantic data components — define once, use everywhere</a:t>
            </a:r>
            <a:endParaRPr sz="1800"/>
          </a:p>
        </p:txBody>
      </p:sp>
      <p:sp>
        <p:nvSpPr>
          <p:cNvPr id="281" name="Google Shape;281;p30"/>
          <p:cNvSpPr txBox="1"/>
          <p:nvPr/>
        </p:nvSpPr>
        <p:spPr>
          <a:xfrm>
            <a:off x="457200" y="2487168"/>
            <a:ext cx="292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26DB0"/>
                </a:solidFill>
                <a:latin typeface="Calibri"/>
                <a:ea typeface="Calibri"/>
                <a:cs typeface="Calibri"/>
                <a:sym typeface="Calibri"/>
              </a:rPr>
              <a:t>🔗  SHACL</a:t>
            </a:r>
            <a:endParaRPr sz="1800"/>
          </a:p>
        </p:txBody>
      </p:sp>
      <p:sp>
        <p:nvSpPr>
          <p:cNvPr id="282" name="Google Shape;282;p30"/>
          <p:cNvSpPr txBox="1"/>
          <p:nvPr/>
        </p:nvSpPr>
        <p:spPr>
          <a:xfrm>
            <a:off x="3474720" y="2487168"/>
            <a:ext cx="82296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Standardised validation rules — machines can check your data</a:t>
            </a:r>
            <a:endParaRPr sz="1800"/>
          </a:p>
        </p:txBody>
      </p:sp>
      <p:sp>
        <p:nvSpPr>
          <p:cNvPr id="283" name="Google Shape;283;p30"/>
          <p:cNvSpPr txBox="1"/>
          <p:nvPr/>
        </p:nvSpPr>
        <p:spPr>
          <a:xfrm>
            <a:off x="457200" y="3328416"/>
            <a:ext cx="292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26DB0"/>
                </a:solidFill>
                <a:latin typeface="Calibri"/>
                <a:ea typeface="Calibri"/>
                <a:cs typeface="Calibri"/>
                <a:sym typeface="Calibri"/>
              </a:rPr>
              <a:t>✨  Enrichment</a:t>
            </a:r>
            <a:endParaRPr sz="1800"/>
          </a:p>
        </p:txBody>
      </p:sp>
      <p:sp>
        <p:nvSpPr>
          <p:cNvPr id="284" name="Google Shape;284;p30"/>
          <p:cNvSpPr txBox="1"/>
          <p:nvPr/>
        </p:nvSpPr>
        <p:spPr>
          <a:xfrm>
            <a:off x="3474720" y="3328416"/>
            <a:ext cx="8229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Ontology-driven smart widgets — unit dropdowns appear automatically</a:t>
            </a:r>
            <a:endParaRPr sz="1800"/>
          </a:p>
        </p:txBody>
      </p:sp>
      <p:sp>
        <p:nvSpPr>
          <p:cNvPr id="285" name="Google Shape;285;p30"/>
          <p:cNvSpPr txBox="1"/>
          <p:nvPr/>
        </p:nvSpPr>
        <p:spPr>
          <a:xfrm>
            <a:off x="457200" y="4169664"/>
            <a:ext cx="292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26DB0"/>
                </a:solidFill>
                <a:latin typeface="Calibri"/>
                <a:ea typeface="Calibri"/>
                <a:cs typeface="Calibri"/>
                <a:sym typeface="Calibri"/>
              </a:rPr>
              <a:t>🎨  Forms</a:t>
            </a:r>
            <a:endParaRPr sz="1800"/>
          </a:p>
        </p:txBody>
      </p:sp>
      <p:sp>
        <p:nvSpPr>
          <p:cNvPr id="286" name="Google Shape;286;p30"/>
          <p:cNvSpPr txBox="1"/>
          <p:nvPr/>
        </p:nvSpPr>
        <p:spPr>
          <a:xfrm>
            <a:off x="3474720" y="4169664"/>
            <a:ext cx="82296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Automatic user interfaces — no coding needed for data entry</a:t>
            </a:r>
            <a:endParaRPr sz="1800"/>
          </a:p>
        </p:txBody>
      </p:sp>
      <p:sp>
        <p:nvSpPr>
          <p:cNvPr id="287" name="Google Shape;287;p30"/>
          <p:cNvSpPr txBox="1"/>
          <p:nvPr/>
        </p:nvSpPr>
        <p:spPr>
          <a:xfrm>
            <a:off x="457200" y="5010912"/>
            <a:ext cx="292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26DB0"/>
                </a:solidFill>
                <a:latin typeface="Calibri"/>
                <a:ea typeface="Calibri"/>
                <a:cs typeface="Calibri"/>
                <a:sym typeface="Calibri"/>
              </a:rPr>
              <a:t>♻️  Reuse</a:t>
            </a:r>
            <a:endParaRPr sz="1800"/>
          </a:p>
        </p:txBody>
      </p:sp>
      <p:sp>
        <p:nvSpPr>
          <p:cNvPr id="288" name="Google Shape;288;p30"/>
          <p:cNvSpPr txBox="1"/>
          <p:nvPr/>
        </p:nvSpPr>
        <p:spPr>
          <a:xfrm>
            <a:off x="3474720" y="5010912"/>
            <a:ext cx="82296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Change a brick once → every form using it updates</a:t>
            </a:r>
            <a:endParaRPr sz="1800"/>
          </a:p>
        </p:txBody>
      </p:sp>
      <p:sp>
        <p:nvSpPr>
          <p:cNvPr id="289" name="Google Shape;289;p30"/>
          <p:cNvSpPr txBox="1"/>
          <p:nvPr>
            <p:ph type="title"/>
          </p:nvPr>
        </p:nvSpPr>
        <p:spPr>
          <a:xfrm>
            <a:off x="415496" y="288700"/>
            <a:ext cx="8818200" cy="59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 Takaways</a:t>
            </a:r>
            <a:endParaRPr/>
          </a:p>
        </p:txBody>
      </p:sp>
      <p:sp>
        <p:nvSpPr>
          <p:cNvPr id="290" name="Google Shape;290;p30"/>
          <p:cNvSpPr txBox="1"/>
          <p:nvPr>
            <p:ph idx="12" type="sldNum"/>
          </p:nvPr>
        </p:nvSpPr>
        <p:spPr>
          <a:xfrm>
            <a:off x="11579114" y="6399877"/>
            <a:ext cx="731400" cy="52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1"/>
          <p:cNvSpPr txBox="1"/>
          <p:nvPr>
            <p:ph type="title"/>
          </p:nvPr>
        </p:nvSpPr>
        <p:spPr>
          <a:xfrm>
            <a:off x="415496" y="288700"/>
            <a:ext cx="8818200" cy="59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Getting Started</a:t>
            </a:r>
            <a:endParaRPr/>
          </a:p>
        </p:txBody>
      </p:sp>
      <p:sp>
        <p:nvSpPr>
          <p:cNvPr id="296" name="Google Shape;296;p31"/>
          <p:cNvSpPr txBox="1"/>
          <p:nvPr>
            <p:ph idx="12" type="sldNum"/>
          </p:nvPr>
        </p:nvSpPr>
        <p:spPr>
          <a:xfrm>
            <a:off x="11579114" y="6399877"/>
            <a:ext cx="731400" cy="52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7" name="Google Shape;297;p31"/>
          <p:cNvSpPr/>
          <p:nvPr/>
        </p:nvSpPr>
        <p:spPr>
          <a:xfrm>
            <a:off x="436325" y="2413963"/>
            <a:ext cx="502800" cy="502800"/>
          </a:xfrm>
          <a:prstGeom prst="ellipse">
            <a:avLst/>
          </a:prstGeom>
          <a:solidFill>
            <a:srgbClr val="026DB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/>
          </a:p>
        </p:txBody>
      </p:sp>
      <p:sp>
        <p:nvSpPr>
          <p:cNvPr id="298" name="Google Shape;298;p31"/>
          <p:cNvSpPr txBox="1"/>
          <p:nvPr/>
        </p:nvSpPr>
        <p:spPr>
          <a:xfrm>
            <a:off x="1122125" y="2459675"/>
            <a:ext cx="18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Download</a:t>
            </a:r>
            <a:endParaRPr b="1" sz="1800">
              <a:solidFill>
                <a:srgbClr val="3C78D8"/>
              </a:solidFill>
            </a:endParaRPr>
          </a:p>
        </p:txBody>
      </p:sp>
      <p:sp>
        <p:nvSpPr>
          <p:cNvPr id="299" name="Google Shape;299;p31"/>
          <p:cNvSpPr txBox="1"/>
          <p:nvPr/>
        </p:nvSpPr>
        <p:spPr>
          <a:xfrm>
            <a:off x="648450" y="1137000"/>
            <a:ext cx="6332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One Download, One Command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300" name="Google Shape;300;p31"/>
          <p:cNvSpPr txBox="1"/>
          <p:nvPr/>
        </p:nvSpPr>
        <p:spPr>
          <a:xfrm>
            <a:off x="3134825" y="2465275"/>
            <a:ext cx="865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Clone or download the repository from GitHub</a:t>
            </a:r>
            <a:endParaRPr sz="1800"/>
          </a:p>
        </p:txBody>
      </p:sp>
      <p:sp>
        <p:nvSpPr>
          <p:cNvPr id="301" name="Google Shape;301;p31"/>
          <p:cNvSpPr/>
          <p:nvPr/>
        </p:nvSpPr>
        <p:spPr>
          <a:xfrm>
            <a:off x="436325" y="3259788"/>
            <a:ext cx="502800" cy="502800"/>
          </a:xfrm>
          <a:prstGeom prst="ellipse">
            <a:avLst/>
          </a:prstGeom>
          <a:solidFill>
            <a:srgbClr val="026DB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/>
          </a:p>
        </p:txBody>
      </p:sp>
      <p:sp>
        <p:nvSpPr>
          <p:cNvPr id="302" name="Google Shape;302;p31"/>
          <p:cNvSpPr txBox="1"/>
          <p:nvPr/>
        </p:nvSpPr>
        <p:spPr>
          <a:xfrm>
            <a:off x="1122125" y="3305500"/>
            <a:ext cx="18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Run</a:t>
            </a:r>
            <a:endParaRPr b="1" sz="1800">
              <a:solidFill>
                <a:srgbClr val="3C78D8"/>
              </a:solidFill>
            </a:endParaRPr>
          </a:p>
        </p:txBody>
      </p:sp>
      <p:sp>
        <p:nvSpPr>
          <p:cNvPr id="303" name="Google Shape;303;p31"/>
          <p:cNvSpPr txBox="1"/>
          <p:nvPr/>
        </p:nvSpPr>
        <p:spPr>
          <a:xfrm>
            <a:off x="3134825" y="3311100"/>
            <a:ext cx="865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Clone or download the repository from GitHub</a:t>
            </a:r>
            <a:endParaRPr sz="1800"/>
          </a:p>
        </p:txBody>
      </p:sp>
      <p:sp>
        <p:nvSpPr>
          <p:cNvPr id="304" name="Google Shape;304;p31"/>
          <p:cNvSpPr/>
          <p:nvPr/>
        </p:nvSpPr>
        <p:spPr>
          <a:xfrm>
            <a:off x="398225" y="4105613"/>
            <a:ext cx="502800" cy="502800"/>
          </a:xfrm>
          <a:prstGeom prst="ellipse">
            <a:avLst/>
          </a:prstGeom>
          <a:solidFill>
            <a:srgbClr val="026DB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/>
          </a:p>
        </p:txBody>
      </p:sp>
      <p:sp>
        <p:nvSpPr>
          <p:cNvPr id="305" name="Google Shape;305;p31"/>
          <p:cNvSpPr txBox="1"/>
          <p:nvPr/>
        </p:nvSpPr>
        <p:spPr>
          <a:xfrm>
            <a:off x="1084025" y="4151325"/>
            <a:ext cx="18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Open</a:t>
            </a:r>
            <a:endParaRPr b="1" sz="1800">
              <a:solidFill>
                <a:srgbClr val="3C78D8"/>
              </a:solidFill>
            </a:endParaRPr>
          </a:p>
        </p:txBody>
      </p:sp>
      <p:sp>
        <p:nvSpPr>
          <p:cNvPr id="306" name="Google Shape;306;p31"/>
          <p:cNvSpPr txBox="1"/>
          <p:nvPr/>
        </p:nvSpPr>
        <p:spPr>
          <a:xfrm>
            <a:off x="3096725" y="4156925"/>
            <a:ext cx="865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Clone or download the repository from GitHub</a:t>
            </a:r>
            <a:endParaRPr sz="1800"/>
          </a:p>
        </p:txBody>
      </p:sp>
      <p:sp>
        <p:nvSpPr>
          <p:cNvPr id="307" name="Google Shape;307;p31"/>
          <p:cNvSpPr/>
          <p:nvPr/>
        </p:nvSpPr>
        <p:spPr>
          <a:xfrm>
            <a:off x="398225" y="4951438"/>
            <a:ext cx="502800" cy="502800"/>
          </a:xfrm>
          <a:prstGeom prst="ellipse">
            <a:avLst/>
          </a:prstGeom>
          <a:solidFill>
            <a:srgbClr val="026DB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/>
          </a:p>
        </p:txBody>
      </p:sp>
      <p:sp>
        <p:nvSpPr>
          <p:cNvPr id="308" name="Google Shape;308;p31"/>
          <p:cNvSpPr txBox="1"/>
          <p:nvPr/>
        </p:nvSpPr>
        <p:spPr>
          <a:xfrm>
            <a:off x="1084025" y="4997150"/>
            <a:ext cx="18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Your data</a:t>
            </a:r>
            <a:endParaRPr b="1" sz="1800">
              <a:solidFill>
                <a:srgbClr val="3C78D8"/>
              </a:solidFill>
            </a:endParaRPr>
          </a:p>
        </p:txBody>
      </p:sp>
      <p:sp>
        <p:nvSpPr>
          <p:cNvPr id="309" name="Google Shape;309;p31"/>
          <p:cNvSpPr txBox="1"/>
          <p:nvPr/>
        </p:nvSpPr>
        <p:spPr>
          <a:xfrm>
            <a:off x="3096725" y="5002750"/>
            <a:ext cx="865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Clone or download the repository from GitHub</a:t>
            </a:r>
            <a:endParaRPr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25E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32"/>
          <p:cNvSpPr txBox="1"/>
          <p:nvPr/>
        </p:nvSpPr>
        <p:spPr>
          <a:xfrm>
            <a:off x="516565" y="2069100"/>
            <a:ext cx="11155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925E00"/>
                </a:solidFill>
                <a:latin typeface="Calibri"/>
                <a:ea typeface="Calibri"/>
                <a:cs typeface="Calibri"/>
                <a:sym typeface="Calibri"/>
              </a:rPr>
              <a:t>Q: Can non-programmers use this?</a:t>
            </a:r>
            <a:endParaRPr sz="2000"/>
          </a:p>
        </p:txBody>
      </p:sp>
      <p:sp>
        <p:nvSpPr>
          <p:cNvPr id="316" name="Google Shape;316;p32"/>
          <p:cNvSpPr txBox="1"/>
          <p:nvPr/>
        </p:nvSpPr>
        <p:spPr>
          <a:xfrm>
            <a:off x="516565" y="2453148"/>
            <a:ext cx="11155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A: Yes — brick_app and schema_app are point-and-click web tools.</a:t>
            </a:r>
            <a:endParaRPr sz="2000"/>
          </a:p>
        </p:txBody>
      </p:sp>
      <p:sp>
        <p:nvSpPr>
          <p:cNvPr id="317" name="Google Shape;317;p32"/>
          <p:cNvSpPr txBox="1"/>
          <p:nvPr/>
        </p:nvSpPr>
        <p:spPr>
          <a:xfrm>
            <a:off x="516565" y="3029220"/>
            <a:ext cx="11155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925E00"/>
                </a:solidFill>
                <a:latin typeface="Calibri"/>
                <a:ea typeface="Calibri"/>
                <a:cs typeface="Calibri"/>
                <a:sym typeface="Calibri"/>
              </a:rPr>
              <a:t>Q: What about our own vocabulary?</a:t>
            </a:r>
            <a:endParaRPr sz="2000"/>
          </a:p>
        </p:txBody>
      </p:sp>
      <p:sp>
        <p:nvSpPr>
          <p:cNvPr id="318" name="Google Shape;318;p32"/>
          <p:cNvSpPr txBox="1"/>
          <p:nvPr/>
        </p:nvSpPr>
        <p:spPr>
          <a:xfrm>
            <a:off x="516565" y="3413268"/>
            <a:ext cx="11155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A: Load any RDF/OWL ontology — enrichment works with it automatically.</a:t>
            </a:r>
            <a:endParaRPr sz="2000"/>
          </a:p>
        </p:txBody>
      </p:sp>
      <p:sp>
        <p:nvSpPr>
          <p:cNvPr id="319" name="Google Shape;319;p32"/>
          <p:cNvSpPr txBox="1"/>
          <p:nvPr/>
        </p:nvSpPr>
        <p:spPr>
          <a:xfrm>
            <a:off x="516565" y="3989340"/>
            <a:ext cx="11155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925E00"/>
                </a:solidFill>
                <a:latin typeface="Calibri"/>
                <a:ea typeface="Calibri"/>
                <a:cs typeface="Calibri"/>
                <a:sym typeface="Calibri"/>
              </a:rPr>
              <a:t>Q: Does it connect to our database?</a:t>
            </a:r>
            <a:endParaRPr sz="2000"/>
          </a:p>
        </p:txBody>
      </p:sp>
      <p:sp>
        <p:nvSpPr>
          <p:cNvPr id="320" name="Google Shape;320;p32"/>
          <p:cNvSpPr txBox="1"/>
          <p:nvPr/>
        </p:nvSpPr>
        <p:spPr>
          <a:xfrm>
            <a:off x="516565" y="4373388"/>
            <a:ext cx="11155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A: Exported SHACL validates data; can export to JSON/XML/RDF for any system.</a:t>
            </a:r>
            <a:endParaRPr sz="2000"/>
          </a:p>
        </p:txBody>
      </p:sp>
      <p:sp>
        <p:nvSpPr>
          <p:cNvPr id="321" name="Google Shape;321;p32"/>
          <p:cNvSpPr txBox="1"/>
          <p:nvPr>
            <p:ph type="title"/>
          </p:nvPr>
        </p:nvSpPr>
        <p:spPr>
          <a:xfrm>
            <a:off x="415496" y="288700"/>
            <a:ext cx="8818200" cy="59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Questions?</a:t>
            </a:r>
            <a:endParaRPr/>
          </a:p>
        </p:txBody>
      </p:sp>
      <p:sp>
        <p:nvSpPr>
          <p:cNvPr id="322" name="Google Shape;322;p32"/>
          <p:cNvSpPr txBox="1"/>
          <p:nvPr>
            <p:ph idx="12" type="sldNum"/>
          </p:nvPr>
        </p:nvSpPr>
        <p:spPr>
          <a:xfrm>
            <a:off x="11579114" y="6399877"/>
            <a:ext cx="731400" cy="52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3"/>
          <p:cNvSpPr txBox="1"/>
          <p:nvPr>
            <p:ph idx="12" type="sldNum"/>
          </p:nvPr>
        </p:nvSpPr>
        <p:spPr>
          <a:xfrm>
            <a:off x="11406191" y="6333134"/>
            <a:ext cx="731400" cy="524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igiPass-Master-Main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FFFFFF"/>
      </a:lt2>
      <a:accent1>
        <a:srgbClr val="A5A5A5"/>
      </a:accent1>
      <a:accent2>
        <a:srgbClr val="951B81"/>
      </a:accent2>
      <a:accent3>
        <a:srgbClr val="F39200"/>
      </a:accent3>
      <a:accent4>
        <a:srgbClr val="009FE3"/>
      </a:accent4>
      <a:accent5>
        <a:srgbClr val="70AC04"/>
      </a:accent5>
      <a:accent6>
        <a:srgbClr val="A3195B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